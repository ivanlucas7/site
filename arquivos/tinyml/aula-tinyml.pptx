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952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Boas-vindas. Apresente-se e situe a turma: hoje vamos da Inteligência Artificial clássica ao TinyML, que roda dentro de microcontroladores. Adiante o fio condutor — levar a decisão para onde o dado nasce — e o encerramento prático: todos treinarão um modelo com 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Apresente o mapa da aula em três blocos: fundamentos de IA e Machine Learning; TinyML, com otimização, hardware e casos práticos; e a parte final, com vídeos, Edge Impulse, tutorial e atividade em grupo. Avise que ao final haverá uma atividade prática usando o celular como sensor.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Defina IA como a simulação, por máquinas, de capacidades humanas: aprender, raciocinar, decidir. Contraste com o programa tradicional, em que todas as regras são escritas à mão. Conte o Teste de Turing, de 1950: um avaliador conversa por texto e, se não distingue máquina de pessoa, a máquina é considerada inteligente. É o marco que abre a discussão.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Percorra os quatro setores e peça mais exemplos que a turma usa no celular: medicina com apoio ao diagnóstico, transporte com veículos autônomos, finanças com detecção de fraudes e atendimento com chatbots. Pergunte então: onde a IA precisaria rodar dentro do próprio aparelho? Isso prepara o terreno para o TinyML.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Explique a inversão central: em vez de escrever regras, mostramos exemplos e o algoritmo descobre as regras. Reforce que ML é um campo dentro da IA. Use a comparação do rodapé: no programa tradicional entramos com regras e dados; no ML entramos com dados e respostas, e ele devolve as regras.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Caminhe pelo fluxo com calma: partimos dos dados; o treinamento ajusta os parâmetros; o modelo guarda os padrões aprendidos; e a inferência é o uso do modelo com dados novos. Guarde o vocabulário treino x inferência: no TinyML treinamos no computador e inferimos no microcontrolador.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Na aprendizagem supervisionada cada exemplo vem com a resposta correta, o rótulo. Duas famílias: classificação, que escolhe entre categorias, como spam ou não spam; e regressão, que estima um número, como preço ou temperatura. Em TinyML, reconhecer um gesto é classificação — o rótulo é o nome do gesto.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Sem rótulos, entra a aprendizagem não supervisionada: o algoritmo procura estrutura, como agrupar clientes parecidos. No aprendizado por reforço, um agente tenta ações, ganha recompensas ou penalidades e melhora com o tempo, como em robótica e jogos. Em sensores, a detecção de anomalias mistura as duas ideias — e é muito usada em TinyML.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Mostre o ciclo completo: coleta, pré-processamento, treinamento, avaliação e implantação. Enfatize que é iterativo — a avaliação costuma mandar o time de volta para coletar mais e melhores dados. Guarde esse ciclo: no Edge Impulse cada etapa aparece como um bloco visual da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Trabalhe as cinco razões com exemplos: latência em freio e em interfaces de voz; privacidade em áudio e câmera dentro de casa; energia em sensores a bateria; conectividade em área rural ou elevador; e o custo de transmitir tudo de milhões de dispositivos. Conclusão: em muitos casos a decisão precisa acontecer no próprio dispositivo — e é exatamente isso que o TinyML faz.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Leia a definição com atenção: TinyML é Machine Learning em dispositivos pequenos e de baixo consumo, com poucos kilobytes de memória. Destaque a união de três mundos — algoritmos otimizados, hardware embarcado e otimização de modelos — e que isso permite IA em qualquer lugar, inclusive dentro de um Arduino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Contextualize a escala: microcontroladores como os da família Arduino têm poucos kilobytes de RAM e flash, e operam consumindo milhares de vezes menos energia que um computador. A contrapartida é o “sempre ligado”: um sensor a bateria pode vigiar continuamente. O modelo inteiro precisa caber dentro do chip — e é essa restrição que define a área.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Compare as duas abordagens lado a lado: a nuvem tem muito poder computacional, mas depende da rede e envia dados para fora; o processamento no dispositivo, na borda (edge), decide na hora, funciona offline e preserva a privacidade. Deixe claro que não é “nuvem ou TinyML”: o melhor desenho costuma ser híbrido — decisão local, sincronização seletiva.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Mostre a divisão do trabalho: o treinamento acontece no computador, com dados e rótulos; o modelo é convertido e otimizado para um formato compacto; e, no dispositivo, o modelo carregado na flash inferirá sobre o sinal dos sensores e aciona uma saída. Reforce o par treino no PC x inferência no MCU — é o mesmo vocabulário do slide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Explique a quantização com a analogia de arredondamento: em vez de guardar cada peso com 32 bits, guardamos com 8 — o modelo encolhe até quatro vezes e a precisão cai pouco. A poda remove pesos quase nulos. Ambas alimentam o TensorFlow Lite Micro / LiteRT, o runtime que executa a rede dentro do microcontrolador. Sem otimização, o modelo não cabe no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Apresente as placas que a turma pode usar: Arduino Nano 33 BLE Sense, que já traz microfone e IMU embutidos; ESP32, com Wi-Fi e Bluetooth; e Raspberry Pi Pico, de custo baixíssimo. Depois conecte ao sensor certo: acelerômetro para movimento e vibração, microfone para voz, câmera para visão. Regra de ouro: o sensor precisa enxergar o fenômeno da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Organize o ecossistema em três caminhos: o TensorFlow Lite Micro / LiteRT é o runtime que roda no chip; o Edge Impulse é a plataforma web que simplifica todo o fluxo e será a nossa ferramenta de aula; o microTVM compila o modelo sob medida para o alvo. Mostre que não competem entre si: o Edge Impulse gera modelos que rodam sobre o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Passe pelas quatro famílias: voz com palavra de ativação no próprio aparelho; gestos e movimento via IMU; manutenção preditiva ouvindo a vibração de máquinas; e ambiente/saúde, do ar ao sono. Mostre que o padrão se repete: sinal pequeno, modelo compacto, decisão local — a mesma receita que a turma vai usar na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Desenhe o caso: um acelerômetro fixado no motor mede a vibração; o modelo compara o padrão atual com o padrão normal aprendido; quando reconhece a anomalia, dispara um alerta local e registra um evento. O ganho é agir no primeiro sinal de desgaste, antes da quebra — sem transmitir a vibração inteira para a nuvem.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Mostre que reconhecer gestos é o mesmo problema do caso anterior com outro sinal: o acelerômetro amostra x, y e z; uma janela de tempo vira o “frame” do movimento; a rede aprende a assinatura de cada gesto rotulado. Insista na dica: escolha gestos bem distintos. Feche a ponte: o celular tem um acelerômetro igual ao da placa — e é ele que coletará os dados no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Projete o vídeo de Machine Learning em português e peça que cada aluno anote uma pergunta e um exemplo novo. Os dois vídeos indicados (Curso em Vídeo e Alura) estão linkados no slide. Ao voltar, conecte o vídeo ao ciclo de projeto do slide 9 e abra para dúvidas.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Projete o vídeo sobre TinyML e peça que a turma associe cada ideia do vídeo a um slide já visto: definição (slide 11), otimização (15) ou aplicações (18). Os dois vídeos de aula do Marcelo Rovai (UNIFEI/IESTI01) estão linkados no slide. Use os exemplos do vídeo para a escolha dos projetos.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Apresente o Edge Impulse como a plataforma que usaremos: ela cobre todo o ciclo do slide 9 — coleta, features, treino e deploy — dentro do navegador. Os alunos criam conta gratuita e trabalham sem instalar nada. O vídeo de apresentação está linkado no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Detalhe o fluxo: primeiro o dataset, com amostras rotuladas por classe e divisão treino/teste; depois o Impulse, a sequência de blocos — o processing block extrai features da janela e o learning block treina a rede; por fim, o treino mostra acurácia e perda, o modo de teste valida com dados nunca vistos e o EON Compiler gera código compacto para o dispositivo.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Mostre que a plataforma gera biblioteca e firmware para Arduino, ESP32, Raspberry Pi e dezenas de placas — mas que o grande truque didático é usar o celular como sensor: no navegador, ele captura acelerômetro e microfone e manda direto para o dataset. Assim cada aluno coleta os próprios dados, mesmo sem ter a placa em mãos.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Distribua os links do tutorial: o oficial do acelerômetro do celular e os materiais extras estão linkados no slide. Peça que os alunos criem a conta agora e deixem o celular na mesma rede Wi-Fi da sala.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Condense o tutorial em cinco passos: criar a conta gratuita; autorizar o celular como sensor no navegador; capturar os gestos com rótulos por classe; treinar o impulse com features e rede; e testar ao vivo, com a classificação aparecendo em tempo real no celular. Repita a regra de ouro: gestos bem distintos e várias amostras por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Feche a discussão técnica com os quatro desafios: dados representativos, que exigem coleta cuidadosa; memória, que força a otimização; energia, que define por quanto tempo o dispositivo opera; e generalização, o risco do modelo que acerta na bancada e erra no mundo. O hardware ensina disciplina de engenharia: medir, otimizar e testar sempre no dispositivo.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Entregue a receita do primeiro projeto: escolha um sinal pequeno e observável, uma única decisão clara e um dispositivo — o celular na coleta e uma placa na execução. Recomende começar pequeno: um projeto simples que roda de ponta a ponta ensina mais do que um ambicioso que para no meio.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Organize a turma em grupos e lance o desafio: de dois a três gestos bem distintos, quinze ou mais amostras por classe coletadas com o celular, vinte por cento separados para teste, treino com anotação de acurácia e perda e teste ao vivo. A entrega é a demonstração mais a proposta de uso do modelo em uma placa real da bancada. Tempo sugerido: quarenta a cinquenta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Reúna todos os links da aula: vídeos de Machine Learning (Curso em Vídeo e Alura), aulas de TinyML do Marcelo Rovai, apresentação do Edge Impulse, tutorial do acelerômetro do celular e cinco materiais extras (Bóson Treinamentos, Thommas Flores, EI Studio e workshop TensorFlow). Todos os 13 endereços estão aplicados e clicáveis no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Feche com a síntese em três blocos — o caminho da IA ao ML, a definição de TinyML e a prática que a turma vai executar — e com a mensagem final: se o dado nasce no dispositivo, a inteligência também pode nascer ali. Agradeça, dê espaço para dúvidas e oriente o início da atividade em grupos. Créditos às duas apresentações-fonte que fundamentaram 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mtXae5HhTE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watch?v=Iuz_jc96bQk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zeL9a8xNXk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watch?v=7qeoZdYNGJA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8Vi40Ifdb4Q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_9-bL4br98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FseGCn-oBA0" TargetMode="External"/><Relationship Id="rId4" Type="http://schemas.openxmlformats.org/officeDocument/2006/relationships/hyperlink" Target="https://www.youtube.com/watch?v=qu6yRlpBbPo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W_9-bL4br98" TargetMode="External"/><Relationship Id="rId13" Type="http://schemas.openxmlformats.org/officeDocument/2006/relationships/hyperlink" Target="https://www.youtube.com/watch?v=LjUQojFjiHI" TargetMode="External"/><Relationship Id="rId3" Type="http://schemas.openxmlformats.org/officeDocument/2006/relationships/hyperlink" Target="https://www.youtube.com/watch?v=0mtXae5HhTE" TargetMode="External"/><Relationship Id="rId7" Type="http://schemas.openxmlformats.org/officeDocument/2006/relationships/hyperlink" Target="https://www.youtube.com/watch?v=8Vi40Ifdb4Q" TargetMode="External"/><Relationship Id="rId12" Type="http://schemas.openxmlformats.org/officeDocument/2006/relationships/hyperlink" Target="https://www.youtube.com/watch?v=HiQmXy-6eq0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7qeoZdYNGJA" TargetMode="External"/><Relationship Id="rId11" Type="http://schemas.openxmlformats.org/officeDocument/2006/relationships/hyperlink" Target="https://www.youtube.com/watch?v=wFYAV_Wk5bc" TargetMode="External"/><Relationship Id="rId5" Type="http://schemas.openxmlformats.org/officeDocument/2006/relationships/hyperlink" Target="https://www.youtube.com/watch?v=ozeL9a8xNXk" TargetMode="External"/><Relationship Id="rId15" Type="http://schemas.openxmlformats.org/officeDocument/2006/relationships/hyperlink" Target="https://www.youtube.com/watch?v=jqVCR2MUJEs" TargetMode="External"/><Relationship Id="rId10" Type="http://schemas.openxmlformats.org/officeDocument/2006/relationships/hyperlink" Target="https://www.youtube.com/watch?v=FseGCn-oBA0" TargetMode="External"/><Relationship Id="rId4" Type="http://schemas.openxmlformats.org/officeDocument/2006/relationships/hyperlink" Target="https://www.youtube.com/watch?v=Iuz_jc96bQk" TargetMode="External"/><Relationship Id="rId9" Type="http://schemas.openxmlformats.org/officeDocument/2006/relationships/hyperlink" Target="https://www.youtube.com/watch?v=qu6yRlpBbPo" TargetMode="External"/><Relationship Id="rId14" Type="http://schemas.openxmlformats.org/officeDocument/2006/relationships/hyperlink" Target="https://www.youtube.com/watch?v=EZlwH_eoxMw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1005840"/>
            <a:ext cx="42062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AULA · ARDUINO / ELETRÔNICA / 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463040"/>
            <a:ext cx="5120640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4600" b="1" i="0">
                <a:solidFill>
                  <a:srgbClr val="F4F7FB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514600"/>
            <a:ext cx="5394960" cy="9144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400" b="1" i="0">
                <a:solidFill>
                  <a:srgbClr val="B5E550"/>
                </a:solidFill>
                <a:latin typeface="DejaVu Sans"/>
              </a:rPr>
              <a:t>Inteligência artificial onde a decisão acontece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3520440"/>
            <a:ext cx="512064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0" i="0">
                <a:solidFill>
                  <a:srgbClr val="AFC0D3"/>
                </a:solidFill>
                <a:latin typeface="DejaVu Sans"/>
              </a:rPr>
              <a:t>Machine Learning para sistemas embarcados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26280"/>
            <a:ext cx="5394960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Dos fundamentos de IA e Machine Learning até treinar um modelo no navegador, usando o celular como sensor — e rodando a decisão no próprio dispositivo.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5760720"/>
            <a:ext cx="2377440" cy="420624"/>
          </a:xfrm>
          <a:prstGeom prst="roundRect">
            <a:avLst>
              <a:gd name="adj" fmla="val 10000"/>
            </a:avLst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5779007"/>
            <a:ext cx="2194560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100" b="1" i="0">
                <a:solidFill>
                  <a:srgbClr val="07111F"/>
                </a:solidFill>
                <a:latin typeface="DejaVu Sans"/>
              </a:rPr>
              <a:t>do sensor à decisão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5760720"/>
            <a:ext cx="2651760" cy="420624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5779007"/>
            <a:ext cx="2468879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100" b="1" i="0">
                <a:solidFill>
                  <a:srgbClr val="07111F"/>
                </a:solidFill>
                <a:latin typeface="DejaVu Sans"/>
              </a:rPr>
              <a:t>sem depender da nuvem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960120"/>
            <a:ext cx="5577840" cy="31546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hero_tiny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05840"/>
            <a:ext cx="5486400" cy="3063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9360" y="4389120"/>
            <a:ext cx="201168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A ideia central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700016"/>
            <a:ext cx="544068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fontScale="92500" lnSpcReduction="20000"/>
          </a:bodyPr>
          <a:lstStyle/>
          <a:p>
            <a:pPr algn="l"/>
            <a:r>
              <a:rPr sz="1800" b="1" i="0">
                <a:solidFill>
                  <a:srgbClr val="F4F7FB"/>
                </a:solidFill>
                <a:latin typeface="DejaVu Sans"/>
              </a:rPr>
              <a:t>Levar um modelo compacto até onde o dado nasce.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Figura: Krea — deck “TinyML · Inteligência no Limite”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01 de 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ROTEIRO DA AULA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Roteiro da 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O caminho: da inteligência artificial ao dispositivo que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02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69280" cy="20116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2066544"/>
            <a:ext cx="526694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36D1DC"/>
                </a:solidFill>
                <a:latin typeface="DejaVu Sans"/>
              </a:rPr>
              <a:t>IA E ML —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87168"/>
            <a:ext cx="5266944" cy="3017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O que é Inteligência Artificial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825496"/>
            <a:ext cx="5266944" cy="3017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O que é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163824"/>
            <a:ext cx="5266944" cy="3017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Tipos de aprendizagem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3502152"/>
            <a:ext cx="5266944" cy="3017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Ciclo de um projeto de 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920240"/>
            <a:ext cx="5669280" cy="20116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2066544"/>
            <a:ext cx="526694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B5E550"/>
                </a:solidFill>
                <a:latin typeface="DejaVu Sans"/>
              </a:rPr>
              <a:t>TINYML — CONCEITO E PRÁTICA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487168"/>
            <a:ext cx="5266944" cy="3017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O que é TinyML e por que “tiny”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825496"/>
            <a:ext cx="5266944" cy="3017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Otimização, hardware e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163824"/>
            <a:ext cx="5266944" cy="3017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Casos práticos: vibração e gestos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502152"/>
            <a:ext cx="5266944" cy="3017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Vídeos, Edge Impulse e tutorial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114800"/>
            <a:ext cx="11430000" cy="109728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261104"/>
            <a:ext cx="3657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FFB259"/>
                </a:solidFill>
                <a:latin typeface="DejaVu Sans"/>
              </a:rPr>
              <a:t>ATIVIDADES E FECHAMENTO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26864"/>
            <a:ext cx="1088136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Desafios do TinyML · Por onde começar · Atividade prática da turma · Referências e links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Mapa da aula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02 de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FUNDAMENTOS ·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O que é Inteligência Artificial?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Máquinas que simulam capacidades da inteligência humana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03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6492240" cy="41605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365760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36D1DC"/>
                </a:solidFill>
                <a:latin typeface="DejaVu Sans"/>
              </a:rPr>
              <a:t>EM UMA DEFINIÇÃO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32304"/>
            <a:ext cx="5989320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900" b="1" i="0">
                <a:solidFill>
                  <a:srgbClr val="F4F7FB"/>
                </a:solidFill>
                <a:latin typeface="DejaVu Sans"/>
              </a:rPr>
              <a:t>A IA envolve a criação de máquinas que simulam a inteligência humana: podem aprender, raciocinar, tomar decisões e resolver problemas autonomamente.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598932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0" i="0">
                <a:solidFill>
                  <a:srgbClr val="AFC0D3"/>
                </a:solidFill>
                <a:latin typeface="DejaVu Sans"/>
              </a:rPr>
              <a:t>Exemplos do dia a dia: recomendações de vídeo, tradutores automáticos e navegação por GPS.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5989320" cy="8229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0" i="0">
                <a:solidFill>
                  <a:srgbClr val="AFC0D3"/>
                </a:solidFill>
                <a:latin typeface="DejaVu Sans"/>
              </a:rPr>
              <a:t>No programa tradicional, todas as regras são escritas à mão; na IA, as regras são aprendidas a partir de exemplos.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59168" y="1920240"/>
            <a:ext cx="4754880" cy="416052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36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87768" y="2084831"/>
            <a:ext cx="429768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36D1DC"/>
                </a:solidFill>
                <a:latin typeface="DejaVu Sans"/>
              </a:rPr>
              <a:t>TESTE DE TURING · 1950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2468880"/>
            <a:ext cx="4297680" cy="7772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Alan Turing propôs um teste prático para a pergunta “as máquinas podem pensar?”.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3337560"/>
            <a:ext cx="4297680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Se um avaliador conversa por texto sem distinguir máquina de humano, a máquina passa no teste.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4315968"/>
            <a:ext cx="4297680" cy="7772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Continua sendo referência histórica para discutir inteligência em máquinas.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Fundamentos — Inteligência Artificial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03 de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FUNDAMENTOS ·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Aplicações da Inteligência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A IA já está em vários setores — e serve de contexto para o TinyML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04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23560" cy="19202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3" y="2066544"/>
            <a:ext cx="5486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2359152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MEDICINA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3" y="2743200"/>
            <a:ext cx="5166360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Diagnóstico por imagem, descoberta de medicamentos e cirurgia robótica assistida.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920240"/>
            <a:ext cx="5623560" cy="19202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2066544"/>
            <a:ext cx="5486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B5E550"/>
                </a:solidFill>
                <a:latin typeface="DejaVu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359152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TRANSPORTE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743200"/>
            <a:ext cx="5166360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Veículos autônomos e sistemas de gestão de tráfego nas cidades.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023360"/>
            <a:ext cx="5623560" cy="19202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3" y="4169664"/>
            <a:ext cx="5486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FFB259"/>
                </a:solidFill>
                <a:latin typeface="DejaVu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3" y="4462272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FINANÇAS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4846320"/>
            <a:ext cx="5166360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Previsão de mercado, detecção de fraudes e análise de dados em larga escala.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4023360"/>
            <a:ext cx="5623560" cy="19202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9944" y="4169664"/>
            <a:ext cx="5486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F58FB4"/>
                </a:solidFill>
                <a:latin typeface="DejaVu Sa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4462272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ATENDIMENTO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4846320"/>
            <a:ext cx="5166360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Chatbots, assistentes virtuais e atendimento personalizado ao cliente.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Fundamentos — IA no mundo 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04 de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FUNDAMENTOS ·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O que é Machine Learning?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O campo da IA em que o programa aprende a partir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05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6035040" cy="301752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36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2084831"/>
            <a:ext cx="274320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36D1DC"/>
                </a:solidFill>
                <a:latin typeface="DejaVu Sans"/>
              </a:rPr>
              <a:t>DEFINIÇÃO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432304"/>
            <a:ext cx="5577840" cy="1554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900" b="1" i="0">
                <a:solidFill>
                  <a:srgbClr val="F4F7FB"/>
                </a:solidFill>
                <a:latin typeface="DejaVu Sans"/>
              </a:rPr>
              <a:t>Machine Learning é o campo da Inteligência Artificial que usa algoritmos e modelos para aprender com dados, sem serem explicitamente programados para cada regra.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251960"/>
            <a:ext cx="557784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0" i="0">
                <a:solidFill>
                  <a:srgbClr val="AFC0D3"/>
                </a:solidFill>
                <a:latin typeface="DejaVu Sans"/>
              </a:rPr>
              <a:t>O foco muda de “escrever a regra” para “mostrar exemplos”.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0" y="2048256"/>
            <a:ext cx="118872" cy="11887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0" y="1975104"/>
            <a:ext cx="484632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0" i="0">
                <a:solidFill>
                  <a:srgbClr val="F4F7FB"/>
                </a:solidFill>
                <a:latin typeface="DejaVu Sans"/>
              </a:rPr>
              <a:t>Reconhece padrões em grandes volumes de dados</a:t>
            </a:r>
          </a:p>
        </p:txBody>
      </p:sp>
      <p:sp>
        <p:nvSpPr>
          <p:cNvPr id="13" name="Oval 12"/>
          <p:cNvSpPr/>
          <p:nvPr/>
        </p:nvSpPr>
        <p:spPr>
          <a:xfrm>
            <a:off x="6675120" y="2825496"/>
            <a:ext cx="118872" cy="11887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2752344"/>
            <a:ext cx="484632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0" i="0">
                <a:solidFill>
                  <a:srgbClr val="F4F7FB"/>
                </a:solidFill>
                <a:latin typeface="DejaVu Sans"/>
              </a:rPr>
              <a:t>Faz previsões e classificações com base em exemplos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3602736"/>
            <a:ext cx="118872" cy="11887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3529584"/>
            <a:ext cx="484632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0" i="0">
                <a:solidFill>
                  <a:srgbClr val="F4F7FB"/>
                </a:solidFill>
                <a:latin typeface="DejaVu Sans"/>
              </a:rPr>
              <a:t>Quanto melhores os dados, melhor o modelo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0" y="4379976"/>
            <a:ext cx="118872" cy="11887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4306824"/>
            <a:ext cx="484632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0" i="0">
                <a:solidFill>
                  <a:srgbClr val="F4F7FB"/>
                </a:solidFill>
                <a:latin typeface="DejaVu Sans"/>
              </a:rPr>
              <a:t>Está por trás de recomendação, visão, voz e 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5257800"/>
            <a:ext cx="11430000" cy="420624"/>
          </a:xfrm>
          <a:prstGeom prst="roundRect">
            <a:avLst>
              <a:gd name="adj" fmla="val 10000"/>
            </a:avLst>
          </a:prstGeom>
          <a:solidFill>
            <a:srgbClr val="5E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5276088"/>
            <a:ext cx="11247120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400" b="1" i="0">
                <a:solidFill>
                  <a:srgbClr val="07111F"/>
                </a:solidFill>
                <a:latin typeface="DejaVu Sans"/>
              </a:rPr>
              <a:t>Programa tradicional: regras + dados → respostas   |   Machine Learning: dados + respostas → regras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Fundamentos — Machine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05 de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FUNDAMENTOS ·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fontScale="85000" lnSpcReduction="10000"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Como o ML aprende: dados → treino → modelo → inferência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568196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 dirty="0">
                <a:solidFill>
                  <a:srgbClr val="AFC0D3"/>
                </a:solidFill>
                <a:latin typeface="DejaVu Sans"/>
              </a:rPr>
              <a:t>O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fluxo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conceitual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que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se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repete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em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todo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projeto</a:t>
            </a:r>
            <a:endParaRPr sz="1400" b="0" i="0" dirty="0">
              <a:solidFill>
                <a:srgbClr val="AFC0D3"/>
              </a:solidFill>
              <a:latin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06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103120"/>
            <a:ext cx="2606040" cy="23317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2103120"/>
            <a:ext cx="2606040" cy="128016"/>
          </a:xfrm>
          <a:prstGeom prst="rect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2395728"/>
            <a:ext cx="7315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706624"/>
            <a:ext cx="219456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1" i="0" dirty="0">
                <a:solidFill>
                  <a:srgbClr val="F4F7FB"/>
                </a:solidFill>
                <a:latin typeface="DejaVu Sans"/>
              </a:rPr>
              <a:t>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145536"/>
            <a:ext cx="2212848" cy="10972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lang="pt-BR" sz="1300" b="0" i="0">
                <a:solidFill>
                  <a:srgbClr val="AFC0D3"/>
                </a:solidFill>
                <a:latin typeface="DejaVu Sans"/>
              </a:rPr>
              <a:t>Dados e experiências — Exemplos, observações ou interações</a:t>
            </a:r>
            <a:endParaRPr sz="1300" b="0" i="0" dirty="0">
              <a:solidFill>
                <a:srgbClr val="AFC0D3"/>
              </a:solidFill>
              <a:latin typeface="DejaVu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44368" y="2926080"/>
            <a:ext cx="384048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4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2103120"/>
            <a:ext cx="2606040" cy="23317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0128" y="2103120"/>
            <a:ext cx="2606040" cy="128016"/>
          </a:xfrm>
          <a:prstGeom prst="rect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11296" y="2395728"/>
            <a:ext cx="7315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100" b="1" i="0">
                <a:solidFill>
                  <a:srgbClr val="B5E550"/>
                </a:solidFill>
                <a:latin typeface="DejaVu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706624"/>
            <a:ext cx="219456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1" i="0">
                <a:solidFill>
                  <a:srgbClr val="F4F7FB"/>
                </a:solidFill>
                <a:latin typeface="DejaVu Sans"/>
              </a:rPr>
              <a:t>TREINO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145536"/>
            <a:ext cx="2212848" cy="10972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O algoritmo ajusta parâmetros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926080"/>
            <a:ext cx="384048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4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103120"/>
            <a:ext cx="2606040" cy="23317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6208" y="2103120"/>
            <a:ext cx="2606040" cy="128016"/>
          </a:xfrm>
          <a:prstGeom prst="rect">
            <a:avLst/>
          </a:prstGeom>
          <a:solidFill>
            <a:srgbClr val="5E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7376" y="2395728"/>
            <a:ext cx="7315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100" b="1" i="0">
                <a:solidFill>
                  <a:srgbClr val="5EA7FF"/>
                </a:solidFill>
                <a:latin typeface="DejaVu San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706624"/>
            <a:ext cx="219456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1" i="0">
                <a:solidFill>
                  <a:srgbClr val="F4F7FB"/>
                </a:solidFill>
                <a:latin typeface="DejaVu Sans"/>
              </a:rPr>
              <a:t>MODELO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145536"/>
            <a:ext cx="2212848" cy="10972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Padrões aprendidos, prontos para uso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926080"/>
            <a:ext cx="384048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4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62288" y="2103120"/>
            <a:ext cx="2606040" cy="23317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62288" y="2103120"/>
            <a:ext cx="2606040" cy="128016"/>
          </a:xfrm>
          <a:prstGeom prst="rect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63456" y="2395728"/>
            <a:ext cx="7315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100" b="1" i="0">
                <a:solidFill>
                  <a:srgbClr val="FFB259"/>
                </a:solidFill>
                <a:latin typeface="DejaVu San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2706624"/>
            <a:ext cx="219456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1" i="0">
                <a:solidFill>
                  <a:srgbClr val="F4F7FB"/>
                </a:solidFill>
                <a:latin typeface="DejaVu Sans"/>
              </a:rPr>
              <a:t>INFERÊNCIA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3145536"/>
            <a:ext cx="2212848" cy="10972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lang="pt-BR" sz="1300" b="0" i="0">
                <a:solidFill>
                  <a:srgbClr val="AFC0D3"/>
                </a:solidFill>
                <a:latin typeface="DejaVu Sans"/>
              </a:rPr>
              <a:t>Uso do modelo — Previsões, padrões ou decisões</a:t>
            </a:r>
            <a:endParaRPr sz="1300" b="0" i="0" dirty="0">
              <a:solidFill>
                <a:srgbClr val="AFC0D3"/>
              </a:solidFill>
              <a:latin typeface="DejaVu San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84048" y="4846320"/>
            <a:ext cx="11430000" cy="118872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992624"/>
            <a:ext cx="274320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FFB259"/>
                </a:solidFill>
                <a:latin typeface="DejaVu Sans"/>
              </a:rPr>
              <a:t>EM PRODUÇÃO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03520"/>
            <a:ext cx="10881360" cy="60350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O modelo treinado é implantado: chegam dados novos e ele responde com uma previsão — sem ir à nuvem, quando roda no próprio dispositivo.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Fundamentos — o fluxo do 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06 de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FUNDAMENTOS · APRENDIZAGEM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Aprendizagem supervisionada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O modelo aprende com exemplos rotulados: entrada e saída conhecidas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07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23560" cy="30632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2066544"/>
            <a:ext cx="522122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36D1DC"/>
                </a:solidFill>
                <a:latin typeface="DejaVu Sans"/>
              </a:rPr>
              <a:t>CLASSIFICAÇÃO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87168"/>
            <a:ext cx="5221224" cy="5646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Aprende a escolher entre categorias definidas.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088386"/>
            <a:ext cx="5221224" cy="5646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E-mail: spam ou não spam?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689604"/>
            <a:ext cx="5221224" cy="5646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Imagem: gato ou cachorro?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4290822"/>
            <a:ext cx="5221224" cy="5646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Gesto: “tocar” ou “agitar”?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920240"/>
            <a:ext cx="5623560" cy="30632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2066544"/>
            <a:ext cx="522122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B5E550"/>
                </a:solidFill>
                <a:latin typeface="DejaVu Sans"/>
              </a:rPr>
              <a:t>REGRESSÃO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487168"/>
            <a:ext cx="5221224" cy="5646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Aprende a estimar um valor numérico contínuo.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3088386"/>
            <a:ext cx="5221224" cy="5646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Preço de um imóvel a partir de atributos.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689604"/>
            <a:ext cx="5221224" cy="5646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Temperatura prevista para amanhã.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4290822"/>
            <a:ext cx="5221224" cy="5646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Consumo de energia de uma máquina.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5257800"/>
            <a:ext cx="11430000" cy="420624"/>
          </a:xfrm>
          <a:prstGeom prst="roundRect">
            <a:avLst>
              <a:gd name="adj" fmla="val 10000"/>
            </a:avLst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5276088"/>
            <a:ext cx="11247120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400" b="1" i="0">
                <a:solidFill>
                  <a:srgbClr val="07111F"/>
                </a:solidFill>
                <a:latin typeface="DejaVu Sans"/>
              </a:rPr>
              <a:t>Objetivo: mapear entradas para saídas a partir de muitos exemplos rotulados.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Fundamentos — tipos de aprendizagem (1/2)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07 de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FUNDAMENTOS · APRENDIZAGEM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Aprendizagem não supervisionada e por reforço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Quando não há rótulos — ou quando o aprendizado vem de tentativa e erro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08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3703320" cy="39319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2103120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36D1DC"/>
                </a:solidFill>
                <a:latin typeface="DejaVu Sans"/>
              </a:rPr>
              <a:t>NÃO SUPERVISIONADA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560320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Usa dados de entrada sem saídas conhecidas.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611879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Encontra estrutura nos dados: grupos, segmentos, redução de dimensionalidade.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663440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Ex.: agrupar clientes com comportamento parecido.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920240"/>
            <a:ext cx="3703320" cy="39319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2103120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B5E550"/>
                </a:solidFill>
                <a:latin typeface="DejaVu Sans"/>
              </a:rPr>
              <a:t>POR REFORÇO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560320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Um agente interage com o ambiente.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611879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Aprende ações que maximizam recompensas cumulativas.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4663440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Sem exemplos prontos: recebe recompensas ou penalidades a cada ação.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1920240"/>
            <a:ext cx="3703320" cy="39319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2103120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FB259"/>
                </a:solidFill>
                <a:latin typeface="DejaVu Sans"/>
              </a:rPr>
              <a:t>ONDE APARECEM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60320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Anomalias em sinais de sensores.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11879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Robótica, jogos e decisões sequenciais.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663440"/>
            <a:ext cx="3310128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Detecção de falha por vibração combina as duas ideias.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Fundamentos — tipos de aprendizagem (2/2)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08 de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FUNDAMENTOS · CICLO DE VIDA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Ciclo de um projeto de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Um processo iterativo — não uma linha 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09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148840"/>
            <a:ext cx="2157984" cy="228600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2148840"/>
            <a:ext cx="2157984" cy="109728"/>
          </a:xfrm>
          <a:prstGeom prst="rect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25296" y="2395728"/>
            <a:ext cx="475488" cy="475488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25296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COLETA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639312"/>
            <a:ext cx="1975104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reunir exemplos representativos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2971800"/>
            <a:ext cx="329184" cy="40233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2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24912" y="2148840"/>
            <a:ext cx="2157984" cy="228600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24912" y="2148840"/>
            <a:ext cx="2157984" cy="109728"/>
          </a:xfrm>
          <a:prstGeom prst="rect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66160" y="2395728"/>
            <a:ext cx="475488" cy="475488"/>
          </a:xfrm>
          <a:prstGeom prst="ellipse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PRÉ-PROCESSAMENTO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3639312"/>
            <a:ext cx="1975104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limpar e preparar os dados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971800"/>
            <a:ext cx="329184" cy="40233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2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65776" y="2148840"/>
            <a:ext cx="2157984" cy="228600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65776" y="2148840"/>
            <a:ext cx="2157984" cy="109728"/>
          </a:xfrm>
          <a:prstGeom prst="rect">
            <a:avLst/>
          </a:prstGeom>
          <a:solidFill>
            <a:srgbClr val="5E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07024" y="2395728"/>
            <a:ext cx="475488" cy="475488"/>
          </a:xfrm>
          <a:prstGeom prst="ellipse">
            <a:avLst/>
          </a:prstGeom>
          <a:solidFill>
            <a:srgbClr val="5E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07024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TREINAMENTO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7216" y="3639312"/>
            <a:ext cx="1975104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ajustar o modelo escolhido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3" y="2971800"/>
            <a:ext cx="329184" cy="40233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2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2148840"/>
            <a:ext cx="2157984" cy="228600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06640" y="2148840"/>
            <a:ext cx="2157984" cy="109728"/>
          </a:xfrm>
          <a:prstGeom prst="rect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47888" y="2395728"/>
            <a:ext cx="475488" cy="475488"/>
          </a:xfrm>
          <a:prstGeom prst="ellipse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7888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AVALIAÇÃO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639312"/>
            <a:ext cx="1975104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medir o desempenho com dados novos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2971800"/>
            <a:ext cx="329184" cy="40233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2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47504" y="2148840"/>
            <a:ext cx="2157984" cy="228600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747504" y="2148840"/>
            <a:ext cx="2157984" cy="109728"/>
          </a:xfrm>
          <a:prstGeom prst="rect">
            <a:avLst/>
          </a:prstGeom>
          <a:solidFill>
            <a:srgbClr val="F58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588752" y="2395728"/>
            <a:ext cx="475488" cy="475488"/>
          </a:xfrm>
          <a:prstGeom prst="ellipse">
            <a:avLst/>
          </a:prstGeom>
          <a:solidFill>
            <a:srgbClr val="F58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88752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38944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IMPLANTAÇÃO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3639312"/>
            <a:ext cx="1975104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colocar em produção e monitorar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" y="4892040"/>
            <a:ext cx="11430000" cy="100584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074920"/>
            <a:ext cx="10881360" cy="60350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1" i="0">
                <a:solidFill>
                  <a:srgbClr val="F4F7FB"/>
                </a:solidFill>
                <a:latin typeface="DejaVu Sans"/>
              </a:rPr>
              <a:t>A avaliação quase sempre devolve o time para a coleta: mais dados, mais variedade, menos ruído.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Fundamentos — ciclo de projeto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09 de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Por que nem tudo pode ir para a nuvem?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Cinco razões para processar perto do sensor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10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057400"/>
            <a:ext cx="2157984" cy="2651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25296" y="2240280"/>
            <a:ext cx="475488" cy="475488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25296" y="2258568"/>
            <a:ext cx="475488" cy="3657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400" b="1" i="0">
                <a:solidFill>
                  <a:srgbClr val="07111F"/>
                </a:solidFill>
                <a:latin typeface="DejaVu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871216"/>
            <a:ext cx="1975104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LATÊNCIA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429000"/>
            <a:ext cx="1975104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A ida e volta da rede atrasa decisões que precisam ser imediatas.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912" y="2057400"/>
            <a:ext cx="2157984" cy="2651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66160" y="2240280"/>
            <a:ext cx="475488" cy="475488"/>
          </a:xfrm>
          <a:prstGeom prst="ellipse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2258568"/>
            <a:ext cx="475488" cy="3657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400" b="1" i="0">
                <a:solidFill>
                  <a:srgbClr val="07111F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871216"/>
            <a:ext cx="1975104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PRIVACIDADE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3429000"/>
            <a:ext cx="1975104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Dados sensíveis saem do dispositivo — e aumenta o risco de exposição.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5776" y="2057400"/>
            <a:ext cx="2157984" cy="2651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07024" y="2240280"/>
            <a:ext cx="475488" cy="475488"/>
          </a:xfrm>
          <a:prstGeom prst="ellipse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07024" y="2258568"/>
            <a:ext cx="475488" cy="3657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400" b="1" i="0">
                <a:solidFill>
                  <a:srgbClr val="07111F"/>
                </a:solidFill>
                <a:latin typeface="DejaVu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2871216"/>
            <a:ext cx="1975104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ENERGIA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3429000"/>
            <a:ext cx="1975104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Transmitir o dado bruto gasta mais energia do que processá-lo no local.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057400"/>
            <a:ext cx="2157984" cy="2651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47888" y="2240280"/>
            <a:ext cx="475488" cy="475488"/>
          </a:xfrm>
          <a:prstGeom prst="ellipse">
            <a:avLst/>
          </a:prstGeom>
          <a:solidFill>
            <a:srgbClr val="5E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47888" y="2258568"/>
            <a:ext cx="475488" cy="3657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400" b="1" i="0">
                <a:solidFill>
                  <a:srgbClr val="07111F"/>
                </a:solidFill>
                <a:latin typeface="DejaVu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871216"/>
            <a:ext cx="1975104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CONECTIVIDADE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429000"/>
            <a:ext cx="1975104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Sem internet, um sistema que depende da nuvem simplesmente para.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47504" y="2057400"/>
            <a:ext cx="2157984" cy="2651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588752" y="2240280"/>
            <a:ext cx="475488" cy="475488"/>
          </a:xfrm>
          <a:prstGeom prst="ellipse">
            <a:avLst/>
          </a:prstGeom>
          <a:solidFill>
            <a:srgbClr val="F58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88752" y="2258568"/>
            <a:ext cx="475488" cy="3657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400" b="1" i="0">
                <a:solidFill>
                  <a:srgbClr val="07111F"/>
                </a:solidFill>
                <a:latin typeface="DejaVu San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38944" y="2871216"/>
            <a:ext cx="1975104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1" i="0">
                <a:solidFill>
                  <a:srgbClr val="F4F7FB"/>
                </a:solidFill>
                <a:latin typeface="DejaVu Sans"/>
              </a:rPr>
              <a:t>CUSTO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38944" y="3429000"/>
            <a:ext cx="1975104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Escalar para milhões de dispositivos enviando tudo é caro.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5074920"/>
            <a:ext cx="11430000" cy="82296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248656"/>
            <a:ext cx="10881360" cy="4754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Quando a decisão precisa acontecer agora, a resposta precisa nascer no próprio dispositivo.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O problema da nuvem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10 de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O que é TinyML?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A definição formal do campo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11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11430000" cy="173736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B5E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274320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B5E550"/>
                </a:solidFill>
                <a:latin typeface="DejaVu Sans"/>
              </a:rPr>
              <a:t>DEFINIÇÃO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14016"/>
            <a:ext cx="10881360" cy="10972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200" b="1" i="0">
                <a:solidFill>
                  <a:srgbClr val="F4F7FB"/>
                </a:solidFill>
                <a:latin typeface="DejaVu Sans"/>
              </a:rPr>
              <a:t>TinyML é a implementação de modelos de Machine Learning em dispositivos pequenos e de baixo consumo de energia — microcontroladores com poucos kilobytes de memória.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88136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0" i="0">
                <a:solidFill>
                  <a:srgbClr val="AFC0D3"/>
                </a:solidFill>
                <a:latin typeface="DejaVu Sans"/>
              </a:rPr>
              <a:t>É a união de três mundos: algoritmos de ML, hardware embarcado e otimização de modelos. O resultado é a IA presente em todos os lugares — inclusive dentro de um Arduino.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4754880"/>
            <a:ext cx="3703320" cy="114300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4919472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36D1DC"/>
                </a:solidFill>
                <a:latin typeface="DejaVu Sans"/>
              </a:rPr>
              <a:t>ML OTIMIZADO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5285232"/>
            <a:ext cx="329184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modelo comprimido para caber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754880"/>
            <a:ext cx="3703320" cy="114300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8848" y="4919472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B5E550"/>
                </a:solidFill>
                <a:latin typeface="DejaVu Sans"/>
              </a:rPr>
              <a:t>HARDWARE PEQUENO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5285232"/>
            <a:ext cx="329184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MCU, sensores e bateria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4754880"/>
            <a:ext cx="3703320" cy="114300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4919472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FB259"/>
                </a:solidFill>
                <a:latin typeface="DejaVu Sans"/>
              </a:rPr>
              <a:t>DECISÃO 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285232"/>
            <a:ext cx="329184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sem depender da nuvem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TinyML — definição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11 de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Por que “Tiny”?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A escala do hardware em que o modelo precisa caber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12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23560" cy="1508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3" y="2084832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36D1DC"/>
                </a:solidFill>
                <a:latin typeface="DejaVu Sans"/>
              </a:rPr>
              <a:t>MCU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2487168"/>
            <a:ext cx="516636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microcontroladores simples, de baixíssimo custo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20240"/>
            <a:ext cx="5623560" cy="1508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9944" y="2084832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B5E550"/>
                </a:solidFill>
                <a:latin typeface="DejaVu Sans"/>
              </a:rPr>
              <a:t>RAM / 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487168"/>
            <a:ext cx="516636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poucos kilobytes disponíveis para o modelo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611880"/>
            <a:ext cx="5623560" cy="1508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3" y="3776472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FFB259"/>
                </a:solidFill>
                <a:latin typeface="DejaVu Sans"/>
              </a:rPr>
              <a:t>CONSUMO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3" y="4178808"/>
            <a:ext cx="516636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opera na faixa de milhares de watts (mW)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611880"/>
            <a:ext cx="5623560" cy="150876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4" y="3776472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5EA7FF"/>
                </a:solidFill>
                <a:latin typeface="DejaVu Sans"/>
              </a:rPr>
              <a:t>SEMPRE LIGADO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178808"/>
            <a:ext cx="516636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pode vigiar 24/7 sem recarregar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534924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504688"/>
            <a:ext cx="10881360" cy="42062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1" i="0">
                <a:solidFill>
                  <a:srgbClr val="F4F7FB"/>
                </a:solidFill>
                <a:latin typeface="DejaVu Sans"/>
              </a:rPr>
              <a:t>“Tiny” porque o modelo inteiro — pesos e runtime — precisa viver dentro do chip.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TinyML — por que “tiny”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12 de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Edge vs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Onde cada abordagem ganha — e por que o melhor desenho costuma ser híbrido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13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" y="1874520"/>
            <a:ext cx="5212079" cy="295351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dge_vs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920240"/>
            <a:ext cx="5120640" cy="28620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720" y="1920240"/>
            <a:ext cx="6053328" cy="41605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2103120"/>
            <a:ext cx="237744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FFB259"/>
                </a:solidFill>
                <a:latin typeface="DejaVu Sans"/>
              </a:rPr>
              <a:t>NA NUVEM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103120"/>
            <a:ext cx="31089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B5E550"/>
                </a:solidFill>
                <a:latin typeface="DejaVu Sans"/>
              </a:rPr>
              <a:t>NO DISPOSITIVO (EDGE)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3273552"/>
            <a:ext cx="5504688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35040" y="2560320"/>
            <a:ext cx="233172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36D1DC"/>
                </a:solidFill>
                <a:latin typeface="DejaVu Sans"/>
              </a:rPr>
              <a:t>Latência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560320"/>
            <a:ext cx="31089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depende da rede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889503"/>
            <a:ext cx="31089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decide no local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4114800"/>
            <a:ext cx="5504688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35040" y="3401568"/>
            <a:ext cx="233172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36D1DC"/>
                </a:solidFill>
                <a:latin typeface="DejaVu Sans"/>
              </a:rPr>
              <a:t>Privacidade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401568"/>
            <a:ext cx="31089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dados saem do dispositivo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730752"/>
            <a:ext cx="31089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dados podem permanecer locais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4956048"/>
            <a:ext cx="5504688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35040" y="4242816"/>
            <a:ext cx="233172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36D1DC"/>
                </a:solidFill>
                <a:latin typeface="DejaVu Sans"/>
              </a:rPr>
              <a:t>Conectividade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242816"/>
            <a:ext cx="31089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falha sem conexão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572000"/>
            <a:ext cx="31089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funciona offline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35040" y="5797296"/>
            <a:ext cx="5504688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35040" y="5084064"/>
            <a:ext cx="233172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36D1DC"/>
                </a:solidFill>
                <a:latin typeface="DejaVu Sans"/>
              </a:rPr>
              <a:t>Escala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084064"/>
            <a:ext cx="31089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poder computacional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413248"/>
            <a:ext cx="31089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restrição e otimização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Edge vs Cloud · Figura: Krea — deck “TinyML · Inteligência no Limite”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13 de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Como o TinyML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Treinar no PC → converter/otimizar → inferir no MCU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14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559552" cy="3977639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7" y="2066543"/>
            <a:ext cx="36576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36D1DC"/>
                </a:solidFill>
                <a:latin typeface="DejaVu Sans"/>
              </a:rPr>
              <a:t>NO COMPUTADOR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514600"/>
            <a:ext cx="438912" cy="43891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532888"/>
            <a:ext cx="438912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496312"/>
            <a:ext cx="20116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4F7FB"/>
                </a:solidFill>
                <a:latin typeface="DejaVu Sans"/>
              </a:rPr>
              <a:t>TREINA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2807208"/>
            <a:ext cx="452628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50" b="0" i="0">
                <a:solidFill>
                  <a:srgbClr val="AFC0D3"/>
                </a:solidFill>
                <a:latin typeface="DejaVu Sans"/>
              </a:rPr>
              <a:t>modelo convencional, com dados e rótulos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2990088"/>
            <a:ext cx="0" cy="585216"/>
          </a:xfrm>
          <a:prstGeom prst="line">
            <a:avLst/>
          </a:prstGeom>
          <a:ln w="1778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58368" y="3630168"/>
            <a:ext cx="438912" cy="43891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648456"/>
            <a:ext cx="438912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611879"/>
            <a:ext cx="20116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4F7FB"/>
                </a:solidFill>
                <a:latin typeface="DejaVu Sans"/>
              </a:rPr>
              <a:t>CONVERTE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922776"/>
            <a:ext cx="452628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50" b="0" i="0">
                <a:solidFill>
                  <a:srgbClr val="AFC0D3"/>
                </a:solidFill>
                <a:latin typeface="DejaVu Sans"/>
              </a:rPr>
              <a:t>formato compacto para embarcados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4105656"/>
            <a:ext cx="0" cy="585216"/>
          </a:xfrm>
          <a:prstGeom prst="line">
            <a:avLst/>
          </a:prstGeom>
          <a:ln w="1778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58368" y="4745736"/>
            <a:ext cx="438912" cy="438912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4764023"/>
            <a:ext cx="438912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4727448"/>
            <a:ext cx="20116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4F7FB"/>
                </a:solidFill>
                <a:latin typeface="DejaVu Sans"/>
              </a:rPr>
              <a:t>OTIMIZA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5038344"/>
            <a:ext cx="452628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50" b="0" i="0">
                <a:solidFill>
                  <a:srgbClr val="AFC0D3"/>
                </a:solidFill>
                <a:latin typeface="DejaVu Sans"/>
              </a:rPr>
              <a:t>quantização e poda para caber no MCU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1920240"/>
            <a:ext cx="5559552" cy="3977639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83096" y="2066543"/>
            <a:ext cx="36576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B5E550"/>
                </a:solidFill>
                <a:latin typeface="DejaVu Sans"/>
              </a:rPr>
              <a:t>NO DISPOSITIVO</a:t>
            </a:r>
          </a:p>
        </p:txBody>
      </p:sp>
      <p:sp>
        <p:nvSpPr>
          <p:cNvPr id="25" name="Oval 24"/>
          <p:cNvSpPr/>
          <p:nvPr/>
        </p:nvSpPr>
        <p:spPr>
          <a:xfrm>
            <a:off x="6528816" y="2514600"/>
            <a:ext cx="438912" cy="438912"/>
          </a:xfrm>
          <a:prstGeom prst="ellipse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28816" y="2532888"/>
            <a:ext cx="438912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3176" y="2496312"/>
            <a:ext cx="20116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4F7FB"/>
                </a:solidFill>
                <a:latin typeface="DejaVu Sans"/>
              </a:rPr>
              <a:t>CARREGA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3176" y="2807208"/>
            <a:ext cx="452628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50" b="0" i="0">
                <a:solidFill>
                  <a:srgbClr val="AFC0D3"/>
                </a:solidFill>
                <a:latin typeface="DejaVu Sans"/>
              </a:rPr>
              <a:t>modelo gravado na flash do MCU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39128" y="2990088"/>
            <a:ext cx="0" cy="585216"/>
          </a:xfrm>
          <a:prstGeom prst="line">
            <a:avLst/>
          </a:prstGeom>
          <a:ln w="1778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528816" y="3630168"/>
            <a:ext cx="438912" cy="438912"/>
          </a:xfrm>
          <a:prstGeom prst="ellipse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28816" y="3648456"/>
            <a:ext cx="438912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23176" y="3611879"/>
            <a:ext cx="20116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4F7FB"/>
                </a:solidFill>
                <a:latin typeface="DejaVu Sans"/>
              </a:rPr>
              <a:t>INFERE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23176" y="3922776"/>
            <a:ext cx="452628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50" b="0" i="0">
                <a:solidFill>
                  <a:srgbClr val="AFC0D3"/>
                </a:solidFill>
                <a:latin typeface="DejaVu Sans"/>
              </a:rPr>
              <a:t>classifica o sinal dos sensores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39128" y="4105656"/>
            <a:ext cx="0" cy="585216"/>
          </a:xfrm>
          <a:prstGeom prst="line">
            <a:avLst/>
          </a:prstGeom>
          <a:ln w="1778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528816" y="4745736"/>
            <a:ext cx="438912" cy="438912"/>
          </a:xfrm>
          <a:prstGeom prst="ellipse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28816" y="4764023"/>
            <a:ext cx="438912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23176" y="4727448"/>
            <a:ext cx="20116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4F7FB"/>
                </a:solidFill>
                <a:latin typeface="DejaVu Sans"/>
              </a:rPr>
              <a:t>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3176" y="5038344"/>
            <a:ext cx="452628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50" b="0" i="0">
                <a:solidFill>
                  <a:srgbClr val="AFC0D3"/>
                </a:solidFill>
                <a:latin typeface="DejaVu Sans"/>
              </a:rPr>
              <a:t>aciona saída, alerta ou controle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3566160"/>
            <a:ext cx="50292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3000" b="1" i="0">
                <a:solidFill>
                  <a:srgbClr val="FFB259"/>
                </a:solidFill>
                <a:latin typeface="DejaVu Sans"/>
              </a:rPr>
              <a:t>→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TinyML — o fluxo de trabalho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14 de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Otimização de modelo: quantização e poda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Técnicas que comprimem a rede neural sem destruir a precisão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15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23560" cy="30175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2066544"/>
            <a:ext cx="522122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36D1DC"/>
                </a:solidFill>
                <a:latin typeface="DejaVu Sans"/>
              </a:rPr>
              <a:t>QUANTIZAÇÃO  ·  float32 → int8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87168"/>
            <a:ext cx="5221224" cy="5532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Guarda cada peso com menos bits (ex.: 32 → 8).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076956"/>
            <a:ext cx="5221224" cy="5532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Modelo até ~4x menor em memória.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666744"/>
            <a:ext cx="5221224" cy="5532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Consumo e inferência também caem.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4256532"/>
            <a:ext cx="5221224" cy="5532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Pequena perda de precisão, em geral aceitável.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920240"/>
            <a:ext cx="5623560" cy="30175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2066544"/>
            <a:ext cx="522122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B5E550"/>
                </a:solidFill>
                <a:latin typeface="DejaVu Sans"/>
              </a:rPr>
              <a:t>PODA  ·  pruning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487168"/>
            <a:ext cx="5221224" cy="5532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Remove pesos quase nulos da rede.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3076956"/>
            <a:ext cx="5221224" cy="5532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Menos parâmetros, menos memória e computação.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666744"/>
            <a:ext cx="5221224" cy="5532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Funciona bem junto com a quantização.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4256532"/>
            <a:ext cx="5221224" cy="5532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Risco: podar demais derruba a precisão.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512064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FFB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248656"/>
            <a:ext cx="182880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FFB259"/>
                </a:solidFill>
                <a:latin typeface="DejaVu Sans"/>
              </a:rPr>
              <a:t>RUNTIMES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212080"/>
            <a:ext cx="950976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 dirty="0">
                <a:solidFill>
                  <a:srgbClr val="F4F7FB"/>
                </a:solidFill>
                <a:latin typeface="DejaVu Sans"/>
              </a:rPr>
              <a:t>TensorFlow Lite Micro — </a:t>
            </a:r>
            <a:r>
              <a:rPr sz="1400" b="0" i="0" dirty="0" err="1">
                <a:solidFill>
                  <a:srgbClr val="F4F7FB"/>
                </a:solidFill>
                <a:latin typeface="DejaVu Sans"/>
              </a:rPr>
              <a:t>hoje</a:t>
            </a:r>
            <a:r>
              <a:rPr sz="1400" b="0" i="0" dirty="0">
                <a:solidFill>
                  <a:srgbClr val="F4F7FB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F4F7FB"/>
                </a:solidFill>
                <a:latin typeface="DejaVu Sans"/>
              </a:rPr>
              <a:t>parte</a:t>
            </a:r>
            <a:r>
              <a:rPr sz="1400" b="0" i="0" dirty="0">
                <a:solidFill>
                  <a:srgbClr val="F4F7FB"/>
                </a:solidFill>
                <a:latin typeface="DejaVu Sans"/>
              </a:rPr>
              <a:t> do Google AI Edge </a:t>
            </a:r>
            <a:r>
              <a:rPr sz="1400" b="0" i="0" dirty="0" err="1">
                <a:solidFill>
                  <a:srgbClr val="F4F7FB"/>
                </a:solidFill>
                <a:latin typeface="DejaVu Sans"/>
              </a:rPr>
              <a:t>como</a:t>
            </a:r>
            <a:r>
              <a:rPr sz="1400" b="0" i="0" dirty="0">
                <a:solidFill>
                  <a:srgbClr val="F4F7FB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F4F7FB"/>
                </a:solidFill>
                <a:latin typeface="DejaVu Sans"/>
              </a:rPr>
              <a:t>LiteRT</a:t>
            </a:r>
            <a:r>
              <a:rPr sz="1400" b="0" i="0" dirty="0">
                <a:solidFill>
                  <a:srgbClr val="F4F7FB"/>
                </a:solidFill>
                <a:latin typeface="DejaVu Sans"/>
              </a:rPr>
              <a:t> — e </a:t>
            </a:r>
            <a:r>
              <a:rPr sz="1400" b="0" i="0" dirty="0" err="1">
                <a:solidFill>
                  <a:srgbClr val="F4F7FB"/>
                </a:solidFill>
                <a:latin typeface="DejaVu Sans"/>
              </a:rPr>
              <a:t>seus</a:t>
            </a:r>
            <a:r>
              <a:rPr sz="1400" b="0" i="0" dirty="0">
                <a:solidFill>
                  <a:srgbClr val="F4F7FB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F4F7FB"/>
                </a:solidFill>
                <a:latin typeface="DejaVu Sans"/>
              </a:rPr>
              <a:t>operadores</a:t>
            </a:r>
            <a:r>
              <a:rPr sz="1400" b="0" i="0" dirty="0">
                <a:solidFill>
                  <a:srgbClr val="F4F7FB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F4F7FB"/>
                </a:solidFill>
                <a:latin typeface="DejaVu Sans"/>
              </a:rPr>
              <a:t>otimizados</a:t>
            </a:r>
            <a:r>
              <a:rPr sz="1400" b="0" i="0" dirty="0">
                <a:solidFill>
                  <a:srgbClr val="F4F7FB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F4F7FB"/>
                </a:solidFill>
                <a:latin typeface="DejaVu Sans"/>
              </a:rPr>
              <a:t>executam</a:t>
            </a:r>
            <a:r>
              <a:rPr sz="1400" b="0" i="0" dirty="0">
                <a:solidFill>
                  <a:srgbClr val="F4F7FB"/>
                </a:solidFill>
                <a:latin typeface="DejaVu Sans"/>
              </a:rPr>
              <a:t> o </a:t>
            </a:r>
            <a:r>
              <a:rPr sz="1400" b="0" i="0" dirty="0" err="1">
                <a:solidFill>
                  <a:srgbClr val="F4F7FB"/>
                </a:solidFill>
                <a:latin typeface="DejaVu Sans"/>
              </a:rPr>
              <a:t>modelo</a:t>
            </a:r>
            <a:r>
              <a:rPr sz="1400" b="0" i="0" dirty="0">
                <a:solidFill>
                  <a:srgbClr val="F4F7FB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F4F7FB"/>
                </a:solidFill>
                <a:latin typeface="DejaVu Sans"/>
              </a:rPr>
              <a:t>dentro</a:t>
            </a:r>
            <a:r>
              <a:rPr sz="1400" b="0" i="0" dirty="0">
                <a:solidFill>
                  <a:srgbClr val="F4F7FB"/>
                </a:solidFill>
                <a:latin typeface="DejaVu Sans"/>
              </a:rPr>
              <a:t> do </a:t>
            </a:r>
            <a:r>
              <a:rPr sz="1400" b="0" i="0" dirty="0" err="1">
                <a:solidFill>
                  <a:srgbClr val="F4F7FB"/>
                </a:solidFill>
                <a:latin typeface="DejaVu Sans"/>
              </a:rPr>
              <a:t>microcontrolador</a:t>
            </a:r>
            <a:r>
              <a:rPr sz="1400" b="0" i="0" dirty="0">
                <a:solidFill>
                  <a:srgbClr val="F4F7FB"/>
                </a:solidFill>
                <a:latin typeface="DejaVu Sans"/>
              </a:rPr>
              <a:t>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TinyML — otimização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15 de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Hardware típico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Placas acessíveis que já rodam TinyML — e os sensores que alimentam o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16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920240"/>
            <a:ext cx="3703320" cy="128016"/>
          </a:xfrm>
          <a:prstGeom prst="rect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2212848"/>
            <a:ext cx="3291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>
                <a:solidFill>
                  <a:srgbClr val="F4F7FB"/>
                </a:solidFill>
                <a:latin typeface="DejaVu Sans"/>
              </a:rPr>
              <a:t>ARDUINO NANO 33 BLE SENSE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880360"/>
            <a:ext cx="3310128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MCU ARM Cortex-M4 · microfone, IMU, luz, temperatura e umidade embutidos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703320" cy="128016"/>
          </a:xfrm>
          <a:prstGeom prst="rect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2212848"/>
            <a:ext cx="3291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>
                <a:solidFill>
                  <a:srgbClr val="F4F7FB"/>
                </a:solidFill>
                <a:latin typeface="DejaVu Sans"/>
              </a:rPr>
              <a:t>ESP32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880360"/>
            <a:ext cx="3310128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Wi-Fi e Bluetooth integrados · muito usado em IoT e projetos caseiros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192024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11312" y="1920240"/>
            <a:ext cx="3703320" cy="128016"/>
          </a:xfrm>
          <a:prstGeom prst="rect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212848"/>
            <a:ext cx="3291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>
                <a:solidFill>
                  <a:srgbClr val="F4F7FB"/>
                </a:solidFill>
                <a:latin typeface="DejaVu Sans"/>
              </a:rPr>
              <a:t>RASPBERRY PI PICO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80360"/>
            <a:ext cx="3310128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custo baixíssimo · RP2040, ótimo para experimentos em sala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251960"/>
            <a:ext cx="11430000" cy="169164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407408"/>
            <a:ext cx="54864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36D1DC"/>
                </a:solidFill>
                <a:latin typeface="DejaVu Sans"/>
              </a:rPr>
              <a:t>SENSORES QUE ALIMENTAM O 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73168"/>
            <a:ext cx="1088136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0" i="0">
                <a:solidFill>
                  <a:srgbClr val="F4F7FB"/>
                </a:solidFill>
                <a:latin typeface="DejaVu Sans"/>
              </a:rPr>
              <a:t>Acelerômetro · giroscópio · microfone (áudio) · câmera (visão) · temperatura e umidade · magnetômetro · sensores de corrente e vibração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B5E550"/>
                </a:solidFill>
                <a:latin typeface="DejaVu Sans"/>
              </a:rPr>
              <a:t>A regra de ouro: escolha o sensor que melhor “enxerga” o fenômeno que você quer decidir.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TinyML — hardware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16 de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Ecossistema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Três caminhos para levar o modelo ao microcontrolador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17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3703320" cy="26974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920240"/>
            <a:ext cx="3703320" cy="128016"/>
          </a:xfrm>
          <a:prstGeom prst="rect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2212848"/>
            <a:ext cx="329184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>
                <a:solidFill>
                  <a:srgbClr val="F4F7FB"/>
                </a:solidFill>
                <a:latin typeface="DejaVu Sans"/>
              </a:rPr>
              <a:t>TENSORFLOW LITE MICRO / LITERT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017520"/>
            <a:ext cx="3310128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Runtime do Google para microcontroladores: executa o modelo em C++, com operadores otimizados e pegada mínima de memória.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703320" cy="26974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703320" cy="128016"/>
          </a:xfrm>
          <a:prstGeom prst="rect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2212848"/>
            <a:ext cx="329184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>
                <a:solidFill>
                  <a:srgbClr val="F4F7FB"/>
                </a:solidFill>
                <a:latin typeface="DejaVu Sans"/>
              </a:rPr>
              <a:t>EDGE IMPULSE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017520"/>
            <a:ext cx="3310128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Plataforma online end-to-end: coleta, features, treino e deploy em poucos cliques — é a que usaremos na atividade prática.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1920240"/>
            <a:ext cx="3703320" cy="26974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11312" y="1920240"/>
            <a:ext cx="3703320" cy="128016"/>
          </a:xfrm>
          <a:prstGeom prst="rect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212848"/>
            <a:ext cx="329184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 dirty="0">
                <a:solidFill>
                  <a:srgbClr val="F4F7FB"/>
                </a:solidFill>
                <a:latin typeface="DejaVu Sans"/>
              </a:rPr>
              <a:t>MICROTVM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017520"/>
            <a:ext cx="3310128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Compilador que otimiza e gera código do modelo para o alvo específico, do TVM.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892040"/>
            <a:ext cx="11430000" cy="105156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Na aula, usaremos o Edge Impulse do início ao fim — mas o modelo gerado roda sobre o TensorFlow Lite Micro dentro do dispositivo.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TinyML — ecossistema de 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17 de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TINYML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Aplicações de TinyML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Reconhecer padrões perto do sensor — em quatro grandes famílias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18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23560" cy="17830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3" y="2084832"/>
            <a:ext cx="512064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>
                <a:solidFill>
                  <a:srgbClr val="36D1DC"/>
                </a:solidFill>
                <a:latin typeface="DejaVu Sans"/>
              </a:rPr>
              <a:t>VOZ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2505456"/>
            <a:ext cx="5166360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palavra de ativação e comandos curtos, processados no próprio aparelho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20240"/>
            <a:ext cx="5623560" cy="17830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9944" y="2084832"/>
            <a:ext cx="512064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>
                <a:solidFill>
                  <a:srgbClr val="B5E550"/>
                </a:solidFill>
                <a:latin typeface="DejaVu Sans"/>
              </a:rPr>
              <a:t>GESTOS / MOVIMENTO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505456"/>
            <a:ext cx="5166360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IMU e acelerômetro reconhecem gestos, passos e quedas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886200"/>
            <a:ext cx="5623560" cy="17830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3" y="4050791"/>
            <a:ext cx="512064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>
                <a:solidFill>
                  <a:srgbClr val="FFB259"/>
                </a:solidFill>
                <a:latin typeface="DejaVu Sans"/>
              </a:rPr>
              <a:t>MANUTENÇÃO PREDITIVA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3" y="4471416"/>
            <a:ext cx="5166360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vibração anormal denuncia desgaste antes da quebra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886200"/>
            <a:ext cx="5623560" cy="178308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4" y="4050791"/>
            <a:ext cx="5120640" cy="31089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>
                <a:solidFill>
                  <a:srgbClr val="F58FB4"/>
                </a:solidFill>
                <a:latin typeface="DejaVu Sans"/>
              </a:rPr>
              <a:t>AMBIENTE / SAÚDE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471416"/>
            <a:ext cx="5166360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qualidade do ar, sono, batimentos e atividade física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AFC0D3"/>
                </a:solidFill>
                <a:latin typeface="DejaVu Sans"/>
              </a:rPr>
              <a:t>O padrão é sempre o mesmo: um sinal pequeno, um modelo compacto e uma decisão local.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TinyML — aplicações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18 de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CASO PRÁTICO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Manutenção preditiva com acelerômetro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Um acelerômetro mede a vibração; o modelo reconhece o padrão anormal no próprio equipamento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19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" y="1874520"/>
            <a:ext cx="5212079" cy="295351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redictive_maint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920240"/>
            <a:ext cx="5120640" cy="286207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897880" y="2011680"/>
            <a:ext cx="475488" cy="475488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97880" y="2029968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93392"/>
            <a:ext cx="2743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500" b="1" i="0">
                <a:solidFill>
                  <a:srgbClr val="F4F7FB"/>
                </a:solidFill>
                <a:latin typeface="DejaVu Sans"/>
              </a:rPr>
              <a:t>MEDIR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22576"/>
            <a:ext cx="52578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o acelerômetro captura a vibração do motor em tempo real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17336" y="2523744"/>
            <a:ext cx="0" cy="603504"/>
          </a:xfrm>
          <a:prstGeom prst="line">
            <a:avLst/>
          </a:prstGeom>
          <a:ln w="1778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897880" y="3200400"/>
            <a:ext cx="475488" cy="475488"/>
          </a:xfrm>
          <a:prstGeom prst="ellipse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3218688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182112"/>
            <a:ext cx="2743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500" b="1" i="0">
                <a:solidFill>
                  <a:srgbClr val="F4F7FB"/>
                </a:solidFill>
                <a:latin typeface="DejaVu Sans"/>
              </a:rPr>
              <a:t>RECONHECER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511296"/>
            <a:ext cx="52578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o modelo classifica o padrão como normal ou anômalo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17336" y="3712464"/>
            <a:ext cx="0" cy="603504"/>
          </a:xfrm>
          <a:prstGeom prst="line">
            <a:avLst/>
          </a:prstGeom>
          <a:ln w="1778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897880" y="4389120"/>
            <a:ext cx="475488" cy="475488"/>
          </a:xfrm>
          <a:prstGeom prst="ellipse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97880" y="4407408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70832"/>
            <a:ext cx="2743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500" b="1" i="0">
                <a:solidFill>
                  <a:srgbClr val="F4F7FB"/>
                </a:solidFill>
                <a:latin typeface="DejaVu Sans"/>
              </a:rPr>
              <a:t>SINALIZAR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700016"/>
            <a:ext cx="52578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alerta local imediato e evento enxuto para o histórico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5532120"/>
            <a:ext cx="5916168" cy="548640"/>
          </a:xfrm>
          <a:prstGeom prst="roundRect">
            <a:avLst>
              <a:gd name="adj" fmla="val 10000"/>
            </a:avLst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35040" y="5614416"/>
            <a:ext cx="5623560" cy="3657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300" b="1" i="0">
                <a:solidFill>
                  <a:srgbClr val="07111F"/>
                </a:solidFill>
                <a:latin typeface="DejaVu Sans"/>
              </a:rPr>
              <a:t>Benefício: agir no primeiro sinal, não no fim da linha.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Caso prático — vibração · Figura: Krea — deck “TinyML · Inteligência no Limite”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19 de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CASO PRÁTICO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Reconhecimento de gestos com acelerômetro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A mesma lógica do caso 1, aplicada a movimentos — ponte direta para a atividade com o celular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20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23560" cy="3977639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2066544"/>
            <a:ext cx="522122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36D1DC"/>
                </a:solidFill>
                <a:latin typeface="DejaVu Sans"/>
              </a:rPr>
              <a:t>COMO FUNCIONA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87168"/>
            <a:ext cx="5221224" cy="7932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O acelerômetro amostra x, y e z dezenas de vezes por segundo.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316986"/>
            <a:ext cx="5221224" cy="7932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Uma janela de tempo vira um “frame” do movimento.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146804"/>
            <a:ext cx="5221224" cy="7932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A rede aprende a assinatura de cada gesto rotulado.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4976622"/>
            <a:ext cx="5221224" cy="7932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F4F7FB"/>
                </a:solidFill>
                <a:latin typeface="DejaVu Sans"/>
              </a:rPr>
              <a:t>Na inferência, a janela nova é classificada em tempo real.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920240"/>
            <a:ext cx="5669280" cy="3977639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B5E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2084831"/>
            <a:ext cx="51206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1" i="0">
                <a:solidFill>
                  <a:srgbClr val="B5E550"/>
                </a:solidFill>
                <a:latin typeface="DejaVu Sans"/>
              </a:rPr>
              <a:t>GESTOS QUE FUNCIONAM BEM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87168"/>
            <a:ext cx="521208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 dirty="0">
                <a:solidFill>
                  <a:srgbClr val="F4F7FB"/>
                </a:solidFill>
                <a:latin typeface="DejaVu Sans"/>
              </a:rPr>
              <a:t>“</a:t>
            </a:r>
            <a:r>
              <a:rPr sz="1400" b="0" i="0" dirty="0" err="1">
                <a:solidFill>
                  <a:srgbClr val="F4F7FB"/>
                </a:solidFill>
                <a:latin typeface="DejaVu Sans"/>
              </a:rPr>
              <a:t>Tocar</a:t>
            </a:r>
            <a:r>
              <a:rPr sz="1400" b="0" i="0" dirty="0">
                <a:solidFill>
                  <a:srgbClr val="F4F7FB"/>
                </a:solidFill>
                <a:latin typeface="DejaVu Sans"/>
              </a:rPr>
              <a:t>” </a:t>
            </a:r>
            <a:r>
              <a:rPr sz="1400" b="0" i="0" dirty="0" err="1">
                <a:solidFill>
                  <a:srgbClr val="F4F7FB"/>
                </a:solidFill>
                <a:latin typeface="DejaVu Sans"/>
              </a:rPr>
              <a:t>na</a:t>
            </a:r>
            <a:r>
              <a:rPr sz="1400" b="0" i="0" dirty="0">
                <a:solidFill>
                  <a:srgbClr val="F4F7FB"/>
                </a:solidFill>
                <a:latin typeface="DejaVu Sans"/>
              </a:rPr>
              <a:t> mesa  ·  “</a:t>
            </a:r>
            <a:r>
              <a:rPr sz="1400" b="0" i="0" dirty="0" err="1">
                <a:solidFill>
                  <a:srgbClr val="F4F7FB"/>
                </a:solidFill>
                <a:latin typeface="DejaVu Sans"/>
              </a:rPr>
              <a:t>Agitar</a:t>
            </a:r>
            <a:r>
              <a:rPr sz="1400" b="0" i="0" dirty="0">
                <a:solidFill>
                  <a:srgbClr val="F4F7FB"/>
                </a:solidFill>
                <a:latin typeface="DejaVu Sans"/>
              </a:rPr>
              <a:t>” o </a:t>
            </a:r>
            <a:r>
              <a:rPr sz="1400" b="0" i="0" dirty="0" err="1">
                <a:solidFill>
                  <a:srgbClr val="F4F7FB"/>
                </a:solidFill>
                <a:latin typeface="DejaVu Sans"/>
              </a:rPr>
              <a:t>dispositivo</a:t>
            </a:r>
            <a:r>
              <a:rPr sz="1400" b="0" i="0" dirty="0">
                <a:solidFill>
                  <a:srgbClr val="F4F7FB"/>
                </a:solidFill>
                <a:latin typeface="DejaVu Sans"/>
              </a:rPr>
              <a:t>  ·  </a:t>
            </a:r>
            <a:r>
              <a:rPr sz="1400" b="0" i="0" dirty="0" err="1">
                <a:solidFill>
                  <a:srgbClr val="F4F7FB"/>
                </a:solidFill>
                <a:latin typeface="DejaVu Sans"/>
              </a:rPr>
              <a:t>Círculo</a:t>
            </a:r>
            <a:r>
              <a:rPr sz="1400" b="0" i="0" dirty="0">
                <a:solidFill>
                  <a:srgbClr val="F4F7FB"/>
                </a:solidFill>
                <a:latin typeface="DejaVu Sans"/>
              </a:rPr>
              <a:t> no </a:t>
            </a:r>
            <a:r>
              <a:rPr sz="1400" b="0" i="0" dirty="0" err="1">
                <a:solidFill>
                  <a:srgbClr val="F4F7FB"/>
                </a:solidFill>
                <a:latin typeface="DejaVu Sans"/>
              </a:rPr>
              <a:t>ar</a:t>
            </a:r>
            <a:r>
              <a:rPr sz="1400" b="0" i="0" dirty="0">
                <a:solidFill>
                  <a:srgbClr val="F4F7FB"/>
                </a:solidFill>
                <a:latin typeface="DejaVu Sans"/>
              </a:rPr>
              <a:t>  ·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291840"/>
            <a:ext cx="5212080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 dirty="0" err="1">
                <a:solidFill>
                  <a:srgbClr val="AFC0D3"/>
                </a:solidFill>
                <a:latin typeface="DejaVu Sans"/>
              </a:rPr>
              <a:t>Gestos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bem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distintos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produzem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assinaturas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bem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distintas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— a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dica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para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escolher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os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movimentos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da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atividade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prática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389120"/>
            <a:ext cx="5212080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4F7FB"/>
                </a:solidFill>
                <a:latin typeface="DejaVu Sans"/>
              </a:rPr>
              <a:t>O celular tem acelerômetro exatamente como uma placa com IMU — por isso o tutorial da aula usa o celular para coletar os dados.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Caso prático — gestos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20 de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VÍDEOS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Vídeo — O que é Machine Learning?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Curta em PT-BR para fixar os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21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11430000" cy="219456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36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7432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36D1DC"/>
                </a:solidFill>
                <a:latin typeface="DejaVu Sans"/>
              </a:rPr>
              <a:t>ASSISTIR EM AULA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08813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Autofit/>
          </a:bodyPr>
          <a:lstStyle/>
          <a:p>
            <a:pPr algn="l"/>
            <a:r>
              <a:rPr sz="1600" b="1" i="0" dirty="0" err="1">
                <a:solidFill>
                  <a:srgbClr val="F4F7FB"/>
                </a:solidFill>
                <a:latin typeface="DejaVu Sans"/>
              </a:rPr>
              <a:t>Vídeo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: O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que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é Machine Learning? (PT-BR) —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Você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sabe o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que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é Machine Learning? - @CursoemVideo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Inteligência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Artificial (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Curso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em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Vídeo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)</a:t>
            </a:r>
          </a:p>
          <a:p>
            <a:r>
              <a:rPr sz="1600" b="0" i="0" dirty="0">
                <a:solidFill>
                  <a:srgbClr val="36D1DC"/>
                </a:solidFill>
                <a:latin typeface="DejaVu Sans"/>
                <a:hlinkClick r:id="rId3"/>
              </a:rPr>
              <a:t>https://www.youtube.com/watch?v=0mtXae5HhTE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19272"/>
            <a:ext cx="108813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Autofit/>
          </a:bodyPr>
          <a:lstStyle/>
          <a:p>
            <a:pPr algn="l"/>
            <a:r>
              <a:rPr sz="1600" b="1" i="0" dirty="0" err="1">
                <a:solidFill>
                  <a:srgbClr val="F4F7FB"/>
                </a:solidFill>
                <a:latin typeface="DejaVu Sans"/>
              </a:rPr>
              <a:t>Vídeo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: O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que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é Machine Learning? (PT-BR) — O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que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é Machine Learning? #HipstersPontoTube (Alura)</a:t>
            </a:r>
          </a:p>
          <a:p>
            <a:r>
              <a:rPr sz="1600" b="0" i="0" dirty="0">
                <a:solidFill>
                  <a:srgbClr val="36D1DC"/>
                </a:solidFill>
                <a:latin typeface="DejaVu Sans"/>
                <a:hlinkClick r:id="rId4"/>
              </a:rPr>
              <a:t>https://www.youtube.com/watch?v=Iuz_jc96bQk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Vídeos — fundamentos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21 de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VÍDEOS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Vídeo — O que é TinyML?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Curta em PT-BR para introduzir o tema do 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22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11430000" cy="219456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B5E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7432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B5E550"/>
                </a:solidFill>
                <a:latin typeface="DejaVu Sans"/>
              </a:rPr>
              <a:t>ASSISTIR EM AULA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08813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Autofit/>
          </a:bodyPr>
          <a:lstStyle/>
          <a:p>
            <a:pPr algn="l"/>
            <a:r>
              <a:rPr sz="1600" b="1" i="0" dirty="0" err="1">
                <a:solidFill>
                  <a:srgbClr val="F4F7FB"/>
                </a:solidFill>
                <a:latin typeface="DejaVu Sans"/>
              </a:rPr>
              <a:t>Vídeo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: O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que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é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TinyML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? (PT-BR) — UNIFEI -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TinyML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- IESTI01 2023.1 - EAD Version - Class 2 - Introduction to </a:t>
            </a:r>
            <a:r>
              <a:rPr sz="1600" b="1" i="0" dirty="0" err="1">
                <a:solidFill>
                  <a:srgbClr val="F4F7FB"/>
                </a:solidFill>
                <a:latin typeface="DejaVu Sans"/>
              </a:rPr>
              <a:t>TinyML</a:t>
            </a:r>
            <a:r>
              <a:rPr sz="1600" b="1" i="0" dirty="0">
                <a:solidFill>
                  <a:srgbClr val="F4F7FB"/>
                </a:solidFill>
                <a:latin typeface="DejaVu Sans"/>
              </a:rPr>
              <a:t> (Marcelo Rovai)</a:t>
            </a:r>
          </a:p>
          <a:p>
            <a:r>
              <a:rPr sz="1600" b="0" i="0" dirty="0">
                <a:solidFill>
                  <a:srgbClr val="36D1DC"/>
                </a:solidFill>
                <a:latin typeface="DejaVu Sans"/>
                <a:hlinkClick r:id="rId3"/>
              </a:rPr>
              <a:t>https://www.youtube.com/watch?v=ozeL9a8xNXk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12414"/>
            <a:ext cx="108813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Autofit/>
          </a:bodyPr>
          <a:lstStyle/>
          <a:p>
            <a:pPr algn="l"/>
            <a:endParaRPr sz="1600" b="0" i="0" dirty="0">
              <a:solidFill>
                <a:srgbClr val="36D1DC"/>
              </a:solidFill>
              <a:latin typeface="DejaVu Sans"/>
              <a:hlinkClick r:id="rId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Vídeos — TinyML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22 de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FERRAMENTA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Edge Impulse: o que é?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r>
              <a:rPr sz="1400" b="0" i="0" dirty="0">
                <a:solidFill>
                  <a:srgbClr val="AFC0D3"/>
                </a:solidFill>
                <a:latin typeface="DejaVu Sans"/>
              </a:rPr>
              <a:t>A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plataforma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end-to-end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que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usaremos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na</a:t>
            </a:r>
            <a:r>
              <a:rPr sz="1400" b="0" i="0" dirty="0">
                <a:solidFill>
                  <a:srgbClr val="AFC0D3"/>
                </a:solidFill>
                <a:latin typeface="DejaVu Sans"/>
              </a:rPr>
              <a:t> </a:t>
            </a:r>
            <a:r>
              <a:rPr sz="1400" b="0" i="0" dirty="0" err="1">
                <a:solidFill>
                  <a:srgbClr val="AFC0D3"/>
                </a:solidFill>
                <a:latin typeface="DejaVu Sans"/>
              </a:rPr>
              <a:t>prática</a:t>
            </a:r>
            <a:r>
              <a:rPr lang="pt-BR" sz="1400" dirty="0">
                <a:solidFill>
                  <a:srgbClr val="AFC0D3"/>
                </a:solidFill>
                <a:latin typeface="DejaVu Sans"/>
              </a:rPr>
              <a:t>: https://www.edgeimpulse.com/</a:t>
            </a:r>
            <a:endParaRPr sz="1400" b="0" i="0" dirty="0">
              <a:solidFill>
                <a:srgbClr val="AFC0D3"/>
              </a:solidFill>
              <a:latin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23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11430000" cy="118872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36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274320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36D1DC"/>
                </a:solidFill>
                <a:latin typeface="DejaVu Sans"/>
              </a:rPr>
              <a:t>DEFINIÇÃO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95728"/>
            <a:ext cx="1088136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800" b="1" i="0">
                <a:solidFill>
                  <a:srgbClr val="F4F7FB"/>
                </a:solidFill>
                <a:latin typeface="DejaVu Sans"/>
              </a:rPr>
              <a:t>Plataforma online que cobre todo o ciclo de ML embarcado: coleta de dados, extração de features, treinamento e deploy para o dispositivo — em poucos cliques.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52044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3703320"/>
            <a:ext cx="22402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500" b="1" i="0">
                <a:solidFill>
                  <a:srgbClr val="36D1DC"/>
                </a:solidFill>
                <a:latin typeface="DejaVu Sans"/>
              </a:rPr>
              <a:t>COLETA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69080"/>
            <a:ext cx="224028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dados do sensor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3931920"/>
            <a:ext cx="384048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4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352044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93008" y="3703320"/>
            <a:ext cx="22402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500" b="1" i="0">
                <a:solidFill>
                  <a:srgbClr val="B5E550"/>
                </a:solidFill>
                <a:latin typeface="DejaVu Sans"/>
              </a:rP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4069080"/>
            <a:ext cx="224028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janela e sinais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3931920"/>
            <a:ext cx="384048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4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52044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703320"/>
            <a:ext cx="22402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500" b="1" i="0">
                <a:solidFill>
                  <a:srgbClr val="5EA7FF"/>
                </a:solidFill>
                <a:latin typeface="DejaVu Sans"/>
              </a:rPr>
              <a:t>TREINO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069080"/>
            <a:ext cx="224028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rede e métricas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3931920"/>
            <a:ext cx="384048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4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352044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45168" y="3703320"/>
            <a:ext cx="224028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500" b="1" i="0">
                <a:solidFill>
                  <a:srgbClr val="FFB259"/>
                </a:solidFill>
                <a:latin typeface="DejaVu Sans"/>
              </a:rPr>
              <a:t>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4069080"/>
            <a:ext cx="224028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biblioteca ou firmware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49239"/>
            <a:ext cx="10881360" cy="811529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 dirty="0" err="1">
                <a:solidFill>
                  <a:srgbClr val="B5E550"/>
                </a:solidFill>
                <a:latin typeface="DejaVu Sans"/>
              </a:rPr>
              <a:t>Vídeo</a:t>
            </a:r>
            <a:r>
              <a:rPr sz="1600" b="1" i="0" dirty="0">
                <a:solidFill>
                  <a:srgbClr val="B5E550"/>
                </a:solidFill>
                <a:latin typeface="DejaVu Sans"/>
              </a:rPr>
              <a:t> de </a:t>
            </a:r>
            <a:r>
              <a:rPr sz="1600" b="1" i="0" dirty="0" err="1">
                <a:solidFill>
                  <a:srgbClr val="B5E550"/>
                </a:solidFill>
                <a:latin typeface="DejaVu Sans"/>
              </a:rPr>
              <a:t>apresentação</a:t>
            </a:r>
            <a:r>
              <a:rPr sz="1600" b="1" i="0" dirty="0">
                <a:solidFill>
                  <a:srgbClr val="B5E550"/>
                </a:solidFill>
                <a:latin typeface="DejaVu Sans"/>
              </a:rPr>
              <a:t>: What is Edge Impulse? | Edge Impulse Explained (Edge Impulse)</a:t>
            </a:r>
          </a:p>
          <a:p>
            <a:r>
              <a:rPr sz="1600" b="0" i="0" dirty="0">
                <a:solidFill>
                  <a:srgbClr val="36D1DC"/>
                </a:solidFill>
                <a:latin typeface="DejaVu Sans"/>
                <a:hlinkClick r:id="rId3"/>
              </a:rPr>
              <a:t>https://www.youtube.com/watch?v=8Vi40I</a:t>
            </a:r>
            <a:r>
              <a:rPr sz="1200" b="0" i="0" dirty="0">
                <a:solidFill>
                  <a:srgbClr val="36D1DC"/>
                </a:solidFill>
                <a:latin typeface="DejaVu Sans"/>
                <a:hlinkClick r:id="rId3"/>
              </a:rPr>
              <a:t>fdb4Q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Ferramenta — Edge Impulse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23 de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FERRAMENTA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Edge Impulse: fluxo de um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Dataset → Impulse (blocks) → treino → 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24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3703320" cy="3977639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2066544"/>
            <a:ext cx="330098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36D1DC"/>
                </a:solidFill>
                <a:latin typeface="DejaVu Sans"/>
              </a:rPr>
              <a:t>1 ·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87168"/>
            <a:ext cx="3300984" cy="10698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Cada classe = um gesto ou padrão.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593592"/>
            <a:ext cx="3300984" cy="10698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Amostras curtas com o rótulo certo.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00016"/>
            <a:ext cx="3300984" cy="10698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Divisão treino / teste automática.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920240"/>
            <a:ext cx="3703320" cy="3977639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1416" y="2066544"/>
            <a:ext cx="330098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B5E550"/>
                </a:solidFill>
                <a:latin typeface="DejaVu Sans"/>
              </a:rPr>
              <a:t>2 · IMPULSE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487168"/>
            <a:ext cx="3300984" cy="10698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Sinal de entrada (ex.: acelerômetro).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3593592"/>
            <a:ext cx="3300984" cy="10698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Processing block: janela e features.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4700016"/>
            <a:ext cx="3300984" cy="10698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Learning block: rede neural.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920240"/>
            <a:ext cx="3657600" cy="3977639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57616" y="2066544"/>
            <a:ext cx="325526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FB259"/>
                </a:solidFill>
                <a:latin typeface="DejaVu Sans"/>
              </a:rPr>
              <a:t>3 · TREINO E EON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487168"/>
            <a:ext cx="3255264" cy="7932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Treina e mostra acurácia e perda.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316986"/>
            <a:ext cx="3255264" cy="7932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Teste com dados nunca vistos.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4146804"/>
            <a:ext cx="3255264" cy="7932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EON Compiler gera código compacto.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4976622"/>
            <a:ext cx="3255264" cy="79324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Deploy: biblioteca, firmware ou binário.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Ferramenta — fluxo no Edge Impulse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24 de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FERRAMENTA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Hardware suportado + o celular como sensor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A plataforma conversa com placas reais — e o celular de bolso já é um sensor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25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3703320" cy="28346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920240"/>
            <a:ext cx="3703320" cy="128016"/>
          </a:xfrm>
          <a:prstGeom prst="rect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2212848"/>
            <a:ext cx="3291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>
                <a:solidFill>
                  <a:srgbClr val="F4F7FB"/>
                </a:solidFill>
                <a:latin typeface="DejaVu Sans"/>
              </a:rPr>
              <a:t>PLACAS SUPORTADAS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880360"/>
            <a:ext cx="3310128" cy="1737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Arduino, ESP32, Raspberry Pi e dezenas de outras placas — a plataforma gera biblioteca e firmware para cada alvo.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703320" cy="28346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703320" cy="128016"/>
          </a:xfrm>
          <a:prstGeom prst="rect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2212848"/>
            <a:ext cx="3291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>
                <a:solidFill>
                  <a:srgbClr val="F4F7FB"/>
                </a:solidFill>
                <a:latin typeface="DejaVu Sans"/>
              </a:rPr>
              <a:t>O CELULAR COMO SENSOR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880360"/>
            <a:ext cx="3310128" cy="1737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No navegador, o celular captura acelerômetro e microfone e envia direto para o dataset — sem nenhum hardware extra.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1920240"/>
            <a:ext cx="3703320" cy="28346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11312" y="1920240"/>
            <a:ext cx="3703320" cy="128016"/>
          </a:xfrm>
          <a:prstGeom prst="rect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212848"/>
            <a:ext cx="3291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1" i="0">
                <a:solidFill>
                  <a:srgbClr val="F4F7FB"/>
                </a:solidFill>
                <a:latin typeface="DejaVu Sans"/>
              </a:rPr>
              <a:t>POR QUE ISSO IMPORTA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80360"/>
            <a:ext cx="3310128" cy="1737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Cada aluno coleta seus próprios dados em minutos: a barreira de “não tenho a placa” desaparece.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983480"/>
            <a:ext cx="11430000" cy="96012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B5E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138928"/>
            <a:ext cx="1088136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No tutorial de hoje, o celular é o “sensor da turma”: coletamos os gestos com ele e o modelo depois roda no microcontrolador.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Ferramenta — hardware e celular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25 de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Projeto com o acelerômetro do celular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Links do tutorial para acompanhar em casa ou na bancada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26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11430000" cy="155448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FFB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274320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FFB259"/>
                </a:solidFill>
                <a:latin typeface="DejaVu Sans"/>
              </a:rPr>
              <a:t>TUTORIAL OFICIAL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32304"/>
            <a:ext cx="1088136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fontScale="62500" lnSpcReduction="20000"/>
          </a:bodyPr>
          <a:lstStyle/>
          <a:p>
            <a:pPr algn="l"/>
            <a:r>
              <a:rPr sz="1800" b="1" i="0">
                <a:solidFill>
                  <a:srgbClr val="F4F7FB"/>
                </a:solidFill>
                <a:latin typeface="DejaVu Sans"/>
              </a:rPr>
              <a:t>Tutorial: acelerômetro do celular com Edge Impulse — Machine Learning Using Your Mobile Phone with Edge Impulse (Edge Impulse)</a:t>
            </a:r>
          </a:p>
          <a:p>
            <a:r>
              <a:rPr sz="1400" b="0" i="0">
                <a:solidFill>
                  <a:srgbClr val="36D1DC"/>
                </a:solidFill>
                <a:latin typeface="DejaVu Sans"/>
                <a:hlinkClick r:id="rId3"/>
              </a:rPr>
              <a:t>https://www.youtube.com/watch?v=W_9-bL4br98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44368"/>
            <a:ext cx="108813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fontScale="77500" lnSpcReduction="20000"/>
          </a:bodyPr>
          <a:lstStyle/>
          <a:p>
            <a:pPr algn="l"/>
            <a:r>
              <a:rPr sz="1600" b="0" i="0">
                <a:solidFill>
                  <a:srgbClr val="F4F7FB"/>
                </a:solidFill>
                <a:latin typeface="DejaVu Sans"/>
              </a:rPr>
              <a:t>Extra — Edge Impulse Tutorial 1 - IMU based gesture recognition using smartphone (Robocraze)</a:t>
            </a:r>
          </a:p>
          <a:p>
            <a:r>
              <a:rPr sz="1400" b="0" i="0">
                <a:solidFill>
                  <a:srgbClr val="36D1DC"/>
                </a:solidFill>
                <a:latin typeface="DejaVu Sans"/>
                <a:hlinkClick r:id="rId4"/>
              </a:rPr>
              <a:t>https://www.youtube.com/watch?v=qu6yRlpBbPo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703320"/>
            <a:ext cx="11430000" cy="21488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858768"/>
            <a:ext cx="3657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36D1DC"/>
                </a:solidFill>
                <a:latin typeface="DejaVu Sans"/>
              </a:rPr>
              <a:t>MATERIAIS DE APOIO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fontScale="77500" lnSpcReduction="20000"/>
          </a:bodyPr>
          <a:lstStyle/>
          <a:p>
            <a:pPr algn="l"/>
            <a:r>
              <a:rPr sz="1600" b="0" i="0">
                <a:solidFill>
                  <a:srgbClr val="F4F7FB"/>
                </a:solidFill>
                <a:latin typeface="DejaVu Sans"/>
              </a:rPr>
              <a:t>Extra — Building a Continuous Motion Recognition System with Embedded Machine Learning (Edge Impulse)</a:t>
            </a:r>
          </a:p>
          <a:p>
            <a:r>
              <a:rPr sz="1400" b="0" i="0">
                <a:solidFill>
                  <a:srgbClr val="36D1DC"/>
                </a:solidFill>
                <a:latin typeface="DejaVu Sans"/>
                <a:hlinkClick r:id="rId5"/>
              </a:rPr>
              <a:t>https://www.youtube.com/watch?v=FseGCn-oBA0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1088136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Use os links com a conta criada no Edge Impulse e o celular na mesma rede Wi-Fi da sala.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38928"/>
            <a:ext cx="108813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O passo a passo completo está no próximo slide.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Tutorial —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26 de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Passo a passo resumido do tutorial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Da conta ao modelo rodando — em cinco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27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148840"/>
            <a:ext cx="2157984" cy="26060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2148840"/>
            <a:ext cx="2157984" cy="109728"/>
          </a:xfrm>
          <a:prstGeom prst="rect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25296" y="2395728"/>
            <a:ext cx="475488" cy="475488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25296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50" b="1" i="0">
                <a:solidFill>
                  <a:srgbClr val="F4F7FB"/>
                </a:solidFill>
                <a:latin typeface="DejaVu Sans"/>
              </a:rPr>
              <a:t>CRIAR CONTA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657600"/>
            <a:ext cx="1975104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cadastro gratuito no Edge Impulse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3063240"/>
            <a:ext cx="329184" cy="40233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2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24912" y="2148840"/>
            <a:ext cx="2157984" cy="26060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24912" y="2148840"/>
            <a:ext cx="2157984" cy="109728"/>
          </a:xfrm>
          <a:prstGeom prst="rect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66160" y="2395728"/>
            <a:ext cx="475488" cy="475488"/>
          </a:xfrm>
          <a:prstGeom prst="ellipse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50" b="1" i="0">
                <a:solidFill>
                  <a:srgbClr val="F4F7FB"/>
                </a:solidFill>
                <a:latin typeface="DejaVu Sans"/>
              </a:rPr>
              <a:t>CELULAR COMO SENSOR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3657600"/>
            <a:ext cx="1975104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autorizar acelerômetro pelo navegador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063240"/>
            <a:ext cx="329184" cy="40233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2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65776" y="2148840"/>
            <a:ext cx="2157984" cy="26060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65776" y="2148840"/>
            <a:ext cx="2157984" cy="109728"/>
          </a:xfrm>
          <a:prstGeom prst="rect">
            <a:avLst/>
          </a:prstGeom>
          <a:solidFill>
            <a:srgbClr val="5E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07024" y="2395728"/>
            <a:ext cx="475488" cy="475488"/>
          </a:xfrm>
          <a:prstGeom prst="ellipse">
            <a:avLst/>
          </a:prstGeom>
          <a:solidFill>
            <a:srgbClr val="5E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07024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50" b="1" i="0">
                <a:solidFill>
                  <a:srgbClr val="F4F7FB"/>
                </a:solidFill>
                <a:latin typeface="DejaVu Sans"/>
              </a:rPr>
              <a:t>CAPTURAR GESTOS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7216" y="3657600"/>
            <a:ext cx="1975104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amostras rotuladas por classe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3" y="3063240"/>
            <a:ext cx="329184" cy="40233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2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2148840"/>
            <a:ext cx="2157984" cy="26060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06640" y="2148840"/>
            <a:ext cx="2157984" cy="109728"/>
          </a:xfrm>
          <a:prstGeom prst="rect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47888" y="2395728"/>
            <a:ext cx="475488" cy="475488"/>
          </a:xfrm>
          <a:prstGeom prst="ellipse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7888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50" b="1" i="0">
                <a:solidFill>
                  <a:srgbClr val="F4F7FB"/>
                </a:solidFill>
                <a:latin typeface="DejaVu Sans"/>
              </a:rPr>
              <a:t>TREINAR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657600"/>
            <a:ext cx="1975104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impulse, features e rede neural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3063240"/>
            <a:ext cx="329184" cy="40233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2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47504" y="2148840"/>
            <a:ext cx="2157984" cy="260604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747504" y="2148840"/>
            <a:ext cx="2157984" cy="109728"/>
          </a:xfrm>
          <a:prstGeom prst="rect">
            <a:avLst/>
          </a:prstGeom>
          <a:solidFill>
            <a:srgbClr val="F58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588752" y="2395728"/>
            <a:ext cx="475488" cy="475488"/>
          </a:xfrm>
          <a:prstGeom prst="ellipse">
            <a:avLst/>
          </a:prstGeom>
          <a:solidFill>
            <a:srgbClr val="F58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88752" y="2414016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38944" y="3035808"/>
            <a:ext cx="1975104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50" b="1" i="0">
                <a:solidFill>
                  <a:srgbClr val="F4F7FB"/>
                </a:solidFill>
                <a:latin typeface="DejaVu Sans"/>
              </a:rPr>
              <a:t>TESTAR AO VIVO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3657600"/>
            <a:ext cx="1975104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200" b="0" i="0">
                <a:solidFill>
                  <a:srgbClr val="AFC0D3"/>
                </a:solidFill>
                <a:latin typeface="DejaVu Sans"/>
              </a:rPr>
              <a:t>classificação em tempo real no celular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" y="5074920"/>
            <a:ext cx="11430000" cy="86868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266944"/>
            <a:ext cx="1088136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Regra de ouro da coleta: gestos bem distintos e várias amostras por classe.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Tutorial — passo a passo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27 de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REFLEXÃO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Desafios do TinyML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O que fica difícil quando o modelo precisa caber no chip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28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23560" cy="16459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3" y="2066544"/>
            <a:ext cx="5486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2340864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F4F7FB"/>
                </a:solidFill>
                <a:latin typeface="DejaVu Sans"/>
              </a:rPr>
              <a:t>DADOS REPRESENTATIVOS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3" y="2724912"/>
            <a:ext cx="516636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coletar exemplos que cubram a variedade real do mundo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920240"/>
            <a:ext cx="5623560" cy="16459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2066544"/>
            <a:ext cx="5486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B5E550"/>
                </a:solidFill>
                <a:latin typeface="DejaVu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340864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F4F7FB"/>
                </a:solidFill>
                <a:latin typeface="DejaVu Sans"/>
              </a:rPr>
              <a:t>MEMÓRIA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724912"/>
            <a:ext cx="516636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o modelo precisa caber em poucos kilobytes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749039"/>
            <a:ext cx="5623560" cy="16459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3" y="3895344"/>
            <a:ext cx="5486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FFB259"/>
                </a:solidFill>
                <a:latin typeface="DejaVu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3" y="4169663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F4F7FB"/>
                </a:solidFill>
                <a:latin typeface="DejaVu Sans"/>
              </a:rPr>
              <a:t>ENERGIA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4553712"/>
            <a:ext cx="516636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operar por meses com bateria ou colheita de energia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749039"/>
            <a:ext cx="5623560" cy="16459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9944" y="3895344"/>
            <a:ext cx="5486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F58FB4"/>
                </a:solidFill>
                <a:latin typeface="DejaVu Sa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4169663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500" b="1" i="0">
                <a:solidFill>
                  <a:srgbClr val="F4F7FB"/>
                </a:solidFill>
                <a:latin typeface="DejaVu Sans"/>
              </a:rPr>
              <a:t>GENERALIZAÇÃO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4553712"/>
            <a:ext cx="516636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AFC0D3"/>
                </a:solidFill>
                <a:latin typeface="DejaVu Sans"/>
              </a:rPr>
              <a:t>funcionar fora dos exemplos de treino, no mundo real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5623560"/>
            <a:ext cx="11430000" cy="50292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705856"/>
            <a:ext cx="108813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B5E550"/>
                </a:solidFill>
                <a:latin typeface="DejaVu Sans"/>
              </a:rPr>
              <a:t>O hardware ensina disciplina: medir, otimizar e testar no dispositivo — sempre.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Reflexão — desafios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28 de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Por onde começar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A receita para o primeiro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29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057400"/>
            <a:ext cx="3703320" cy="23317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993392" y="2286000"/>
            <a:ext cx="475488" cy="475488"/>
          </a:xfrm>
          <a:prstGeom prst="ellipse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93392" y="2304288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44368"/>
            <a:ext cx="333756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ctr"/>
            <a:r>
              <a:rPr sz="1600" b="1" i="0">
                <a:solidFill>
                  <a:srgbClr val="F4F7FB"/>
                </a:solidFill>
                <a:latin typeface="DejaVu Sans"/>
              </a:rPr>
              <a:t>UM SINAL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3346704"/>
            <a:ext cx="3246120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0" i="0">
                <a:solidFill>
                  <a:srgbClr val="AFC0D3"/>
                </a:solidFill>
                <a:latin typeface="DejaVu Sans"/>
              </a:rPr>
              <a:t>pequeno e observável: gesto, vibração, som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2926080"/>
            <a:ext cx="384048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4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57400"/>
            <a:ext cx="3703320" cy="23317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07024" y="2286000"/>
            <a:ext cx="475488" cy="475488"/>
          </a:xfrm>
          <a:prstGeom prst="ellipse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07024" y="2304288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944368"/>
            <a:ext cx="333756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ctr"/>
            <a:r>
              <a:rPr sz="1600" b="1" i="0">
                <a:solidFill>
                  <a:srgbClr val="F4F7FB"/>
                </a:solidFill>
                <a:latin typeface="DejaVu Sans"/>
              </a:rPr>
              <a:t>UMA DECISÃO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346704"/>
            <a:ext cx="3246120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0" i="0">
                <a:solidFill>
                  <a:srgbClr val="AFC0D3"/>
                </a:solidFill>
                <a:latin typeface="DejaVu Sans"/>
              </a:rPr>
              <a:t>o que o dispositivo fará ao reconhecer o padrão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926080"/>
            <a:ext cx="384048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2400" b="1" i="0">
                <a:solidFill>
                  <a:srgbClr val="36D1DC"/>
                </a:solidFill>
                <a:latin typeface="DejaVu San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11312" y="2057400"/>
            <a:ext cx="3703320" cy="23317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20656" y="2286000"/>
            <a:ext cx="475488" cy="475488"/>
          </a:xfrm>
          <a:prstGeom prst="ellipse">
            <a:avLst/>
          </a:prstGeom>
          <a:solidFill>
            <a:srgbClr val="5E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20656" y="2304288"/>
            <a:ext cx="475488" cy="42062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/>
            <a:r>
              <a:rPr sz="1500" b="1" i="0">
                <a:solidFill>
                  <a:srgbClr val="07111F"/>
                </a:solidFill>
                <a:latin typeface="DejaVu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944368"/>
            <a:ext cx="333756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ctr"/>
            <a:r>
              <a:rPr sz="1600" b="1" i="0">
                <a:solidFill>
                  <a:srgbClr val="F4F7FB"/>
                </a:solidFill>
                <a:latin typeface="DejaVu Sans"/>
              </a:rPr>
              <a:t>UM DISPOSITIVO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3346704"/>
            <a:ext cx="3246120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ctr"/>
            <a:r>
              <a:rPr sz="1300" b="0" i="0">
                <a:solidFill>
                  <a:srgbClr val="AFC0D3"/>
                </a:solidFill>
                <a:latin typeface="DejaVu Sans"/>
              </a:rPr>
              <a:t>o celular na coleta e uma placa na execução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4754880"/>
            <a:ext cx="11430000" cy="114300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901184"/>
            <a:ext cx="274320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FFB259"/>
                </a:solidFill>
                <a:latin typeface="DejaVu Sans"/>
              </a:rPr>
              <a:t>COMECE PEQUENO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108813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 lnSpcReduction="10000"/>
          </a:bodyPr>
          <a:lstStyle/>
          <a:p>
            <a:pPr algn="l"/>
            <a:r>
              <a:rPr sz="1600" b="1" i="0">
                <a:solidFill>
                  <a:srgbClr val="F4F7FB"/>
                </a:solidFill>
                <a:latin typeface="DejaVu Sans"/>
              </a:rPr>
              <a:t>Melhor um projeto simples que roda de ponta a ponta do que um ambicioso que para na coleta.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Próximos passos — por onde começar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29 de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ATIVIDADE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Atividade prática sugerida para 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Em grupos: treinar um reconhecedor de gestos e propor o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30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5623560" cy="41605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5240">
            <a:solidFill>
              <a:srgbClr val="36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2084831"/>
            <a:ext cx="27432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00" b="1" i="0">
                <a:solidFill>
                  <a:srgbClr val="36D1DC"/>
                </a:solidFill>
                <a:latin typeface="DejaVu Sans"/>
              </a:rPr>
              <a:t>O DESAFIO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432304"/>
            <a:ext cx="5166360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700" b="1" i="0">
                <a:solidFill>
                  <a:srgbClr val="F4F7FB"/>
                </a:solidFill>
                <a:latin typeface="DejaVu Sans"/>
              </a:rPr>
              <a:t>Cada grupo define de 2 a 3 gestos, coleta as amostras com o acelerômetro do celular no Edge Impulse, treina o modelo e apresenta a acurácia obtida.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749039"/>
            <a:ext cx="51663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Tempo sugerido: 40–50 min de coleta e treino.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206240"/>
            <a:ext cx="5166360" cy="9144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Entrega: demonstração ao vivo + proposta de uso do modelo em uma placa da bancada (Arduino ou ESP32).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920240"/>
            <a:ext cx="5669280" cy="41605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45936" y="2066544"/>
            <a:ext cx="5266944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B5E550"/>
                </a:solidFill>
                <a:latin typeface="DejaVu Sans"/>
              </a:rPr>
              <a:t>ROTEIRO DO GRUPO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487168"/>
            <a:ext cx="5266944" cy="5471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1. Escolher gestos bem distintos (regra do slide 20).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3070860"/>
            <a:ext cx="5266944" cy="5471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2. Coletar: 15+ amostras por classe, velocidade variada.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3654552"/>
            <a:ext cx="5266944" cy="5471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3. Separar 20% das amostras para teste.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4238244"/>
            <a:ext cx="5266944" cy="5471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4. Treinar o impulse e anotar acurácia e perda.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4821936"/>
            <a:ext cx="5266944" cy="5471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5. Testar ao vivo e registrar confusões entre gestos.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5405628"/>
            <a:ext cx="5266944" cy="5471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50" b="0" i="0">
                <a:solidFill>
                  <a:srgbClr val="F4F7FB"/>
                </a:solidFill>
                <a:latin typeface="DejaVu Sans"/>
              </a:rPr>
              <a:t>6. Propor: onde este modelo rodaria em uma placa real?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Atividade prática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30 de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Referências e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Todos os links da apresentação — 8 principais + 5 extras (clique para abrir)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31 / 32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Referências e links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31 de 32</a:t>
            </a:r>
          </a:p>
        </p:txBody>
      </p:sp>
      <p:sp>
        <p:nvSpPr>
          <p:cNvPr id="42" name="LinkRow1 Bg"/>
          <p:cNvSpPr/>
          <p:nvPr/>
        </p:nvSpPr>
        <p:spPr>
          <a:xfrm>
            <a:off x="385200" y="1918800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LinkRow1 Badge"/>
          <p:cNvSpPr/>
          <p:nvPr/>
        </p:nvSpPr>
        <p:spPr>
          <a:xfrm>
            <a:off x="493200" y="1951200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LinkRow1 BadgeTxt"/>
          <p:cNvSpPr txBox="1"/>
          <p:nvPr/>
        </p:nvSpPr>
        <p:spPr>
          <a:xfrm>
            <a:off x="493200" y="1967400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01</a:t>
            </a:r>
          </a:p>
        </p:txBody>
      </p:sp>
      <p:sp>
        <p:nvSpPr>
          <p:cNvPr id="45" name="LinkRow1 Texto"/>
          <p:cNvSpPr txBox="1"/>
          <p:nvPr/>
        </p:nvSpPr>
        <p:spPr>
          <a:xfrm>
            <a:off x="1479600" y="1918800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Você sabe o que é Machine Learning? - @CursoemVideo Inteligência Artificial (Curso em Vídeo)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3"/>
              </a:rPr>
              <a:t>https://www.youtube.com/watch?v=0mtXae5HhTE</a:t>
            </a:r>
          </a:p>
        </p:txBody>
      </p:sp>
      <p:sp>
        <p:nvSpPr>
          <p:cNvPr id="46" name="LinkRow2 Bg"/>
          <p:cNvSpPr/>
          <p:nvPr/>
        </p:nvSpPr>
        <p:spPr>
          <a:xfrm>
            <a:off x="385200" y="2266892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LinkRow2 Badge"/>
          <p:cNvSpPr/>
          <p:nvPr/>
        </p:nvSpPr>
        <p:spPr>
          <a:xfrm>
            <a:off x="493200" y="2299292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LinkRow2 BadgeTxt"/>
          <p:cNvSpPr txBox="1"/>
          <p:nvPr/>
        </p:nvSpPr>
        <p:spPr>
          <a:xfrm>
            <a:off x="493200" y="2315492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02</a:t>
            </a:r>
          </a:p>
        </p:txBody>
      </p:sp>
      <p:sp>
        <p:nvSpPr>
          <p:cNvPr id="49" name="LinkRow2 Texto"/>
          <p:cNvSpPr txBox="1"/>
          <p:nvPr/>
        </p:nvSpPr>
        <p:spPr>
          <a:xfrm>
            <a:off x="1479600" y="2266892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O que é Machine Learning? #HipstersPontoTube (Alura)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4"/>
              </a:rPr>
              <a:t>https://www.youtube.com/watch?v=Iuz_jc96bQk</a:t>
            </a:r>
          </a:p>
        </p:txBody>
      </p:sp>
      <p:sp>
        <p:nvSpPr>
          <p:cNvPr id="50" name="LinkRow3 Bg"/>
          <p:cNvSpPr/>
          <p:nvPr/>
        </p:nvSpPr>
        <p:spPr>
          <a:xfrm>
            <a:off x="385200" y="2614984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LinkRow3 Badge"/>
          <p:cNvSpPr/>
          <p:nvPr/>
        </p:nvSpPr>
        <p:spPr>
          <a:xfrm>
            <a:off x="493200" y="2647384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LinkRow3 BadgeTxt"/>
          <p:cNvSpPr txBox="1"/>
          <p:nvPr/>
        </p:nvSpPr>
        <p:spPr>
          <a:xfrm>
            <a:off x="493200" y="2663584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03</a:t>
            </a:r>
          </a:p>
        </p:txBody>
      </p:sp>
      <p:sp>
        <p:nvSpPr>
          <p:cNvPr id="53" name="LinkRow3 Texto"/>
          <p:cNvSpPr txBox="1"/>
          <p:nvPr/>
        </p:nvSpPr>
        <p:spPr>
          <a:xfrm>
            <a:off x="1479600" y="2614984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UNIFEI - TinyML - IESTI01 2023.1 - EAD Version - Class 2 - Introduction to TinyML (Marcelo Rovai)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5"/>
              </a:rPr>
              <a:t>https://www.youtube.com/watch?v=ozeL9a8xNXk</a:t>
            </a:r>
          </a:p>
        </p:txBody>
      </p:sp>
      <p:sp>
        <p:nvSpPr>
          <p:cNvPr id="54" name="LinkRow4 Bg"/>
          <p:cNvSpPr/>
          <p:nvPr/>
        </p:nvSpPr>
        <p:spPr>
          <a:xfrm>
            <a:off x="385200" y="2963076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LinkRow4 Badge"/>
          <p:cNvSpPr/>
          <p:nvPr/>
        </p:nvSpPr>
        <p:spPr>
          <a:xfrm>
            <a:off x="493200" y="2995476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LinkRow4 BadgeTxt"/>
          <p:cNvSpPr txBox="1"/>
          <p:nvPr/>
        </p:nvSpPr>
        <p:spPr>
          <a:xfrm>
            <a:off x="493200" y="3011676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04</a:t>
            </a:r>
          </a:p>
        </p:txBody>
      </p:sp>
      <p:sp>
        <p:nvSpPr>
          <p:cNvPr id="57" name="LinkRow4 Texto"/>
          <p:cNvSpPr txBox="1"/>
          <p:nvPr/>
        </p:nvSpPr>
        <p:spPr>
          <a:xfrm>
            <a:off x="1479600" y="2963076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UNIFEI - TinyML - IESTI01 2022.1 - Class 02 - Introduction to TinyML (Marcelo Rovai)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6"/>
              </a:rPr>
              <a:t>https://www.youtube.com/watch?v=7qeoZdYNGJA</a:t>
            </a:r>
          </a:p>
        </p:txBody>
      </p:sp>
      <p:sp>
        <p:nvSpPr>
          <p:cNvPr id="58" name="LinkRow5 Bg"/>
          <p:cNvSpPr/>
          <p:nvPr/>
        </p:nvSpPr>
        <p:spPr>
          <a:xfrm>
            <a:off x="385200" y="3311169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LinkRow5 Badge"/>
          <p:cNvSpPr/>
          <p:nvPr/>
        </p:nvSpPr>
        <p:spPr>
          <a:xfrm>
            <a:off x="493200" y="3343569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LinkRow5 BadgeTxt"/>
          <p:cNvSpPr txBox="1"/>
          <p:nvPr/>
        </p:nvSpPr>
        <p:spPr>
          <a:xfrm>
            <a:off x="493200" y="3359769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05</a:t>
            </a:r>
          </a:p>
        </p:txBody>
      </p:sp>
      <p:sp>
        <p:nvSpPr>
          <p:cNvPr id="61" name="LinkRow5 Texto"/>
          <p:cNvSpPr txBox="1"/>
          <p:nvPr/>
        </p:nvSpPr>
        <p:spPr>
          <a:xfrm>
            <a:off x="1479600" y="3311169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What is Edge Impulse? | Edge Impulse Explained (Edge Impulse)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7"/>
              </a:rPr>
              <a:t>https://www.youtube.com/watch?v=8Vi40Ifdb4Q</a:t>
            </a:r>
          </a:p>
        </p:txBody>
      </p:sp>
      <p:sp>
        <p:nvSpPr>
          <p:cNvPr id="62" name="LinkRow6 Bg"/>
          <p:cNvSpPr/>
          <p:nvPr/>
        </p:nvSpPr>
        <p:spPr>
          <a:xfrm>
            <a:off x="385200" y="3659261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LinkRow6 Badge"/>
          <p:cNvSpPr/>
          <p:nvPr/>
        </p:nvSpPr>
        <p:spPr>
          <a:xfrm>
            <a:off x="493200" y="3691661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LinkRow6 BadgeTxt"/>
          <p:cNvSpPr txBox="1"/>
          <p:nvPr/>
        </p:nvSpPr>
        <p:spPr>
          <a:xfrm>
            <a:off x="493200" y="3707861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06</a:t>
            </a:r>
          </a:p>
        </p:txBody>
      </p:sp>
      <p:sp>
        <p:nvSpPr>
          <p:cNvPr id="65" name="LinkRow6 Texto"/>
          <p:cNvSpPr txBox="1"/>
          <p:nvPr/>
        </p:nvSpPr>
        <p:spPr>
          <a:xfrm>
            <a:off x="1479600" y="3659261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Machine Learning Using Your Mobile Phone with Edge Impulse (Edge Impulse)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8"/>
              </a:rPr>
              <a:t>https://www.youtube.com/watch?v=W_9-bL4br98</a:t>
            </a:r>
          </a:p>
        </p:txBody>
      </p:sp>
      <p:sp>
        <p:nvSpPr>
          <p:cNvPr id="66" name="LinkRow7 Bg"/>
          <p:cNvSpPr/>
          <p:nvPr/>
        </p:nvSpPr>
        <p:spPr>
          <a:xfrm>
            <a:off x="385200" y="4007353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LinkRow7 Badge"/>
          <p:cNvSpPr/>
          <p:nvPr/>
        </p:nvSpPr>
        <p:spPr>
          <a:xfrm>
            <a:off x="493200" y="4039753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LinkRow7 BadgeTxt"/>
          <p:cNvSpPr txBox="1"/>
          <p:nvPr/>
        </p:nvSpPr>
        <p:spPr>
          <a:xfrm>
            <a:off x="493200" y="4055953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07</a:t>
            </a:r>
          </a:p>
        </p:txBody>
      </p:sp>
      <p:sp>
        <p:nvSpPr>
          <p:cNvPr id="69" name="LinkRow7 Texto"/>
          <p:cNvSpPr txBox="1"/>
          <p:nvPr/>
        </p:nvSpPr>
        <p:spPr>
          <a:xfrm>
            <a:off x="1479600" y="4007353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Edge Impulse Tutorial 1 - IMU based gesture recognition using smartphone (Robocraze)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9"/>
              </a:rPr>
              <a:t>https://www.youtube.com/watch?v=qu6yRlpBbPo</a:t>
            </a:r>
          </a:p>
        </p:txBody>
      </p:sp>
      <p:sp>
        <p:nvSpPr>
          <p:cNvPr id="70" name="LinkRow8 Bg"/>
          <p:cNvSpPr/>
          <p:nvPr/>
        </p:nvSpPr>
        <p:spPr>
          <a:xfrm>
            <a:off x="385200" y="4355446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LinkRow8 Badge"/>
          <p:cNvSpPr/>
          <p:nvPr/>
        </p:nvSpPr>
        <p:spPr>
          <a:xfrm>
            <a:off x="493200" y="4387846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LinkRow8 BadgeTxt"/>
          <p:cNvSpPr txBox="1"/>
          <p:nvPr/>
        </p:nvSpPr>
        <p:spPr>
          <a:xfrm>
            <a:off x="493200" y="4404046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08</a:t>
            </a:r>
          </a:p>
        </p:txBody>
      </p:sp>
      <p:sp>
        <p:nvSpPr>
          <p:cNvPr id="73" name="LinkRow8 Texto"/>
          <p:cNvSpPr txBox="1"/>
          <p:nvPr/>
        </p:nvSpPr>
        <p:spPr>
          <a:xfrm>
            <a:off x="1479600" y="4355446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Building a Continuous Motion Recognition System with Embedded Machine Learning (Edge Impulse)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10"/>
              </a:rPr>
              <a:t>https://www.youtube.com/watch?v=FseGCn-oBA0</a:t>
            </a:r>
          </a:p>
        </p:txBody>
      </p:sp>
      <p:sp>
        <p:nvSpPr>
          <p:cNvPr id="74" name="LinkRow9 Bg"/>
          <p:cNvSpPr/>
          <p:nvPr/>
        </p:nvSpPr>
        <p:spPr>
          <a:xfrm>
            <a:off x="385200" y="4703538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LinkRow9 Badge"/>
          <p:cNvSpPr/>
          <p:nvPr/>
        </p:nvSpPr>
        <p:spPr>
          <a:xfrm>
            <a:off x="493200" y="4735938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LinkRow9 BadgeTxt"/>
          <p:cNvSpPr txBox="1"/>
          <p:nvPr/>
        </p:nvSpPr>
        <p:spPr>
          <a:xfrm>
            <a:off x="493200" y="4752138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EX1</a:t>
            </a:r>
          </a:p>
        </p:txBody>
      </p:sp>
      <p:sp>
        <p:nvSpPr>
          <p:cNvPr id="77" name="LinkRow9 Texto"/>
          <p:cNvSpPr txBox="1"/>
          <p:nvPr/>
        </p:nvSpPr>
        <p:spPr>
          <a:xfrm>
            <a:off x="1479600" y="4703538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Qual a diferença entre Inteligência Artificial, Machine Learning e Deep Learning (Bóson Treinamentos)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11"/>
              </a:rPr>
              <a:t>https://www.youtube.com/watch?v=wFYAV_Wk5bc</a:t>
            </a:r>
          </a:p>
        </p:txBody>
      </p:sp>
      <p:sp>
        <p:nvSpPr>
          <p:cNvPr id="78" name="LinkRow10 Bg"/>
          <p:cNvSpPr/>
          <p:nvPr/>
        </p:nvSpPr>
        <p:spPr>
          <a:xfrm>
            <a:off x="385200" y="5051630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LinkRow10 Badge"/>
          <p:cNvSpPr/>
          <p:nvPr/>
        </p:nvSpPr>
        <p:spPr>
          <a:xfrm>
            <a:off x="493200" y="5084030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LinkRow10 BadgeTxt"/>
          <p:cNvSpPr txBox="1"/>
          <p:nvPr/>
        </p:nvSpPr>
        <p:spPr>
          <a:xfrm>
            <a:off x="493200" y="5100230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EX2</a:t>
            </a:r>
          </a:p>
        </p:txBody>
      </p:sp>
      <p:sp>
        <p:nvSpPr>
          <p:cNvPr id="81" name="LinkRow10 Texto"/>
          <p:cNvSpPr txBox="1"/>
          <p:nvPr/>
        </p:nvSpPr>
        <p:spPr>
          <a:xfrm>
            <a:off x="1479600" y="5051630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TinyML — Convolutional Neural Networks in Microcontrollers (Thommas K. S. Flores)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12"/>
              </a:rPr>
              <a:t>https://www.youtube.com/watch?v=HiQmXy-6eq0</a:t>
            </a:r>
          </a:p>
        </p:txBody>
      </p:sp>
      <p:sp>
        <p:nvSpPr>
          <p:cNvPr id="82" name="LinkRow11 Bg"/>
          <p:cNvSpPr/>
          <p:nvPr/>
        </p:nvSpPr>
        <p:spPr>
          <a:xfrm>
            <a:off x="385200" y="5399723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LinkRow11 Badge"/>
          <p:cNvSpPr/>
          <p:nvPr/>
        </p:nvSpPr>
        <p:spPr>
          <a:xfrm>
            <a:off x="493200" y="5432123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LinkRow11 BadgeTxt"/>
          <p:cNvSpPr txBox="1"/>
          <p:nvPr/>
        </p:nvSpPr>
        <p:spPr>
          <a:xfrm>
            <a:off x="493200" y="5448323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EX3</a:t>
            </a:r>
          </a:p>
        </p:txBody>
      </p:sp>
      <p:sp>
        <p:nvSpPr>
          <p:cNvPr id="85" name="LinkRow11 Texto"/>
          <p:cNvSpPr txBox="1"/>
          <p:nvPr/>
        </p:nvSpPr>
        <p:spPr>
          <a:xfrm>
            <a:off x="1479600" y="5399723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TinyML - Support Vector Machines (Classifier) (SVM no Arduino/ESP32) (Thommas K. S. Flores)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13"/>
              </a:rPr>
              <a:t>https://www.youtube.com/watch?v=LjUQojFjiHI</a:t>
            </a:r>
          </a:p>
        </p:txBody>
      </p:sp>
      <p:sp>
        <p:nvSpPr>
          <p:cNvPr id="86" name="LinkRow12 Bg"/>
          <p:cNvSpPr/>
          <p:nvPr/>
        </p:nvSpPr>
        <p:spPr>
          <a:xfrm>
            <a:off x="385200" y="5747815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LinkRow12 Badge"/>
          <p:cNvSpPr/>
          <p:nvPr/>
        </p:nvSpPr>
        <p:spPr>
          <a:xfrm>
            <a:off x="493200" y="5780215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LinkRow12 BadgeTxt"/>
          <p:cNvSpPr txBox="1"/>
          <p:nvPr/>
        </p:nvSpPr>
        <p:spPr>
          <a:xfrm>
            <a:off x="493200" y="5796415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EX4</a:t>
            </a:r>
          </a:p>
        </p:txBody>
      </p:sp>
      <p:sp>
        <p:nvSpPr>
          <p:cNvPr id="89" name="LinkRow12 Texto"/>
          <p:cNvSpPr txBox="1"/>
          <p:nvPr/>
        </p:nvSpPr>
        <p:spPr>
          <a:xfrm>
            <a:off x="1479600" y="5747815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IESTI01 TinyML 2021.2 - Class 25 - Collecting Data with EI Studio (Marcelo Rovai)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14"/>
              </a:rPr>
              <a:t>https://www.youtube.com/watch?v=EZlwH_eoxMw</a:t>
            </a:r>
          </a:p>
        </p:txBody>
      </p:sp>
      <p:sp>
        <p:nvSpPr>
          <p:cNvPr id="90" name="LinkRow13 Bg"/>
          <p:cNvSpPr/>
          <p:nvPr/>
        </p:nvSpPr>
        <p:spPr>
          <a:xfrm>
            <a:off x="385200" y="6095907"/>
            <a:ext cx="11430000" cy="304892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LinkRow13 Badge"/>
          <p:cNvSpPr/>
          <p:nvPr/>
        </p:nvSpPr>
        <p:spPr>
          <a:xfrm>
            <a:off x="493200" y="6128307"/>
            <a:ext cx="842400" cy="240092"/>
          </a:xfrm>
          <a:prstGeom prst="roundRect">
            <a:avLst>
              <a:gd name="adj" fmla="val 10000"/>
            </a:avLst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LinkRow13 BadgeTxt"/>
          <p:cNvSpPr txBox="1"/>
          <p:nvPr/>
        </p:nvSpPr>
        <p:spPr>
          <a:xfrm>
            <a:off x="493200" y="6144507"/>
            <a:ext cx="842400" cy="2076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 fontScale="92500" lnSpcReduction="10000"/>
          </a:bodyPr>
          <a:lstStyle/>
          <a:p>
            <a:pPr algn="ctr"/>
            <a:r>
              <a:rPr sz="1200" b="1" i="0">
                <a:solidFill>
                  <a:srgbClr val="07111F"/>
                </a:solidFill>
                <a:latin typeface="DejaVu Sans"/>
              </a:rPr>
              <a:t>EX5</a:t>
            </a:r>
          </a:p>
        </p:txBody>
      </p:sp>
      <p:sp>
        <p:nvSpPr>
          <p:cNvPr id="93" name="LinkRow13 Texto"/>
          <p:cNvSpPr txBox="1"/>
          <p:nvPr/>
        </p:nvSpPr>
        <p:spPr>
          <a:xfrm>
            <a:off x="1479600" y="6095907"/>
            <a:ext cx="10188000" cy="3048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l"/>
            <a:r>
              <a:rPr sz="1100" b="0" i="0">
                <a:solidFill>
                  <a:srgbClr val="F4F7FB"/>
                </a:solidFill>
                <a:latin typeface="DejaVu Sans"/>
              </a:rPr>
              <a:t>Building with TensorFlow Lite for microcontrollers | Workshop (TensorFlow) · </a:t>
            </a:r>
            <a:r>
              <a:rPr sz="900" b="0" i="0">
                <a:solidFill>
                  <a:srgbClr val="36D1DC"/>
                </a:solidFill>
                <a:latin typeface="DejaVu Sans"/>
                <a:hlinkClick r:id="rId15"/>
              </a:rPr>
              <a:t>https://www.youtube.com/watch?v=jqVCR2MUJEs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84048" y="1755648"/>
            <a:ext cx="11430000" cy="0"/>
          </a:xfrm>
          <a:prstGeom prst="line">
            <a:avLst/>
          </a:prstGeom>
          <a:ln w="1016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2336" y="292608"/>
            <a:ext cx="5943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100" b="1" i="0">
                <a:solidFill>
                  <a:srgbClr val="36D1DC"/>
                </a:solidFill>
                <a:latin typeface="DejaVu Sans"/>
              </a:rPr>
              <a:t>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03504"/>
            <a:ext cx="10972800" cy="5852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800" b="1" i="0">
                <a:solidFill>
                  <a:srgbClr val="F4F7FB"/>
                </a:solidFill>
                <a:latin typeface="DejaVu Sans"/>
              </a:rPr>
              <a:t>A decisão acontece onde o dado nasce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280160"/>
            <a:ext cx="1097280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0" i="0">
                <a:solidFill>
                  <a:srgbClr val="AFC0D3"/>
                </a:solidFill>
                <a:latin typeface="DejaVu Sans"/>
              </a:rPr>
              <a:t>Síntese da aula e créditos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329184"/>
            <a:ext cx="1234440" cy="237744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32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920240"/>
            <a:ext cx="3703320" cy="128016"/>
          </a:xfrm>
          <a:prstGeom prst="rect">
            <a:avLst/>
          </a:prstGeom>
          <a:solidFill>
            <a:srgbClr val="36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2212848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36D1DC"/>
                </a:solidFill>
                <a:latin typeface="DejaVu Sans"/>
              </a:rPr>
              <a:t>O QUE VIMOS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606040"/>
            <a:ext cx="3310128" cy="12801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Da IA ao ML, dos tipos de aprendizagem ao ciclo de projeto.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703320" cy="128016"/>
          </a:xfrm>
          <a:prstGeom prst="rect">
            <a:avLst/>
          </a:prstGeom>
          <a:solidFill>
            <a:srgbClr val="B5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2212848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B5E550"/>
                </a:solidFill>
                <a:latin typeface="DejaVu Sans"/>
              </a:rPr>
              <a:t>O QUE É TINYML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606040"/>
            <a:ext cx="3310128" cy="12801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ML otimizado rodando em microcontroladores, sempre ligado.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192024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11312" y="1920240"/>
            <a:ext cx="3703320" cy="128016"/>
          </a:xfrm>
          <a:prstGeom prst="rect">
            <a:avLst/>
          </a:prstGeom>
          <a:solidFill>
            <a:srgbClr val="FFB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212848"/>
            <a:ext cx="32918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400" b="1" i="0">
                <a:solidFill>
                  <a:srgbClr val="FFB259"/>
                </a:solidFill>
                <a:latin typeface="DejaVu Sans"/>
              </a:rPr>
              <a:t>O QUE VOCÊ FAZ AGORA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06040"/>
            <a:ext cx="3310128" cy="12801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300" b="0" i="0">
                <a:solidFill>
                  <a:srgbClr val="F4F7FB"/>
                </a:solidFill>
                <a:latin typeface="DejaVu Sans"/>
              </a:rPr>
              <a:t>Treinar seu modelo com o celular e propor o deploy em uma placa.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343400"/>
            <a:ext cx="11430000" cy="960120"/>
          </a:xfrm>
          <a:prstGeom prst="roundRect">
            <a:avLst>
              <a:gd name="adj" fmla="val 10000"/>
            </a:avLst>
          </a:prstGeom>
          <a:solidFill>
            <a:srgbClr val="142B44"/>
          </a:solidFill>
          <a:ln w="15240">
            <a:solidFill>
              <a:srgbClr val="B5E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553712"/>
            <a:ext cx="1088136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2000" b="1" i="0">
                <a:solidFill>
                  <a:srgbClr val="B5E550"/>
                </a:solidFill>
                <a:latin typeface="DejaVu Sans"/>
              </a:rPr>
              <a:t>Se o dado nasce no dispositivo, a inteligência também pode nascer ali.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553212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02238"/>
          </a:solidFill>
          <a:ln w="12700">
            <a:solidFill>
              <a:srgbClr val="1D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650992"/>
            <a:ext cx="108813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250" b="0" i="0">
                <a:solidFill>
                  <a:srgbClr val="AFC0D3"/>
                </a:solidFill>
                <a:latin typeface="DejaVu Sans"/>
              </a:rPr>
              <a:t>Baseado nas apresentações “TinyML — Machine Learning para Sistemas Embarcados” (Prof. Ivan Lucas) e “TinyML — Inteligência no Limite”.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4048" y="6492240"/>
            <a:ext cx="11430000" cy="0"/>
          </a:xfrm>
          <a:prstGeom prst="line">
            <a:avLst/>
          </a:prstGeom>
          <a:ln w="8890">
            <a:solidFill>
              <a:srgbClr val="1D3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2336" y="6528816"/>
            <a:ext cx="859536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/>
            <a:r>
              <a:rPr sz="1000" b="0" i="0">
                <a:solidFill>
                  <a:srgbClr val="AFC0D3"/>
                </a:solidFill>
                <a:latin typeface="DejaVu Sans"/>
              </a:rPr>
              <a:t>Encerramento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6528816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r"/>
            <a:r>
              <a:rPr sz="1000" b="1" i="0">
                <a:solidFill>
                  <a:srgbClr val="AFC0D3"/>
                </a:solidFill>
                <a:latin typeface="DejaVu Sans"/>
              </a:rPr>
              <a:t>TinyML · 32 de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5840</Words>
  <Application>Microsoft Office PowerPoint</Application>
  <PresentationFormat>Widescreen</PresentationFormat>
  <Paragraphs>598</Paragraphs>
  <Slides>32</Slides>
  <Notes>32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6" baseType="lpstr">
      <vt:lpstr>Arial</vt:lpstr>
      <vt:lpstr>Calibri</vt:lpstr>
      <vt:lpstr>DejaVu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TinyML — Inteligência artificial onde a decisão acontece</dc:title>
  <dc:subject>Aula de TinyML para Arduino, eletrônica e IoT</dc:subject>
  <dc:creator>Hermes Agent</dc:creator>
  <cp:keywords/>
  <dc:description>generated using python-pptx</dc:description>
  <cp:lastModifiedBy>Ivan Lucas</cp:lastModifiedBy>
  <cp:revision>6</cp:revision>
  <dcterms:created xsi:type="dcterms:W3CDTF">2013-01-27T09:14:16Z</dcterms:created>
  <dcterms:modified xsi:type="dcterms:W3CDTF">2026-10-21T14:30:45Z</dcterms:modified>
  <cp:category/>
  <dc:language>pt-BR</dc:language>
</cp:coreProperties>
</file>