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0154E60-0298-10FD-13A9-33E3F5725F81}">
          <p14:sldIdLst>
            <p14:sldId id="256"/>
            <p14:sldId id="257"/>
            <p14:sldId id="258"/>
            <p14:sldId id="259"/>
          </p14:sldIdLst>
        </p14:section>
        <p14:section name="1. Interface" id="{99CCA107-01DB-8260-120D-5B3F9AD20E53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. Primeiro app" id="{694B6E25-8DAB-F163-7DD9-D0A20FA0BB03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3. App Calcula Média" id="{FB972918-9D90-E5A4-4C72-8B389424F942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4. Exercícios básicos" id="{996B47B1-854B-4EB7-D4CA-17AF57D571C6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Intervalo" id="{C4E46FD9-CDD3-10D0-EEDB-133F838E21C4}">
          <p14:sldIdLst>
            <p14:sldId id="288"/>
          </p14:sldIdLst>
        </p14:section>
        <p14:section name="5. Bloco de Notas" id="{4030A86A-8B0C-3A05-E4F3-27664981194B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6. Dicionário Interativo" id="{6396E415-1490-E6CA-7358-714C757D2863}">
          <p14:sldIdLst>
            <p14:sldId id="296"/>
            <p14:sldId id="297"/>
            <p14:sldId id="298"/>
            <p14:sldId id="299"/>
            <p14:sldId id="300"/>
          </p14:sldIdLst>
        </p14:section>
        <p14:section name="7. Desenho e animação" id="{CB842C52-7C65-1E83-986B-23A02650E1FF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8. Chat com Firebase" id="{30336713-C473-F8EF-DDD9-1F364C38D174}">
          <p14:sldIdLst>
            <p14:sldId id="307"/>
            <p14:sldId id="308"/>
            <p14:sldId id="309"/>
            <p14:sldId id="310"/>
          </p14:sldIdLst>
        </p14:section>
        <p14:section name="9. App + Arduino via Bluetooth" id="{C456B564-7F09-3ACA-E6FF-176D481726A8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Revisão e encerramento" id="{CDE3F5A4-ECDB-0663-D794-95396C91F25A}">
          <p14:sldIdLst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2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MIT App Inventor: aplicativos Android com blocos
Etapa: Abertura | Tempo estimado: 2 min
OBJETIVO: abrir a aula e situar a turma.
CONDUÇÃO: apresente o tema e avise que tudo o que será visto vem da apostila distribuída à turma. Diga que haverá momentos de explicação, demonstração no App Inventor, prática e um intervalo de 15 minutos.
PERGUNTA RÁPIDA À TURMA: "Quem já usou um aplicativo que vocês gostariam de ter criado?" (aquecimento, sem resposta certa).
PREPARAÇÃO DO PROFESSOR: ter o App Inventor aberto no navegador (endereço citado na apostila: http://ai2.appinventor.mit.edu) e a apostila à mão. A apostila não descreve login nem como testar no celular além de gerar .apk/QR code; teste o fluxo antes da aula.
Rastreabilidade: apostila, capa (p. 1) e cap. 1 (p. 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Objetivos de aprendizagem
Etapa: Abertura | Tempo estimado: 3 min
OBJETIVO: deixar claro o que se espera de cada estudante.
CONDUÇÃO: leia os verbos em destaque. Explique que "prever" e "analisar" serão cobrados: em vários momentos a turma terá de dizer o que um conjunto de blocos faz ANTES de executá-lo.
OBSERVAÇÃO: o objetivo 5 é conceitual; a montagem física com Arduino depende de material de laboratório. A apostila traz o circuito e o código (caps. 5, 12 e 13), mas a aula de 4 horas foca no aplicativo e na leitura do código.
Rastreabilidade: objetivos derivados dos caps. 2, 3, 4, 5, 8, 9, 10 e 12 da apostila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Roteiro das 4 horas
Etapa: Abertura | Tempo estimado: 2 min
OBJETIVO: mostrar a organização do tempo.
CONDUÇÃO: destaque que a primeira metade (até o intervalo) constrói a base: interface, eventos, variáveis e condições. A segunda metade aplica essa base em projetos da apostila: banco de dados local, listas, desenho, jogo, nuvem e Bluetooth.
DICA: se a turma atrasar na prática do Hello World ou do Calcula Média, reduza o tempo dos slides de projetos avançados (Firebase e BLE), que podem virar demonstração do professor.
Rastreabilidade: planejamento da aula (sequência baseada no sumário da apostila, p. 2-3)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O que é o App Inventor
Etapa: Abertura | Tempo estimado: 3 min
OBJETIVO: definir a ferramenta com as palavras da apostila.
CONDUÇÃO: leia os três cartões. Pergunte: "Para quem já programa em texto, o que muda quando o código vira blocos?" RESPOSTA ESPERADA: não é preciso decorar sintaxe; os blocos só se encaixam de formas válidas; o foco vai para a lógica.
ATENÇÃO: a apostila não traz histórico detalhado, versões nem requisitos de sistema. Não acrescente essas informações.
Rastreabilidade: apostila, cap. 1 – Introdução (p. 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– Conhecendo a interface
Etapa: 1. Interface | Tempo estimado: 1 min
TRANSIÇÃO: "Antes de programar, precisamos saber onde estão as ferramentas." Esta etapa é curta e visual; mantenha o App Inventor aberto para mostrar cada área ao vivo.
Rastreabilidade: apostila, cap. 2 (p. 7-11)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– Quatro áreas na tela de trabalho
Etapa: 1. Interface | Tempo estimado: 4 min
OBJETIVO: dar a visão geral antes do detalhamento.
CONDUÇÃO: os números em vermelho seguem a Fig. 1 da apostila. Mostre ao vivo cada área no navegador.
PERGUNTA: "Em qual área vocês acham que o programa propriamente dito será montado?" RESPOSTA ESPERADA: em nenhuma dessas quatro; a lógica fica na tela de Blocks (slide 11). Essas quatro áreas formam o Designer.
NOTA: as capturas da apostila são de 2018; a aparência atual pode ter pequenas diferenças. A apostila não descreve outras áreas além destas quatro.
Rastreabilidade: apostila, cap. 2, Fig. 1 (p. 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– Palette: o estoque de componentes
Etapa: 1. Interface | Tempo estimado: 3 min
OBJETIVO: reconhecer a paleta e suas categorias.
CONDUÇÃO: abra e feche categorias ao vivo para mostrar o comportamento de "drop down".
LIGAÇÃO COM O RESTO DA AULA: várias categorias voltarão: Media (sons, fala, tradução), Drawing and Animation (Canvas e sprites), Storage (TinyDB), Connectivity (BluetoothClient), Experimental (FirebaseDB) e Extension (importar extensões).
PERGUNTA: "Em que categoria vocês procurariam um componente para tocar um som?" RESPOSTA ESPERADA: Media (a apostila indica a paleta Media para TextToSpeech e SpeechToText no cap. 4).
Rastreabilidade: apostila, cap. 2.1, Fig. 2 (p. 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– Viewer, Components e Media
Etapa: 1. Interface | Tempo estimado: 3 min
OBJETIVO: distinguir a visualização da tela (Viewer) da lista estruturada (Components).
CONDUÇÃO: arraste um botão e mostre que ele aparece nos dois lugares ao mesmo tempo. Mostre também o botão Upload File… na área Media.
EXEMPLO DA PRÓPRIA APOSTILA: a Fig. 67 (projeto Dicionário, p. 49) mostra a área Media com bola.jpg, bola.mp3, chuva.jpg e chuva.mp3 já enviados.
PERGUNTA: "Componentes não visíveis, como um som, aparecem onde?" RESPOSTA ESPERADA: aparecem na lista de Components e, no Viewer, abaixo da tela como "Non-visible components" (visível nas Figs. 23, 33 e 61 da apostila).
Rastreabilidade: apostila, caps. 2.2 e 2.3, Figs. 3 e 4 (p. 9-10)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– Properties: ajustes do item selecionado
Etapa: 1. Interface | Tempo estimado: 2 min
OBJETIVO: mostrar que boa parte da configuração é feita sem blocos.
CONDUÇÃO: selecione a Screen1 e depois um Button e compare as listas de propriedades.
ANALOGIA: a caixa laranja é uma analogia do professor (parametrização). Deixe claro para a turma que não é conteúdo da apostila.
CUIDADO: a apostila não lista todas as propriedades nem explica cada uma; mencione apenas as citadas no texto e visíveis na Fig. 5.
Rastreabilidade: apostila, cap. 2.4, Fig. 5 (p. 11)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– Designer monta a tela, Blocks programa
Etapa: 1. Interface | Tempo estimado: 2 min
OBJETIVO: consolidar a divisão entre aparência e comportamento.
CONDUÇÃO: alterne entre Designer e Blocks ao vivo. Mostre que os componentes criados no Designer aparecem como opções no Blocks.
FONTE: a apostila manda clicar em BLOCKS "no canto direito superior" (p. 13) e, no cap. 8, fala em "voltar para a opção designer" (p. 42).
PERGUNTA: "Se eu quiser mudar a cor de fundo da tela sempre que um botão for clicado, uso o Designer ou o Blocks?" RESPOSTA ESPERADA: Blocks, porque é um comportamento que ocorre em resposta a um evento; no Designer se define só o valor inicial.
Rastreabilidade: apostila, cap. 3 (p. 13, Fig. 10) e cap. 8 (p. 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– Verificação rápida: onde eu faço isso?
Etapa: 1. Interface | Tempo estimado: 3 min
OBJETIVO: verificar se a turma associa tarefas às áreas da interface (compreensão, não memorização).
CONDUÇÃO: dê 1 minuto para as duplas, depois corrija oralmente.
RESPOSTAS ESPERADAS:
A) Properties (propriedade Text do botão; Fig. 8, p. 13).
B) Media → Upload File… (p. 10).
C) Palette, categoria User Interface (Fig. 2).
D) Viewer (p. 9).
E) Blocks (p. 13).
F) Properties: a apostila diz que ali é possível renomear o objeto (p. 11). A Fig. 4 também mostra os botões Rename e Delete sob a lista de Components; aceite as duas respostas e mostre ao vivo.
Rastreabilidade: derivado da apostila, cap. 2 (p. 7-11) e cap. 3 (p. 12-13)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– Primeiro app: Hello World
Etapa: 2. Primeiro app | Tempo estimado: 1 min
TRANSIÇÃO: "Agora vamos construir um app completo, do zero até o celular." Peça que todos abram o App Inventor.
Rastreabilidade: apostila, cap. 3 (p. 12-14)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– Objetivo e passo 1: novo projeto
Etapa: 2. Primeiro app | Tempo estimado: 3 min
OBJETIVO: iniciar o procedimento com objetivo e recursos claros.
DEMONSTRAÇÃO: faça o passo junto com a turma no projetor.
DICA: a apostila não define regra de nome de projeto. Sugira um nome simples, como HelloWorld, para facilitar a localização depois (orientação do professor, não da apostila).
PERGUNTA: "Pela descrição do objetivo, qual é o evento e qual é a ação?" RESPOSTA ESPERADA: evento = clique no botão; ação = mostrar o texto na label.
Rastreabilidade: apostila, cap. 3, passo 1 e Fig. 6 (p. 12)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– Passos 2 e 3: montar e ajustar a tela
Etapa: 2. Primeiro app | Tempo estimado: 3 min
PRÁTICA GUIADA: a turma reproduz os passos 2 e 3 junto com você.
CONDUÇÃO: chame atenção para a diferença entre o texto padrão ("Text for Button1", Fig. 7) e o texto alterado (Fig. 9).
PERGUNTA: "Ao abrir o app no celular, antes de qualquer clique, o que aparecerá na label?" RESPOSTA ESPERADA: "Aguardando evento", porque esse é o valor definido em Properties (estado inicial).
OBSERVAÇÃO: os textos "Clique aqui" e "Aguardando evento" são os das Figs. 8 e 9 da apostila.
Rastreabilidade: apostila, cap. 3, passos 2-3, Figs. 7, 8 e 9 (p. 12-13)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– Passos 4 e 5: o primeiro bloco
Etapa: 2. Primeiro app | Tempo estimado: 5 min
OBJETIVO: ensinar a ler um bloco de evento.
DEMONSTRAÇÃO: monte o bloco ao vivo: clique em Button1 na lista de blocos e arraste "when Button1.Click"; depois clique em Label1 e arraste "set Label1.Text to"; por fim, um bloco de texto.
TERMINOLOGIA: a apostila chama a peça dourada de "estrutura de controle", a verde de "lógica" e a roxa de "o texto que iremos apresentar" (p. 13). Use esses nomes, mas não acrescente uma classificação completa das categorias de blocos, porque a apostila não a traz.
ANALOGIA: a caixa laranja relaciona eventos a entradas/saídas da automação. É analogia do professor.
PERGUNTA DE PREVISÃO: "Se clicarmos duas vezes, o que muda na segunda vez?" RESPOSTA ESPERADA: nada visível; o texto já é "Hello World" e é definido de novo com o mesmo valor.
Rastreabilidade: apostila, cap. 3, passos 4-5, Fig. 11 (p. 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– Passo 6: gerar o aplicativo
Etapa: 2. Primeiro app | Tempo estimado: 3 min
OBJETIVO: fechar o ciclo projeto → aplicativo instalado.
DEMONSTRAÇÃO: gere o QR code e mostre o resultado em um celular, se possível.
RESULTADO ESPERADO (documentado): Fig. 13, tela com o botão "Clique aqui" e o texto "Hello World" após o clique. A apostila indica ainda um vídeo do app funcionando: https://www.youtube.com/watch?v=jGAJ3OqXyMU
LIMITAÇÃO: a apostila não explica instalação do .apk, permissões do celular nem testes com emulador ou aplicativo companheiro. Se a escola não permitir instalação nos celulares, faça apenas a demonstração no aparelho do professor.
Rastreabilidade: apostila, cap. 3, passo 6, Figs. 12 e 13 (p. 14)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– Prática guiada: seu Hello World
Etapa: 2. Primeiro app | Tempo estimado: 8 min
OBJETIVO: prática individual com variação controlada.
TEMPO: cerca de 6 min de execução e 2 min de correção.
RESPOSTAS ESPERADAS:
Desafio 1: ao abrir, "Aguardando evento"; após o clique, o nome digitado. Isso reforça a diferença entre estado inicial (Properties) e mudança por evento (Blocks).
Desafio 2: trocar o bloco "set Label1.Text" por "set Button1.Text". A apostila mostra que o botão também tem a propriedade Text (Fig. 8), por isso a variação é coerente com o conteúdo.
CIRCULE pela sala: erro comum é soltar o bloco de texto fora do encaixe; o bloco fica solto e nada acontece.
Rastreabilidade: procedimento da apostila, cap. 3 (p. 12-14); variação derivada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– Segundo app: Calcula Média
Etapa: 3. App Calcula Média | Tempo estimado: 1 min
TRANSIÇÃO: "O Hello World só mostrava um texto fixo. Agora o app vai receber dados do usuário, guardar em variáveis e calcular."
Rastreabilidade: apostila, cap. 3.1 (p. 15-17) e exercício 1 (p. 18 e 77)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– Design do Calcula Média
Etapa: 3. App Calcula Média | Tempo estimado: 3 min
OBJETIVO: relacionar cada componente à sua função (entrada, ação, saída).
CONDUÇÃO: peça que a turma identifique na Fig. 15 os rótulos Nota 1 a Nota 4, os botões Calcular e Limpar e o campo MÉDIA.
PERGUNTA: "Quais componentes são entradas e qual é a saída?" RESPOSTA ESPERADA: TextBox1-4 são entradas; Label5 é a saída; os botões disparam eventos.
LACUNA: a apostila não lista os componentes em texto, não informa o tipo de cada um nem traz o passo 3. Para a prática, os nomes são os que aparecem nos blocos (TextBox1-4, Button1, Button3, Label5).
Rastreabilidade: apostila, cap. 3.1, passos 1-2, Fig. 15 (p. 15) e Fig. 17 (p.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– Variáveis globais: a memória do app
Etapa: 3. App Calcula Média | Tempo estimado: 4 min
OBJETIVO: entender o papel das variáveis globais.
FONTE: a Fig. 17 da apostila agrupa em vermelho os blocos "initialize global n1…n4 to 0.0" e "initialize global media to 0", com o título "Variáveis globais". Os blocos set/get aparecem na "Estrutura lógica" da mesma figura.
DEFINIÇÃO: a apostila não traz uma definição formal de variável global; a frase do primeiro tópico descreve o uso que se observa nos blocos (eventos diferentes lendo e escrevendo a mesma variável). Apresente como interpretação da figura.
ANALOGIA: caixa laranja, analogia do professor.
PERGUNTA: "Seria possível fazer este app sem variáveis?" RESPOSTA ESPERADA: sim, lendo TextBox1.Text…TextBox4.Text direto na conta; as variáveis deixam a lógica mais legível e permitem reusar os valores.
Rastreabilidade: apostila, cap. 3.1, passo 5, Fig. 17 – destaque "Variáveis globais" (p.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 – Estrutura lógica do botão Calcular
Etapa: 3. App Calcula Média | Tempo estimado: 4 min
OBJETIVO: decompor o evento em etapas (entrada → processamento → saída).
CONDUÇÃO: leia o bloco "when Button1.Click" de cima para baixo. Destaque que a ordem dos blocos dentro do evento é a ordem de execução.
PERGUNTA DE ANÁLISE: "E se o bloco 'set Label5.Text' estivesse antes do cálculo da média?" RESPOSTA ESPERADA: a label mostraria o valor anterior de media (0 no primeiro clique), porque a média ainda não teria sido calculada.
DECOMPOSIÇÃO: os três cartões são uma decomposição didática; a apostila só apresenta os blocos agrupados como "Estrutura lógica".
Rastreabilidade: apostila, cap. 3.1, Fig. 17 – destaque "Estrutura lógica" (p.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 – Limpar e testar: teste de mesa
Etapa: 3. App Calcula Média | Tempo estimado: 5 min
OBJETIVO: praticar a previsão de resultados (teste de mesa).
RESPOSTA: media = (4 + 9 + 9 + 2) / 4 = 24 / 4 = 6. A Fig. 18 da apostila mostra exatamente o valor 6 abaixo dos botões.
PERGUNTA EXTRA: "Depois de clicar em Limpar, o que aparece em Label5?" RESPOSTA ESPERADA: "0.0" (bloco de texto da Estrutura para limpar, Fig. 17).
NOTA: a apostila indica um vídeo do app funcionando: https://www.youtube.com/watch?v=bZg7OLQMTtM
LACUNA: a apostila não trata entrada vazia ou não numérica; não teste esses casos como "erro do aluno".
Rastreabilidade: apostila, cap. 3.1, Fig. 17 – "Estrutura para limpar" (p. 16) e Fig. 18 (p. 17)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 – Prática: Aprovado ou Reprovado
Etapa: 3. App Calcula Média | Tempo estimado: 10 min
OBJETIVO: aplicar a estrutura condicional (if/else). A apostila cita a estrutura "if else" no exercício 8 (p. 18) e a usa no gabarito do exercício 1 (p. 77).
TEMPO: cerca de 8 min de prática e 2 min de discussão do caso média = 6.
CONDUÇÃO: mostre onde fica o bloco "if" (estrutura de controle) e como acrescentar o "else" pela engrenagem azul, como aparece nas figuras de blocos da apostila.
PONTO DE ANÁLISE: o enunciado fala em "maior que 6" e "menor"; o caso igual a 6 não é definido. No gabarito da apostila (próximo slide), a comparação usada é "≥ 6", ou seja, 6 aprova.
RESPOSTA ESPERADA DA TURMA: perceber a ambiguidade e decidir conscientemente o operador (&gt; ou ≥).
Rastreabilidade: apostila, cap. 4, exercício 1 (p. 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 – Gabarito do exercício 1
Etapa: 3. App Calcula Média | Tempo estimado: 3 min
OBJETIVO: comparar a solução da turma com o gabarito.
LEITURA DO GABARITO (Fig. do Anexo, p. 77): ButtonCalcular lê TextBoxNota1-4, calcula media = soma / 4; if media ≥ 6 então LabelMedia.Text = join("APROVADO", media) e TextColor verde; senão join("REPROVADO", media) e TextColor vermelho. ButtonLimpar apaga as caixas, coloca "---" em LabelMedia e a cor preta.
DISCUSSÃO: o gabarito usa nomes descritivos (TextBoxNota1, ButtonCalcular), diferente do app da p. 16 (TextBox1, Button1). Pergunte: "Qual versão é mais fácil de manter? Por quê?" RESPOSTA ESPERADA: a com nomes descritivos, pois deixa claro o papel de cada componente nos blocos.
NOTA: vídeo indicado pela apostila: https://youtu.be/eSIiG1Jv1pQ
Rastreabilidade: apostila, Anexo – Lista básica, exercício 1 (p. 77)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 – Decisões, telas e mídia
Etapa: 4. Exercícios básicos | Tempo estimado: 1 min
TRANSIÇÃO: "A lista básica da apostila tem 10 exercícios com gabarito no anexo. Vamos estudar alguns pelo raciocínio, prevendo o resultado dos blocos." Não é necessário que a turma resolva todos em aula.
Rastreabilidade: apostila, cap. 4 (p. 18-19) e Anexo (p. 77-95)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 – Etanol ou gasolina? O problema
Etapa: 4. Exercícios básicos | Tempo estimado: 3 min
OBJETIVO: interpretar um problema real e traduzi-lo em condição.
CONDUÇÃO: leia o enunciado e pergunte qual é a entrada, qual é o processamento e qual é a saída.
PERGUNTA: "Se o limite (gasolina × 0.7) for menor ou igual ao preço do etanol, qual combustível compensa?" RESPOSTA ESPERADA: gasolina, porque o etanol custa mais que 70% da gasolina.
CUIDADO: os 70% e 30% são os números da apostila. Não acrescente outros critérios (consumo real, tipo de motor etc.).
Rastreabilidade: apostila, cap. 4, exercício 8 (p. 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 – Etanol ou gasolina? O gabarito
Etapa: 4. Exercícios básicos | Tempo estimado: 4 min
OBJETIVO: ler um gabarito e prever o resultado.
LEITURA DOS BLOCOS: três variáveis globais (precoEtanol, precoGasolina, precoFinal); ButtonCalcular lê TextBoxEtanol e TextBoxGasolina; precoFinal = precoGasolina × 0.7; if precoFinal ≤ precoEtanol, ImageResposta.Picture = "gasolina.png", senão "etanol.png". ButtonLimpar limpa a imagem e as caixas.
RESPOSTA DA PREVISÃO: 5,00 × 0,7 = 3,50; 3,50 ≤ 3,60 é verdadeiro → gasolina.png (gasolina compensa).
PERGUNTA EXTRA: "Com etanol a R$ 3,50, o que aparece?" RESPOSTA: 3,50 ≤ 3,50 é verdadeiro → gasolina.png. Discuta se isso concorda com "o etanol é vantajoso se custar ATÉ 70%". No limite exato, o enunciado favorece o etanol e o gabarito mostra gasolina. Bom exemplo de como o operador (≤ ou &lt;) muda o resultado.
NOTA: para a troca funcionar, as imagens gasolina.png e etanol.png precisam estar em Media (Upload File). Vídeo: https://youtu.be/TaZBHa5QPtc
Rastreabilidade: apostila, Anexo – exercício 8 (p. 84)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 – Lei de Ohm: um app com várias telas
Etapa: 4. Exercícios básicos | Tempo estimado: 4 min
OBJETIVO: conhecer a navegação entre telas, recurso usado no gabarito do exercício 9.
LEITURA (Anexo p. 85-88): na Screen1, três botões chamam "open another screen screenName" com "Tensao", "Resistencia" e "Corrente". Na tela Tensao: resultado = resistencia × corrente; LabelResultado = join(resultado, "V"). As telas de corrente e resistência seguem a mesma estrutura com I = V/R e R = V/I (Fig. 19 e telas da p. 87-88).
LIGAÇÃO COM O CURSO: a turma conhece a Lei de Ohm; aqui o foco é a estrutura do app, não a física.
PERGUNTA: "Por que cada tela precisa de um botão Voltar?" RESPOSTA ESPERADA: para retornar ao menu (Screen1) e escolher outra grandeza.
LACUNA: a apostila não explica como criar novas telas (o botão "Add Screen…" só aparece na Fig. 12). Mostre ao vivo como orientação de uso, sem acrescentar teoria.
Vídeo: https://www.youtube.com/watch?v=Zc30dCy1H98
Rastreabilidade: apostila, exercício 9 (p. 18, Fig. 19) e Anexo (p. 85-88)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 – Número triangular: o gabarito confere?
Etapa: 4. Exercícios básicos | Tempo estimado: 5 min
OBJETIVO: interpretar um laço while e avaliar criticamente uma solução.
LEITURA DOS BLOCOS (p. 79): contador = 1, numeroTriangular = 1. Ao clicar, numeroDigitado = TextBox. Enquanto numeroTriangular &lt; numeroDigitado: contador += 1; numeroTriangular += contador; e, dentro do laço, um if compara numeroTriangular com numeroDigitado e escreve "Número Triangular" (verde) ou "Número Não Triangular" (vermelho).
TABELA COMPLETA: início (1, 1); 1ª (2, 3); 2ª (3, 6); 3ª (4, 10); depois 15, 21, 28...
CONCLUSÃO ESPERADA: o gabarito gera a sequência 1, 3, 6, 10, 15, 21, 28… (soma 1 + 2 + 3 + …), que é outro critério, diferente do produto de três consecutivos pedido no enunciado.
TESTE n = 24: a sequência passa por 21 e 28 sem chegar a 24 → "Número Não Triangular", embora 24 = 2·3·4 satisfaça o enunciado. Com n = 6 as duas definições concordam (6 = 1+2+3 = 1·2·3).
OUTRAS OBSERVAÇÕES: como as variáveis globais não são reiniciadas a cada clique, um segundo teste parte dos valores deixados pelo primeiro; e se n = 1 o laço não executa e a label não muda. Explore só se houver tempo.
POSTURA: apresente como exercício de verificação. O objetivo é a turma aprender a testar uma solução contra a especificação. Isso também consta no registro de lacunas.
Rastreabilidade: apostila, exercício 3 (p. 18) e Anexo – exercício 3 (p. 79)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31 – Componentes de mídia e web na lista básica
Etapa: 4. Exercícios básicos | Tempo estimado: 4 min
OBJETIVO: perceber que componentes têm métodos (call …) e eventos (when …) próprios.
CONDUÇÃO: mostre rapidamente as telas do Anexo (p. 78-83) se houver tempo.
DETALHE DO PADRÃO ASSÍNCRONO (ex. 5, p. 81): ButtonTraduzir chama YandexTranslate1.RequestTranslation (languageToTranslateTo = "en", textToTranslate = TextBoxPT.Text). O texto traduzido não volta nesse mesmo bloco: ele chega no evento GotTranslation (parâmetro translation), que escreve em LabelEN.Text.
PERGUNTA: "Por que não dá para escrever a tradução logo abaixo do RequestTranslation?" RESPOSTA ESPERADA: porque o resultado só fica disponível quando o evento GotTranslation acontece.
NOMES: o enunciado do ex. 7 cita "SpeechToText", mas o gabarito usa o componente SpeechRecognizer (p. 83). O ex. 4 usa uma conta de reserva (× 14000) quando o campo valor está vazio (p. 80).
LIMITAÇÃO: a apostila é de 2018 e depende de serviços externos (tradução, páginas de cotação). Verifique antes da aula se ainda funcionam; a apostila não oferece alternativas.
Rastreabilidade: apostila, exercícios 2, 4, 5, 6 e 7 (p. 18) e Anexo (p. 78-83)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32 – Resistor: decompor um problema grande
Etapa: 4. Exercícios básicos | Tempo estimado: 3 min
OBJETIVO: mostrar decomposição de problemas com procedimentos (to … do), vistos no gabarito.
LEITURA (p. 89-95): Screen1.Initialize preenche ListViewCores com a lista de cores. Em ListViewCores.AfterPicking, o CheckBox marcado indica qual LabelFaixaNCor recebe a cor. ButtonCalcular chama calcularResistenciaFaixa1…5; cada procedimento compara a cor com cada nome ("PRETO", "MARROM"...) e escreve o valor correspondente em LabelFaixaNResp.
LIGAÇÃO COM O CURSO: leitura de resistores é conteúdo conhecido da turma; o foco é a estrutura do programa.
PERGUNTA: "Por que usar cinco procedimentos em vez de colocar tudo dentro do ButtonCalcular?" RESPOSTA ESPERADA: organização; cada faixa tem regras próprias (dígito, multiplicador, tolerância) e o evento fica curto e legível.
LACUNA: a apostila não explica a criação de procedimentos neste exercício; o conceito é citado no cap. 6 ("pegue uma procedure na palheta e renomeie", p. 32). As imagens das p. 91-95 têm baixa resolução. Vídeo: https://youtu.be/d2ay6fgzzCg
Rastreabilidade: apostila, exercício 10 (p. 19, Fig. 20) e Anexo (p. 89-95)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33 – Intervalo
Etapa: Intervalo | Tempo estimado: 15 min
INTERVALO DE 15 MINUTOS.
SUGESTÃO: deixe aberta no projetor a tela do projeto Bloco de Notas (Fig. 47, p. 39) para despertar curiosidade.
Antes de retomar, confira se todos conseguiram gerar o Hello World; quem não conseguiu pode receber ajuda individual durante a primeira demonstração da segunda parte.
Rastreabilidade: planejamento da aula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34 – Projeto Bloco de Notas
Etapa: 5. Bloco de Notas | Tempo estimado: 1 min
TRANSIÇÃO: "Até aqui, ao fechar o app, tudo se perdia. Agora vamos guardar dados no próprio aparelho." A lista "Nesta etapa" repete o que a apostila diz que será aprendido (p. 38).
Rastreabilidade: apostila, cap. 8 (p. 38-45)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35 – O app e seus componentes
Etapa: 5. Bloco de Notas | Tempo estimado: 3 min
OBJETIVO: apresentar o projeto e seus componentes.
FONTE: a apostila avisa para pular, por enquanto, o componente TaifunNotification1, porque é uma extensão ainda não adicionada, e lembra que btnAddData, apesar de ser um botão, é localizado como DATE PICKER (p. 38).
PERGUNTA: "Por que TinyDB1 aparece em 'Non-visible components' na Fig. 47?" RESPOSTA ESPERADA: ele não tem aparência na tela; serve para guardar dados.
LACUNA: a apostila não explica onde o TinyDB grava os dados nem se eles persistem após fechar o app. Ela o chama de "Banco de Dados TinyDB" e mostra apenas salvar e recuperar.
Rastreabilidade: apostila, cap. 8, passo 1, Figs. 46 e 47 (p. 38-39)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36 – Salvar: StoreValue com tag e valor
Etapa: 5. Bloco de Notas | Tempo estimado: 4 min
OBJETIVO: compreender o par tag/valor.
DEMONSTRAÇÃO: arraste "when btnSalvar.Click" (Fig. 48), depois "call TinyDB1.StoreValue" e encaixe um texto "data" e txtBlocoNotas.Text (Fig. 49).
RESPOSTA DA PREVISÃO: fica apenas "Revisar código". Como a tag é sempre "data" e a tag identifica o dado, o segundo StoreValue substitui o primeiro. A conclusão decorre da definição de chave da apostila.
ANALOGIA (pedagógica): a tag funciona como o endereço de um registro; gravar no mesmo endereço sobrescreve o valor.
PERGUNTA EXTRA: "Como guardar várias anotações?" RESPOSTA POSSÍVEL: usar tags diferentes. A apostila não desenvolve essa melhoria; trate como discussão.
Rastreabilidade: apostila, cap. 8, passos 2-3, Figs. 48 e 49 (p. 39-40)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37 – Recuperar: GetValue
Etapa: 5. Bloco de Notas | Tempo estimado: 3 min
OBJETIVO: completar o ciclo gravar/ler.
FONTE: "O método Click do botão Mostrar irá receber o valor do banco de dados e posteriormente adicioná-lo como texto na label" (p. 40). A apostila afirma que, ao executar, o projeto já funciona, faltando a data.
RESPOSTAS ESPERADAS: (1) aparece o valueIfTagNotThere, ou seja, texto vazio. (2) "Data" é uma tag diferente de "data"; o GetValue não encontraria o valor salvo e retornaria o texto vazio. Apresente a resposta (2) como previsão a ser testada no App Inventor, pois a apostila não fala de maiúsculas e minúsculas em tags.
Rastreabilidade: apostila, cap. 8, passo 4, Fig. 50 (p. 40)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38 – Inserir a data com o Date Picker
Etapa: 5. Bloco de Notas | Tempo estimado: 3 min
OBJETIVO: usar propriedades de um componente (Day, Month, Year) e a concatenação (join).
CONDUÇÃO: leia o join na Fig. 52 de cima para baixo: btnAddData.Day, "/", btnAddData.Month, "/", btnAddData.Year, um separador e txtBlocoNotas.Text. O resultado da Fig. 58 ("26/11/2018-Olá Mundo") indica que o separador final é um hífen.
ATENÇÃO: os textos separadores na Fig. 52 têm baixa resolução; o diagrama usa "/" e "-" com base no resultado mostrado na Fig. 58. O texto da p. 41 cita o formato "30/12/2099 – Olá Mundo".
PERGUNTA: "Se o usuário já tiver digitado 'Olá Mundo' e escolher 30/12/2099, como fica o campo?" RESPOSTA ESPERADA: data seguida de "Olá Mundo", como o formato pedido pela apostila. Na Fig. 58 o resultado aparece como "26/11/2018-Olá Mundo".
Rastreabilidade: apostila, cap. 8, passos 5-6, Figs. 51 e 52 (p. 41)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39 – Extensões: recursos de fora da paleta
Etapa: 5. Bloco de Notas | Tempo estimado: 3 min
OBJETIVO: entender o que é uma extensão e como importá-la.
FONTE: p. 41-42. Endereço citado: https://puravidaapps.com/extensions.php
PERGUNTA: "Por que a apostila insiste em ler a documentação?" RESPOSTA ESPERADA: cada extensão traz blocos e propriedades próprios; a documentação explica como usá-los ("isso se aplica a todas as tecnologias", p. 42).
LIGAÇÃO: o mesmo processo de importação será usado no projeto Bluetooth LE (cap. 12), porque o App Inventor não tem biblioteca nativa para BLE, segundo a apostila.
ATENÇÃO: a afirmação sobre JavaScript é da apostila; não a amplie. Verifique antes da aula se os links ainda estão no ar.
Rastreabilidade: apostila, cap. 8, passo 7, Figs. 53-55 (p. 41-42)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40 – Notificação ao salvar
Etapa: 5. Bloco de Notas | Tempo estimado: 3 min
OBJETIVO: ver uma extensão em uso e o resultado final do projeto.
DETALHES: em Designer, a propriedade DisplayBigPicture da TaifunNotification1 é marcada e uma imagem é enviada (Fig. 56). No gabarito, o Send fica dentro de um if que testa DisplayBigPicture, com title "Bloco de Notas" e text "Mensagem salva!" (Fig. 57). Conclusão da apostila: gerar o QR code ou o .apk e testar (p. 43).
PERGUNTA: "A notificação aparece no mesmo instante do clique?" RESPOSTA ESPERADA: não; seconds = 1, então ela aparece 1 segundo depois.
CÓDIGO COMPLETO: Fig. 60 (p. 45), útil para conferência da turma.
Rastreabilidade: apostila, cap. 8, passos 8-9 e conclusão, Figs. 56-59 (p. 43-44)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41 – Projeto Dicionário Interativo
Etapa: 6. Dicionário Interativo | Tempo estimado: 1 min
TRANSIÇÃO: "Até agora, cada variável guardava um único valor. Agora vamos guardar vários valores em listas e buscar dentro delas." Os itens de "Nesta etapa" seguem a lista de aprendizagens da apostila (p. 46).
Rastreabilidade: apostila, cap. 9 (p. 46-53)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42 – O que o dicionário faz
Etapa: 6. Dicionário Interativo | Tempo estimado: 2 min
OBJETIVO: apresentar o projeto e o resultado esperado (documentado na Fig. 72).
PERGUNTA: "Quais componentes são entrada, quais são saída e quais não aparecem na tela?" RESPOSTA ESPERADA: entrada = txtBuscar e os botões; saída = lblDescricao, imgPalavra, som e fala; não visíveis = Sound1 e TextToSpeech1.
Rastreabilidade: apostila, cap. 9, passo 1, Figs. 61, 62 e 72 (p. 46-53)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43 – Duas listas paralelas
Etapa: 6. Dicionário Interativo | Tempo estimado: 4 min
OBJETIVO: entender listas e índices.
CONDUÇÃO: compare com vetores/arrays que a turma já conhece de outras linguagens. A apostila chama as listas de "arraylists" (p. 46).
PERGUNTA: "Quem programa em linguagens com índice inicial 0, que erro pode cometer aqui?" RESPOSTA ESPERADA: buscar o item 0 ou errar a posição em uma unidade (pegar o significado da palavra errada).
ANALOGIA (pedagógica): duas colunas de uma tabela de cadastro em que a linha liga os dados.
LACUNA: a apostila não discute o que acontece com listas de tamanhos diferentes. Não teste esse caso como conteúdo.
Rastreabilidade: apostila, cap. 9, passo 2, Fig. 63 (p. 47) e passo 4 (p. 48)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44 – A busca: is in list?, index in list e select list item
Etapa: 6. Dicionário Interativo | Tempo estimado: 5 min
OBJETIVO: interpretar blocos de listas encadeados (desafio de interpretação).
RESPOSTAS para "chuva": (1) verdadeiro; (2) 2; (3) "Precipitação das nuvens"; (4) "A palavra chuva significa Precipitação das nuvens" (a Fig. 72 mostra "A palavra chuva significa: Precipitação das nuvens").
Para "sol": (1) falso → ramo else → lblDescricao mostra "A palavra sol não foi encontrada" (texto do bloco: "não foi encontrada"). Os demais passos não são executados.
FONTE: a apostila pede atenção ao bloco "select list item list index": a busca do texto digitado retorna o NÚMERO DO ÍNDICE (1, no exemplo da apostila), não a palavra (p. 48).
PERGUNTA EXTRA: "Por que é preciso testar com is in list? antes de buscar o índice?" RESPOSTA ESPERADA: para tratar o caso de palavra inexistente e mostrar a mensagem correta.
Rastreabilidade: apostila, cap. 9, passos 3-4, Figs. 64 e 65 (p. 48)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45 – Imagem, som e fala montados com texto
Etapa: 6. Dicionário Interativo | Tempo estimado: 4 min
OBJETIVO: entender a construção dinâmica de nomes de arquivos.
FONTE: "o segredo de mudar a imagem está no campo de texto": pega-se o que foi digitado e adiciona-se a extensão (p. 50). Para a fala, Language recebe "Portuguese" ou "pt" (p. 51).
PERGUNTA: "Se o usuário digitar 'Bola' com B maiúsculo, o que acontece?" ANÁLISE ESPERADA: "Bola" não está na listaDePalavras (que tem "bola"), então cai no ramo "não foi encontrada", e a imagem é definida como vazia (ramo else da Fig. 68). Apresente como previsão a confirmar no teste.
ATENÇÃO: a apostila sugere obter sons convertendo vídeos com um site externo (p. 49). Oriente a turma a usar arquivos próprios ou liberados, conforme as regras da escola. Essa orientação é do professor.
CÓDIGO COMPLETO: Fig. 71 (p. 52).
Rastreabilidade: apostila, cap. 9, passos 5-8, Figs. 66-70 (p. 49-51)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46 – Desenho, câmera e jogos
Etapa: 7. Desenho e animação | Tempo estimado: 1 min
TRANSIÇÃO: "Os eventos de toque também trazem dados: posição x e y. Vamos usar isso para desenhar e para mover uma nave."
ORDEM: a apostila apresenta o Space Invaders (cap. 7) antes do Editor de Imagens (cap. 10). Aqui a ordem foi invertida porque o Canvas é mais simples e o jogo reaproveita o Canvas.
Rastreabilidade: apostila, cap. 10 (p. 54-59) e cap. 7 (p. 35-37)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47 – Editor de imagens: componentes
Etapa: 7. Desenho e animação | Tempo estimado: 2 min
OBJETIVO: apresentar o projeto e o resultado documentado (Fig. 84: desenho sobre uma foto).
FONTE: lista de componentes do passo 1 (p. 54). Os rótulos dos botões estão visíveis na Fig. 74.
PERGUNTA: "Quais componentes geram eventos de toque com coordenadas?" RESPOSTA ESPERADA: o Canvas (próximo slide).
Rastreabilidade: apostila, cap. 10, passo 1, Figs. 73, 74 e 84 (p. 54-59)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48 – Canvas: Touched desenha, Dragged traça
Etapa: 7. Desenho e animação | Tempo estimado: 4 min
OBJETIVO: usar parâmetros de eventos.
CONDUÇÃO: mostre que os parâmetros (x, y, prevX, currentX…) aparecem no próprio bloco de evento e podem ser lidos com "get".
PERGUNTA DE PREVISÃO: "Um arrasto rápido gera uma única linha longa ou várias linhas curtas?" RESPOSTA ESPERADA (raciocínio a partir dos blocos): várias linhas curtas, porque cada ocorrência do evento Dragged liga a posição anterior (prev) à atual (current). Confirme ao vivo.
ANALOGIA (pedagógica): a cada leitura, um sinal de posição fornece o valor anterior e o atual.
Rastreabilidade: apostila, cap. 10, passos 2-3, Figs. 75 e 76 (p. 55-56)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49 – Cor, limpeza, câmera, galeria e salvar
Etapa: 7. Desenho e animação | Tempo estimado: 3 min
OBJETIVO: consolidar o padrão "um evento, uma responsabilidade".
FONTE: Figs. 77 a 81 (p. 56-57). No salvar, a apostila alerta: "não esqueça de pôr a extensão" (p. 57). O texto exato da extensão na Fig. 81 tem baixa resolução; não afirme qual é.
PERGUNTA: "Qual a diferença entre carregar da galeria e da câmera, em termos de eventos?" RESPOSTA ESPERADA: galeria → evento AfterPicking do ImagePicker; câmera → método TakePicture seguido do evento AfterPicture. Nos dois casos o resultado vira BackgroundImage do Canvas.
CÓDIGO COMPLETO: Fig. 82 (p. 58).
Rastreabilidade: apostila, cap. 10, passos 4-8, Figs. 77-81 (p. 56-57)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50 – Space Invaders: objetivos e componentes
Etapa: 7. Desenho e animação | Tempo estimado: 3 min
OBJETIVO: apresentar o jogo e os componentes da categoria Drawing and Animation.
TABELA DA APOSTILA: Canvas1; RocketSprite e SaucerSprite (ImageSprite); Bullet (Ball); Clock1 (User Interface, segundo a tabela); HorizontalArrangement1 (Layout); Label1 e ScoreLabel (Label); ResetButton (Button).
OBSERVAÇÃO: a tabela da apostila indica a paleta "User Interface" para o Clock e o cabeçalho escreve "Pallet Group". Mantenha como está e, se houver dúvida na hora de procurar, use a busca da paleta.
LACUNA: a apostila não explica em texto o funcionamento dos blocos do jogo; há apenas a Fig. 45. A explicação do próximo slide é a leitura direta da figura.
Rastreabilidade: apostila, cap. 7.1 e 7.2, Figs. 42-44 e tabela de componentes (p. 35-37)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51 – Space Invaders: leitura dos blocos
Etapa: 7. Desenho e animação | Tempo estimado: 6 min
OBJETIVO: interpretar um conjunto de eventos que formam o comportamento do jogo.
LEITURA (Fig. 45): Bullet.MoveTo usa x = RocketSprite.X + RocketSprite.Width / 2 e y = RocketSprite.Y − 20; depois Visible = true, Speed = 5, Heading = 90. ScoreLabel.Text = ScoreLabel.Text + 1 na colisão.
RESPOSTA DA PREVISÃO: para o disco não ultrapassar a borda direita do Canvas; X marca a borda esquerda do sprite, e somar a largura do disco não pode passar da largura do Canvas.
PERGUNTA EXTRA: "Por que tornar o Bullet invisível no Initialize e no EdgeReached?" RESPOSTA ESPERADA: o tiro só deve aparecer quando a nave é tocada e deve sumir ao chegar à borda ou ao acertar algo.
ANALOGIA (pedagógica): o Clock funciona como um temporizador cíclico que dispara a mesma rotina periodicamente.
LACUNA: a apostila não informa o intervalo do Clock nem o significado de Heading 90 em texto; não acrescente valores.
Rastreabilidade: apostila, cap. 7.2, passo 3, Fig. 45 (p. 37)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52 – Chat com Firebase
Etapa: 8. Chat com Firebase | Tempo estimado: 1 min
TRANSIÇÃO: "O TinyDB guarda dados no aparelho. E se dois celulares precisarem ver os mesmos dados?"
FORMATO SUGERIDO: demonstração do professor ou leitura dos blocos; a configuração exige conta e acesso ao console do Firebase, o que pode não ser viável para toda a turma.
Rastreabilidade: apostila, cap. 6 (p. 27-34)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53 – Firebase: vantagens e configuração
Etapa: 8. Chat com Firebase | Tempo estimado: 3 min
OBJETIVO: entender o papel do banco de dados em nuvem e os passos de configuração.
FONTE: lista de vantagens (p. 27) e passos 1-4 (p. 27-29). O projeto é adaptado de um artigo de Meghra Singh Benwal, citado pela apostila.
ATENÇÃO: a Fig. 32 mostra regras com ".read": "auth != null" e ".write": "auth != null", e um aviso em laranja sobre segurança. A apostila apenas manda deixar igual à figura, sem explicar as regras. Não aprofunde segurança além do que está na fonte.
LIMITAÇÃO: as capturas do console são de 2018 e podem diferir da interface atual.
Rastreabilidade: apostila, cap. 6 e 6.1, passos 1-4, Figs. 28-32 (p. 27-29)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54 – No App Inventor: FirebaseDB e procedimentos
Etapa: 8. Chat com Firebase | Tempo estimado: 4 min
OBJETIVO: conhecer procedimentos (procedures) e a gravação em nuvem.
FONTE: passos 2-4 (FirebaseDB em Experimental, propriedade FirebaseURL, URL obtida no site do Firebase, p. 30-32); passo 5 (variáveis KEY_USER e KEY_CHAT, p. 32); passos 7-8 (Figs. 39 e 40).
LEITURA: isChatEntered → if not is empty(trim(txtMensagem.Text)) então call ValidateNameAndStoreName; call FirebaseDB1.StoreValue tag = KEY_CHAT, valor = join do nome com a mensagem; e limpa txtMensagem. ValidateNameAndStoreName → se o nome não estiver vazio, grava txtSeuNome.Text na tag KEY_USER.
PERGUNTA: "Por que separar a validação em um procedimento?" RESPOSTA ESPERADA: organização e reuso; o evento do botão fica curto. A apostila diz que o bloco "apesar de ser grande não é nada complexo" (p. 33).
LACUNA: a numeração da apostila pula o passo 6. A Fig. 36 mostra um FirebaseToken preenchido; a apostila não explica esse campo.
Rastreabilidade: apostila, cap. 6.2, passos 1-8, Figs. 33-40 (p. 30-33)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55 – DataChanged: o chat se atualiza sozinho
Etapa: 8. Chat com Firebase | Tempo estimado: 3 min
OBJETIVO: compreender a atualização por evento vinda da nuvem.
RESPOSTA DA PREVISÃO: no topo, porque o novo valor vem primeiro no join, seguido de quebra de linha e do histórico anterior.
PERGUNTA: "Por que testar se tag = KEY_CHAT?" RESPOSTA ESPERADA: o banco também guarda KEY_USER; só a mudança de KEY_CHAT deve entrar no histórico de mensagens.
FLUXO: o diagrama é uma interpretação didática das figuras. A apostila diz que o Firebase é "em tempo real, demonstra as modificações assim que for atualizado" (p. 27), o que sustenta a ideia de o evento ocorrer nos aparelhos conectados.
ANALOGIA (pedagógica): parecido com supervisório em que várias telas exibem a mesma variável atualizada.
Rastreabilidade: apostila, cap. 6.2, passo 9, Fig. 41 (p. 34) e conclusão 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56 – App + Arduino via Bluetooth
Etapa: 9. App + Arduino via Bluetooth | Tempo estimado: 1 min
TRANSIÇÃO: "Agora o celular vira uma interface de operação para um sistema físico." Esta é a parte mais próxima da Automação Industrial e está documentada na apostila.
ATENÇÃO: trate o hardware como leitura e demonstração. A apostila traz circuitos (Figs. 27, 100, 101) e códigos; se houver kit no laboratório, a montagem pode ficar para uma aula prática posterior.
Rastreabilidade: apostila, caps. 5, 12 e 13 (p. 20-26 e 63-75)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57 – Bluetooth no Android
Etapa: 9. App + Arduino via Bluetooth | Tempo estimado: 3 min
OBJETIVO: situar o Bluetooth como canal de comunicação entre app e controlador.
FONTE: lista de atividades da Android Bluetooth API citada na apostila (p. 20).
CONDUÇÃO: percorra o fluxograma: Produtor ↔ Aplicativo Android ↔ Dispositivo Android ↔ Módulo Bluetooth ↔ Módulo Controlador ↔ Sistema de Irrigação.
PERGUNTA: "Em um sistema de irrigação, o que poderia ir do app para o controlador e o que poderia voltar?" RESPOSTA ESPERADA: comandos (ligar/desligar) indo; estados ou medições voltando. Os caps. 12 e 13 mostram exatamente os dois sentidos.
CUIDADO: termos como RFCOMM aparecem apenas listados; a apostila não os explica. Não aprofunde.
Rastreabilidade: apostila, cap. 5, Fig. 21 (p. 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58 – App do LED (HC-05): a tela
Etapa: 9. App + Arduino via Bluetooth | Tempo estimado: 3 min
OBJETIVO: reconhecer os componentes do app de controle.
FONTE: Figs. 23 e 24 e o aviso "o componente btnConnect não é um botão comum e sim um ListPicker" (p. 23).
PERGUNTA: "Por que um ListPicker é adequado para conectar?" RESPOSTA ESPERADA: porque o usuário precisa escolher um dispositivo em uma lista; o ListPicker exibe a lista e devolve a escolha (Selection).
LACUNA: a numeração pula o passo 3. A apostila não informa a categoria da paleta do BluetoothClient no cap. 5 (pela Fig. 2, existe a categoria Connectivity).
Rastreabilidade: apostila, cap. 5.1, passos 1-2, Figs. 23 e 24 (p. 22-23)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59 – App do LED (HC-05): os blocos
Etapa: 9. App + Arduino via Bluetooth | Tempo estimado: 5 min
OBJETIVO: ler o programa completo de comunicação.
LEITURA (Fig. 26): os comentários dizem "Ao clicar no botão Bluetooth ele irá listar os dispositivos", "Conecta no dispositivo escolhido", "Envia um bite A para o arduino", "Envia um bite B para o arduino", "Encerra a comunicação".
PERGUNTA: "Por que btnAcender só é habilitado depois da conexão?" RESPOSTA ESPERADA: para impedir o envio de comandos sem conexão. (O bloco set btnAcender.Enabled to true está no ramo then do if que testa Connect.)
ANALOGIA (pedagógica): intertravamento, um comando só fica liberado quando uma condição de segurança é satisfeita.
OBSERVAÇÃO: a apostila escreve "bite" nos comentários; é a palavra que está na figura.
Rastreabilidade: apostila, cap. 5.1, passo 5, Fig. 26 (p. 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60 – O lado do Arduino: ler e acionar
Etapa: 9. App + Arduino via Bluetooth | Tempo estimado: 4 min
OBJETIVO: relacionar os comandos do app com a lógica do microcontrolador.
CÓDIGO: transcrito da apostila (p. 25-26), com quebras de linha reorganizadas para leitura.
RESPOSTAS DA TABELA: "A" → HIGH (LED aceso); "B" → LOW (LED apagado); "C" → nenhuma condição é verdadeira, o pino mantém o estado anterior (o caractere é apenas ecoado pela serial).
PERGUNTA: "O código também aceita '1' e '0'. Por quê isso pode ser útil?" RESPOSTA ESPERADA: permite acionar com outros comandos ou testar sem o app, por exemplo pelo monitor serial. (Interpretação do código; a apostila não justifica.)
VÍDEO citado pela apostila: https://youtu.be/OnfePZ0rwoU
LACUNA: a apostila não descreve em texto a ligação do HC-05 (apenas a Fig. 27) nem o pareamento no celular.
Rastreabilidade: apostila, cap. 5.2, Fig. 27 e Tabela 1 – Código Arduino (p. 25-26)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61 – Bluetooth LE com o módulo HM-10
Etapa: 9. App + Arduino via Bluetooth | Tempo estimado: 3 min
OBJETIVO: comparar as duas tecnologias segundo a apostila.
FONTE: p. 63. A coluna "HC-05/HC-06" usa só o que a apostila afirma por contraste ("diferentemente do já conhecido HC-05 ou HC-06…"). A apostila não informa a tensão do HC-05; por isso o traço.
COMPONENTES (p. 63): 7 botões, 1 ListView, 1 Label, 1 BluetoothClient (não visível) e 1 BluetoothLE (não visível). Na Fig. 88: Scan, Conectar, Desconectar, AZUL, AMARELO, VERMELHO e Apagar todos.
PERGUNTA: "Se o App Inventor não tem BLE nativo, como o app consegue usar o HM-10?" RESPOSTA ESPERADA: importando a extensão BluetoothLE (.aix), como no Bloco de Notas.
LACUNA: o link de "documentação" da apostila é o mesmo link de download da extensão (versão 20181124).
Rastreabilidade: apostila, cap. 12 e 12.1, passos 1-2, Figs. 87-89 (p. 63-64)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62 – BLE: procurar, conectar e escrever
Etapa: 9. App + Arduino via Bluetooth | Tempo estimado: 4 min
OBJETIVO: entender a sequência de uso do BLE no app.
FONTE: passos 3 a 10 (p. 65-67). Desconectar: call BluetoothLE1.Disconnect (Fig. 95); evento Disconnected escreve "DESCONECTADO". Connected mostra "CONECTADO A" + FoundDeviceAddress (Fig. 98).
PERGUNTA: "Por que verificar IsDeviceConnected antes de WriteStrings?" RESPOSTA ESPERADA: para só enviar quando há conexão (mesmo raciocínio do btnAcender habilitado no HC-05).
CUIDADO: a apostila só apresenta os UUIDs como "definições padrão". Não explique o protocolo BLE além disso.
DADO PARA O PRÓXIMO SLIDE: nas Figs. 96 e 97, o botão AZUL envia "2", o VERMELHO envia "1" e o AMARELO envia "3".
Rastreabilidade: apostila, cap. 12.1, passos 3-10, Figs. 90-98 (p. 65-67)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63 – Desafio: app, código e fiação conferem?
Etapa: 9. App + Arduino via Bluetooth | Tempo estimado: 4 min
OBJETIVO: análise crítica de documentação técnica (desafio de interpretação baseado apenas na apostila).
RESPOSTAS:
AZUL envia "2" → código liga o pino 4 → pela tabela, pino 4 = LED Amarelo → acende o AMARELO.
VERMELHO envia "1" → pino 3 → tabela: LED Vermelho → acende o VERMELHO (o comentário do código, porém, diz "azul").
AMARELO envia "3" → pino 5 → nenhum LED ligado no pino 5 pela tabela → nada acende.
O LED Azul (pino 2) nunca é acionado pelo código.
CONCLUSÃO: há três fontes que não concordam entre si: comentários do código (3 = azul), tabela de ligação (3 = vermelho) e valores enviados pelos botões. Além disso, o código da p. 70 tem uma linha "yep" no último ramo, que parece erro de digitação e deve ser retirada antes de compilar.
ORIENTAÇÃO: se a turma for montar, escolha UMA referência (por exemplo, a tabela de pinos) e ajuste o código e os valores dos botões a ela.
HARDWARE (p. 69): a apostila cita 5 resistores (três de 220 Ω, um de 1 kΩ e um de 2 kΩ) e a ligação do HM-10 por protoboard, sem explicar a função de cada resistor. Não acrescente explicações.
Rastreabilidade: apostila, cap. 12.1 (Figs. 96-97, p. 66-67) e 12.2 (tabela p. 69, código p. 70)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64 – No sentido contrário: o Arduino envia dados
Etapa: 9. App + Arduino via Bluetooth | Tempo estimado: 4 min
OBJETIVO: completar a comunicação nos dois sentidos.
FONTE: o código (p. 71, resumido no slide) apenas envia a sequência de caracteres "BBBBB…" para ser visualizada no app. No app, removem-se os botões de LED e acrescenta-se um botão para receber eventos do Arduino (passo 4, p. 74).
PERGUNTA: "De quanto em quanto tempo o Arduino envia a linha fora do while?" RESPOSTA ESPERADA: a cada 500 ms (delay(500)), segundo o código.
RESULTADO DOCUMENTADO: Fig. 106 mostra "CONECTADO A 00:15:83:00:CA:AE", "Arduino envia: (BBBBBBBBB" e o texto na caixa.
ANALOGIA (pedagógica): leitura de um dado de campo enviado periodicamente para uma IHM.
LACUNAS: o texto do passo 3 está cortado na apostila ("c aplicativo…"), e a Fig. 101 indica um modelo "BLE + Mega" sem explicar a troca de placa.
Rastreabilidade: apostila, cap. 13, passos 1-4, Figs. 101-106 (p. 71-75)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65 – Para continuar: listas de desafios
Etapa: Revisão e encerramento | Tempo estimado: 3 min
OBJETIVO: indicar caminhos de continuidade sem extrapolar a fonte.
SUGESTÃO DE TAREFA: o exercício 8 do cap. 11 (portas lógicas, Fig. 86) conversa com a área técnica e só depende de extensão de LED virtual indicada pela apostila. As tabelas-verdade da Fig. 86 (NAND, NOR, AND, OR) podem ser usadas como teste.
CUIDADO: não forneça especificações de sensores (ultrassônico, RFID, umidade etc.), porque a apostila não as traz.
Rastreabilidade: apostila, cap. 11 (p. 60-62) e cap. 14 (p. 76)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66 – Revisão 1: preveja o resultado
Etapa: Revisão e encerramento | Tempo estimado: 6 min
RESPOSTAS ESPERADAS:
1) (7 + 5 + 8 + 4) / 4 = 24 / 4 = 6 → Label5 mostra 6 (mesma estrutura da Fig. 17).
2) 6,00 × 0,7 = 4,20; 4,20 ≤ 4,50 é verdadeiro → gasolina.png (gasolina compensa).
3) "B", pois a mesma tag foi sobrescrita (tag = chave que identifica o dado, p. 40).
4) Índice 1 (listas começam em 1, p. 48) → "Objeto esférico utilizado em esportes" (Fig. 63).
CONDUÇÃO: 3 min individual, 3 min correção. Peça que justifiquem citando o bloco responsável.
Rastreabilidade: perguntas derivadas dos caps. 3, 4, 8 e 9 da apostila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67 – Revisão 2: explique com suas palavras
Etapa: Revisão e encerramento | Tempo estimado: 6 min
RESPOSTAS ESPERADAS:
5) Designer: componentes e aparência (Palette, Viewer, Components, Properties), por exemplo, o texto inicial do botão. Blocks: comportamento em resposta a eventos, por exemplo, mudar a label ao clicar.
6) Porque o pedido é feito ao serviço e a resposta só existe quando o evento GotTranslation ocorre (ex. 5, p. 81). O mesmo padrão aparece em TakePicture/AfterPicture (p. 57).
7) Bullet fica invisível; ScoreLabel soma 1; SaucerSprite recebe novo X aleatório entre 0 e largura do Canvas menos largura do disco (Fig. 45).
8) Porque o if só habilita o botão quando Connect retorna sucesso (Fig. 26), evitando comandos sem conexão. Ao receber "A" (ou "1"), o Arduino coloca o pino 13 em HIGH (p. 25).
CONDUÇÃO: sorteie duplas para responder oralmente; corrija com base nas figuras citadas.
Rastreabilidade: perguntas derivadas dos caps. 2, 3, 5, 6, 7 e 12 da apostila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68 – Síntese: o mesmo modelo em todos os projetos
Etapa: Revisão e encerramento | Tempo estimado: 4 min
OBJETIVO: fechar a aula mostrando o padrão comum a todos os projetos estudados.
CONDUÇÃO: peça que a turma cite, para cada coluna, em que projeto viu o item. Ex.: CollidedWith → Space Invaders; DataChanged → Chat; TinyDB → Bloco de Notas.
ANALOGIA FINAL (pedagógica): o ciclo evento → lógica → saída lembra o ciclo entrada → processamento → saída que a turma estuda em controladores. Reforce que é uma comparação didática.
Rastreabilidade: síntese dos caps. 3 a 13 da apostila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69 – Encerramento
Etapa: Revisão e encerramento | Tempo estimado: 2 min
OBJETIVO: encerrar retomando o objetivo do cap. 1 (usuários como criadores).
CONDUÇÃO: peça que cada estudante diga em uma frase qual projeto quer refazer e por quê.
AVISO DA FONTE: a apostila se declara material inicial (p. 7) e informa que pode ser distribuída gratuitamente, mas não vendida (p. 6).
Rastreabilidade: apostila, cap. 1 (p. 7) e Notas sobre esta apostila (p. 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55448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5544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MIT App Inventor: aplicativos Android com blocos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Prof. Ivan Lucas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Baseada exclusivamente </a:t>
            </a:r>
            <a:r>
              <a:rPr lang="en-US" sz="1400" i="1" dirty="0" err="1">
                <a:solidFill>
                  <a:schemeClr val="accent3"/>
                </a:solidFill>
              </a:rPr>
              <a:t>na</a:t>
            </a:r>
            <a:r>
              <a:rPr lang="en-US" sz="1400" i="1" dirty="0">
                <a:solidFill>
                  <a:schemeClr val="accent3"/>
                </a:solidFill>
              </a:rPr>
              <a:t> </a:t>
            </a:r>
            <a:r>
              <a:rPr lang="en-US" sz="1400" i="1" dirty="0" err="1">
                <a:solidFill>
                  <a:schemeClr val="accent3"/>
                </a:solidFill>
              </a:rPr>
              <a:t>apostila</a:t>
            </a:r>
            <a:r>
              <a:rPr lang="en-US" sz="1400" i="1" dirty="0">
                <a:solidFill>
                  <a:schemeClr val="accent3"/>
                </a:solidFill>
              </a:rPr>
              <a:t> (AppInventor.pdf)</a:t>
            </a:r>
            <a:endParaRPr lang="en-US" sz="1400" dirty="0"/>
          </a:p>
        </p:txBody>
      </p:sp>
      <p:sp>
        <p:nvSpPr>
          <p:cNvPr id="5" name="fundo logo"/>
          <p:cNvSpPr/>
          <p:nvPr/>
        </p:nvSpPr>
        <p:spPr>
          <a:xfrm>
            <a:off x="8001000" y="1325880"/>
            <a:ext cx="3566160" cy="32004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igura logo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1792611"/>
            <a:ext cx="3236976" cy="22669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Ao final da aula, cada estudante deverá ser capaz de…</a:t>
            </a:r>
            <a:endParaRPr lang="en-US" sz="1600" dirty="0"/>
          </a:p>
        </p:txBody>
      </p:sp>
      <p:sp>
        <p:nvSpPr>
          <p:cNvPr id="4" name="cartao Localizar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Localizar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Localizar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591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as quatro áreas da interface e diferenciar Designer e Blocks</a:t>
            </a:r>
            <a:endParaRPr lang="en-US" sz="1700" dirty="0"/>
          </a:p>
        </p:txBody>
      </p:sp>
      <p:sp>
        <p:nvSpPr>
          <p:cNvPr id="9" name="cartao Construir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Construir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480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Construir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3591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um app orientado a eventos e gerar o .apk ou o QR code</a:t>
            </a:r>
            <a:endParaRPr lang="en-US" sz="1700" dirty="0"/>
          </a:p>
        </p:txBody>
      </p:sp>
      <p:sp>
        <p:nvSpPr>
          <p:cNvPr id="14" name="cartao Prever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lo Prever"/>
          <p:cNvSpPr/>
          <p:nvPr/>
        </p:nvSpPr>
        <p:spPr>
          <a:xfrm>
            <a:off x="8229600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29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719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Prever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3591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 resultado de blocos com variáveis, condições e listas</a:t>
            </a:r>
            <a:endParaRPr lang="en-US" sz="1700" dirty="0"/>
          </a:p>
        </p:txBody>
      </p:sp>
      <p:sp>
        <p:nvSpPr>
          <p:cNvPr id="19" name="cartao Armazenar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elo Armazenar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507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Armazenar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908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dados no TinyDB e usar extensões (.aix)</a:t>
            </a:r>
            <a:endParaRPr lang="en-US" sz="1700" dirty="0"/>
          </a:p>
        </p:txBody>
      </p:sp>
      <p:sp>
        <p:nvSpPr>
          <p:cNvPr id="24" name="cartao Explicar"/>
          <p:cNvSpPr/>
          <p:nvPr/>
        </p:nvSpPr>
        <p:spPr>
          <a:xfrm>
            <a:off x="429768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elo Explicar"/>
          <p:cNvSpPr/>
          <p:nvPr/>
        </p:nvSpPr>
        <p:spPr>
          <a:xfrm>
            <a:off x="448056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4805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0507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Explicar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6908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como o app troca dados com o Arduino via Bluetooth</a:t>
            </a:r>
            <a:endParaRPr lang="en-US" sz="1700" dirty="0"/>
          </a:p>
        </p:txBody>
      </p:sp>
      <p:sp>
        <p:nvSpPr>
          <p:cNvPr id="29" name="cartao Analisar"/>
          <p:cNvSpPr/>
          <p:nvPr/>
        </p:nvSpPr>
        <p:spPr>
          <a:xfrm>
            <a:off x="8046720" y="3886200"/>
            <a:ext cx="35661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elo Analisar"/>
          <p:cNvSpPr/>
          <p:nvPr/>
        </p:nvSpPr>
        <p:spPr>
          <a:xfrm>
            <a:off x="822960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82296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0507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Analisar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69087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gabaritos e códigos, encontrando inconsistências</a:t>
            </a:r>
            <a:endParaRPr lang="en-US" sz="1700" dirty="0"/>
          </a:p>
        </p:txBody>
      </p:sp>
      <p:sp>
        <p:nvSpPr>
          <p:cNvPr id="3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objetivos derivados dos caps. 2, 3, 4, 5, 8, 9, 10 e 12 da apostila</a:t>
            </a:r>
            <a:endParaRPr lang="en-US" sz="1050" dirty="0"/>
          </a:p>
        </p:txBody>
      </p:sp>
      <p:sp>
        <p:nvSpPr>
          <p:cNvPr id="3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Roteiro das 4 horas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Do primeiro botão até a conversa com o Arduino</a:t>
            </a:r>
            <a:endParaRPr lang="en-US" sz="1600" dirty="0"/>
          </a:p>
        </p:txBody>
      </p:sp>
      <p:graphicFrame>
        <p:nvGraphicFramePr>
          <p:cNvPr id="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535424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Slides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Tempo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Slides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Tempo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Abertura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 Bloco de Notas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34–40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Interface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6–12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 Dicionário Interativo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41–45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 Primeiro app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13–18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 Desenho e animação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46–51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 App Calcula Média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19–25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 Chat com Firebase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52–55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 Exercícios básicos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26–32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9. App + Arduino via Bluetooth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56–64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31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Intervalo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Revisão e encerramento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65–69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1–69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240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planejamento da aula (sequência baseada no sumário da apostila, p. 2-3)</a:t>
            </a:r>
            <a:endParaRPr lang="en-US" sz="1050" dirty="0"/>
          </a:p>
        </p:txBody>
      </p:sp>
      <p:sp>
        <p:nvSpPr>
          <p:cNvPr id="6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2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é o App Inventor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Criar apps Android arrastando e encaixando blocos</a:t>
            </a:r>
            <a:endParaRPr lang="en-US" sz="1600" dirty="0"/>
          </a:p>
        </p:txBody>
      </p:sp>
      <p:sp>
        <p:nvSpPr>
          <p:cNvPr id="4" name="cartao Para quê"/>
          <p:cNvSpPr/>
          <p:nvPr/>
        </p:nvSpPr>
        <p:spPr>
          <a:xfrm>
            <a:off x="548640" y="155448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Para quê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Para quê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59152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Criar aplicativos para smartphones com sistema Android, sem exigir conhecimentos profundos de programação.</a:t>
            </a:r>
            <a:endParaRPr lang="en-US" sz="1600" dirty="0"/>
          </a:p>
        </p:txBody>
      </p:sp>
      <p:sp>
        <p:nvSpPr>
          <p:cNvPr id="9" name="cartao Como"/>
          <p:cNvSpPr/>
          <p:nvPr/>
        </p:nvSpPr>
        <p:spPr>
          <a:xfrm>
            <a:off x="4334256" y="155448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Como"/>
          <p:cNvSpPr/>
          <p:nvPr/>
        </p:nvSpPr>
        <p:spPr>
          <a:xfrm>
            <a:off x="4517136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51713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57216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359152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Recurso drag and drop (arrastar e soltar): a programação acontece de forma simples e intuitiva, fora das linhas de código tradicionais.</a:t>
            </a:r>
            <a:endParaRPr lang="en-US" sz="1600" dirty="0"/>
          </a:p>
        </p:txBody>
      </p:sp>
      <p:sp>
        <p:nvSpPr>
          <p:cNvPr id="14" name="cartao Por quê"/>
          <p:cNvSpPr/>
          <p:nvPr/>
        </p:nvSpPr>
        <p:spPr>
          <a:xfrm>
            <a:off x="8119872" y="155448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lo Por quê"/>
          <p:cNvSpPr/>
          <p:nvPr/>
        </p:nvSpPr>
        <p:spPr>
          <a:xfrm>
            <a:off x="8302752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30275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17190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Por quê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359152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Segundo Harold Abelson (MIT), o objetivo é permitir que usuários sejam também criadores, e não apenas consumidores.</a:t>
            </a:r>
            <a:endParaRPr lang="en-US" sz="1600" dirty="0"/>
          </a:p>
        </p:txBody>
      </p:sp>
      <p:sp>
        <p:nvSpPr>
          <p:cNvPr id="2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 – Introdução (p. 7)</a:t>
            </a:r>
            <a:endParaRPr lang="en-US" sz="1050" dirty="0"/>
          </a:p>
        </p:txBody>
      </p:sp>
      <p:sp>
        <p:nvSpPr>
          <p:cNvPr id="2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Conhecendo a interface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01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As 4 áreas da tela de trabalho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Palette, Viewer, Components/Media e Properties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diferença entre Designer e Blocks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6 a 12 · 18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2 (p. 7-11)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Quatro áreas na tela de trabalho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Organização parecida com a de uma IDE, mas feita para arrastar e soltar</a:t>
            </a:r>
            <a:endParaRPr lang="en-US" sz="1600" dirty="0"/>
          </a:p>
        </p:txBody>
      </p:sp>
      <p:sp>
        <p:nvSpPr>
          <p:cNvPr id="4" name="moldura f01"/>
          <p:cNvSpPr/>
          <p:nvPr/>
        </p:nvSpPr>
        <p:spPr>
          <a:xfrm>
            <a:off x="548640" y="1555373"/>
            <a:ext cx="6949440" cy="3747253"/>
          </a:xfrm>
          <a:prstGeom prst="roundRect">
            <a:avLst>
              <a:gd name="adj" fmla="val 19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01" descr="Fig. 1 – Interface do Google App Inventor (apostila, p. 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8525"/>
            <a:ext cx="6803136" cy="3600949"/>
          </a:xfrm>
          <a:prstGeom prst="rect">
            <a:avLst/>
          </a:prstGeom>
        </p:spPr>
      </p:pic>
      <p:sp>
        <p:nvSpPr>
          <p:cNvPr id="6" name="legenda f01"/>
          <p:cNvSpPr txBox="1"/>
          <p:nvPr/>
        </p:nvSpPr>
        <p:spPr>
          <a:xfrm>
            <a:off x="548640" y="5320915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 – Interface do Google App Inventor (apostila, p. 7)</a:t>
            </a:r>
            <a:endParaRPr lang="en-US" sz="1050" dirty="0"/>
          </a:p>
        </p:txBody>
      </p:sp>
      <p:sp>
        <p:nvSpPr>
          <p:cNvPr id="7" name="num area 1"/>
          <p:cNvSpPr/>
          <p:nvPr/>
        </p:nvSpPr>
        <p:spPr>
          <a:xfrm>
            <a:off x="7818120" y="1554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818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44475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Palette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componentes disponíveis</a:t>
            </a:r>
            <a:endParaRPr lang="en-US" sz="1700" dirty="0"/>
          </a:p>
        </p:txBody>
      </p:sp>
      <p:sp>
        <p:nvSpPr>
          <p:cNvPr id="10" name="num area 2"/>
          <p:cNvSpPr/>
          <p:nvPr/>
        </p:nvSpPr>
        <p:spPr>
          <a:xfrm>
            <a:off x="7818120" y="257860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781812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4688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Viewer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simulação da tela do celular</a:t>
            </a:r>
            <a:endParaRPr lang="en-US" sz="1700" dirty="0"/>
          </a:p>
        </p:txBody>
      </p:sp>
      <p:sp>
        <p:nvSpPr>
          <p:cNvPr id="13" name="num area 3"/>
          <p:cNvSpPr/>
          <p:nvPr/>
        </p:nvSpPr>
        <p:spPr>
          <a:xfrm>
            <a:off x="7818120" y="3602736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781812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4930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Components e Media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lista do que foi usado e arquivos enviados</a:t>
            </a:r>
            <a:endParaRPr lang="en-US" sz="1700" dirty="0"/>
          </a:p>
        </p:txBody>
      </p:sp>
      <p:sp>
        <p:nvSpPr>
          <p:cNvPr id="16" name="num area 4"/>
          <p:cNvSpPr/>
          <p:nvPr/>
        </p:nvSpPr>
        <p:spPr>
          <a:xfrm>
            <a:off x="7818120" y="4626864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7818120" y="4626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45171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Properties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ajustes do item selecionado</a:t>
            </a:r>
            <a:endParaRPr lang="en-US" sz="1700" dirty="0"/>
          </a:p>
        </p:txBody>
      </p:sp>
      <p:sp>
        <p:nvSpPr>
          <p:cNvPr id="19" name="texto"/>
          <p:cNvSpPr txBox="1"/>
          <p:nvPr/>
        </p:nvSpPr>
        <p:spPr>
          <a:xfrm>
            <a:off x="7818120" y="5577840"/>
            <a:ext cx="38404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No lugar de uma árvore de arquivos à esquerda, a ferramenta mostra os elementos que podem ser inseridos com "clique e arraste".</a:t>
            </a:r>
            <a:endParaRPr lang="en-US" sz="1300" dirty="0"/>
          </a:p>
        </p:txBody>
      </p:sp>
      <p:sp>
        <p:nvSpPr>
          <p:cNvPr id="2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2, Fig. 1 (p. 7)</a:t>
            </a:r>
            <a:endParaRPr lang="en-US" sz="1050" dirty="0"/>
          </a:p>
        </p:txBody>
      </p:sp>
      <p:sp>
        <p:nvSpPr>
          <p:cNvPr id="2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Palette: o estoque de componentes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Tudo o que pode entrar no aplicativo está aqui, agrupado por categoria</a:t>
            </a:r>
            <a:endParaRPr lang="en-US" sz="1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508760"/>
            <a:ext cx="713232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Palheta de itens: </a:t>
            </a:r>
            <a:r>
              <a:rPr lang="en-US" sz="1700" dirty="0">
                <a:solidFill>
                  <a:schemeClr val="tx1"/>
                </a:solidFill>
              </a:rPr>
              <a:t>contém todos os objetos que você poderá usar no aplicativo.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Organização em drop down menu: </a:t>
            </a:r>
            <a:r>
              <a:rPr lang="en-US" sz="1700" dirty="0">
                <a:solidFill>
                  <a:schemeClr val="tx1"/>
                </a:solidFill>
              </a:rPr>
              <a:t>ao abrir uma categoria, a anterior se fecha.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Categorias visíveis na Fig. 2: </a:t>
            </a:r>
            <a:r>
              <a:rPr lang="en-US" sz="1700" dirty="0">
                <a:solidFill>
                  <a:schemeClr val="tx1"/>
                </a:solidFill>
              </a:rPr>
              <a:t>User Interface, Layout, Media, Drawing and Animation, Maps, Sensors, Social, Storage, Connectivity, LEGO MINDSTORMS, Experimental e Extension.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Em User Interface aparecem, por exemplo, Button, Label, TextBox, Image, ListPicker, ListView e DatePicker.</a:t>
            </a:r>
            <a:endParaRPr lang="en-US" sz="1700" dirty="0"/>
          </a:p>
        </p:txBody>
      </p:sp>
      <p:sp>
        <p:nvSpPr>
          <p:cNvPr id="5" name="moldura f02"/>
          <p:cNvSpPr/>
          <p:nvPr/>
        </p:nvSpPr>
        <p:spPr>
          <a:xfrm>
            <a:off x="9113063" y="1463040"/>
            <a:ext cx="1278026" cy="4480560"/>
          </a:xfrm>
          <a:prstGeom prst="roundRect">
            <a:avLst>
              <a:gd name="adj" fmla="val 572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igura f02" descr="Fig. 2 – Palette (apostila, p. 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215" y="1536192"/>
            <a:ext cx="1131722" cy="4334256"/>
          </a:xfrm>
          <a:prstGeom prst="rect">
            <a:avLst/>
          </a:prstGeom>
        </p:spPr>
      </p:pic>
      <p:sp>
        <p:nvSpPr>
          <p:cNvPr id="7" name="legenda f02"/>
          <p:cNvSpPr txBox="1"/>
          <p:nvPr/>
        </p:nvSpPr>
        <p:spPr>
          <a:xfrm>
            <a:off x="7863840" y="596188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 – Palette (apostila, p. 8)</a:t>
            </a:r>
            <a:endParaRPr lang="en-US" sz="105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2.1, Fig. 2 (p. 8)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Viewer, Components e Media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que o usuário verá e a lista de tudo o que foi colocado no app</a:t>
            </a:r>
            <a:endParaRPr lang="en-US" sz="1600" dirty="0"/>
          </a:p>
        </p:txBody>
      </p:sp>
      <p:sp>
        <p:nvSpPr>
          <p:cNvPr id="4" name="moldura f03"/>
          <p:cNvSpPr/>
          <p:nvPr/>
        </p:nvSpPr>
        <p:spPr>
          <a:xfrm>
            <a:off x="712849" y="1463040"/>
            <a:ext cx="5340863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03" descr="Fig. 3 – Viewer (apostila, p. 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01" y="1536192"/>
            <a:ext cx="5194559" cy="2688336"/>
          </a:xfrm>
          <a:prstGeom prst="rect">
            <a:avLst/>
          </a:prstGeom>
        </p:spPr>
      </p:pic>
      <p:sp>
        <p:nvSpPr>
          <p:cNvPr id="6" name="legenda f03"/>
          <p:cNvSpPr txBox="1"/>
          <p:nvPr/>
        </p:nvSpPr>
        <p:spPr>
          <a:xfrm>
            <a:off x="548640" y="43159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3 – Viewer (apostila, p. 9)</a:t>
            </a:r>
            <a:endParaRPr lang="en-US" sz="105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754880"/>
            <a:ext cx="82296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Viewer: </a:t>
            </a:r>
            <a:r>
              <a:rPr lang="en-US" sz="1500" dirty="0">
                <a:solidFill>
                  <a:schemeClr val="tx1"/>
                </a:solidFill>
              </a:rPr>
              <a:t>simula a tela de um celular Android; todo item arrastado da paleta fica visível aqui.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Components: </a:t>
            </a:r>
            <a:r>
              <a:rPr lang="en-US" sz="1500" dirty="0">
                <a:solidFill>
                  <a:schemeClr val="tx1"/>
                </a:solidFill>
              </a:rPr>
              <a:t>os mesmos itens aparecem em forma de lista; clicar em um deles abre suas propriedades.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Media: </a:t>
            </a:r>
            <a:r>
              <a:rPr lang="en-US" sz="1500" dirty="0">
                <a:solidFill>
                  <a:schemeClr val="tx1"/>
                </a:solidFill>
              </a:rPr>
              <a:t>botão Upload File… para enviar imagens ou sons usados no app.</a:t>
            </a:r>
            <a:endParaRPr lang="en-US" sz="1500" dirty="0"/>
          </a:p>
        </p:txBody>
      </p:sp>
      <p:sp>
        <p:nvSpPr>
          <p:cNvPr id="8" name="moldura f04"/>
          <p:cNvSpPr/>
          <p:nvPr/>
        </p:nvSpPr>
        <p:spPr>
          <a:xfrm>
            <a:off x="9544176" y="1463040"/>
            <a:ext cx="1622809" cy="4480560"/>
          </a:xfrm>
          <a:prstGeom prst="roundRect">
            <a:avLst>
              <a:gd name="adj" fmla="val 450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figura f04" descr="Fig. 4 – Components e Media (p. 1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328" y="1536192"/>
            <a:ext cx="1476505" cy="4334256"/>
          </a:xfrm>
          <a:prstGeom prst="rect">
            <a:avLst/>
          </a:prstGeom>
        </p:spPr>
      </p:pic>
      <p:sp>
        <p:nvSpPr>
          <p:cNvPr id="10" name="legenda f04"/>
          <p:cNvSpPr txBox="1"/>
          <p:nvPr/>
        </p:nvSpPr>
        <p:spPr>
          <a:xfrm>
            <a:off x="9052560" y="59618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 – Components e Media (p. 10)</a:t>
            </a:r>
            <a:endParaRPr lang="en-US" sz="1050" dirty="0"/>
          </a:p>
        </p:txBody>
      </p:sp>
      <p:sp>
        <p:nvSpPr>
          <p:cNvPr id="11" name="moldura f67"/>
          <p:cNvSpPr/>
          <p:nvPr/>
        </p:nvSpPr>
        <p:spPr>
          <a:xfrm>
            <a:off x="6492240" y="1529161"/>
            <a:ext cx="2377440" cy="1970877"/>
          </a:xfrm>
          <a:prstGeom prst="roundRect">
            <a:avLst>
              <a:gd name="adj" fmla="val 371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figura f67" descr="Fig. 67 – mídias carregadas (p. 49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602313"/>
            <a:ext cx="2231136" cy="1824573"/>
          </a:xfrm>
          <a:prstGeom prst="rect">
            <a:avLst/>
          </a:prstGeom>
        </p:spPr>
      </p:pic>
      <p:sp>
        <p:nvSpPr>
          <p:cNvPr id="13" name="legenda f67"/>
          <p:cNvSpPr txBox="1"/>
          <p:nvPr/>
        </p:nvSpPr>
        <p:spPr>
          <a:xfrm>
            <a:off x="6492240" y="3518327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67 – mídias carregadas (p. 49)</a:t>
            </a:r>
            <a:endParaRPr lang="en-US" sz="1050" dirty="0"/>
          </a:p>
        </p:txBody>
      </p:sp>
      <p:sp>
        <p:nvSpPr>
          <p:cNvPr id="1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caps. 2.2 e 2.3, Figs. 3 e 4 (p. 9-10)</a:t>
            </a:r>
            <a:endParaRPr lang="en-US" sz="1050" dirty="0"/>
          </a:p>
        </p:txBody>
      </p:sp>
      <p:sp>
        <p:nvSpPr>
          <p:cNvPr id="1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Properties: ajustes do item selecionado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Clique no componente e configure-o sem escrever código</a:t>
            </a:r>
            <a:endParaRPr lang="en-US" sz="1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508760"/>
            <a:ext cx="713232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Mostra as propriedades do item que foi clicado.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Permite renomear o objeto, modificar altura, largura, texto de botões e labels, entre outros itens.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Exemplo da Fig. 5: </a:t>
            </a:r>
            <a:r>
              <a:rPr lang="en-US" sz="1700" dirty="0">
                <a:solidFill>
                  <a:schemeClr val="tx1"/>
                </a:solidFill>
              </a:rPr>
              <a:t>propriedades da Screen1, como AppName, BackgroundColor, Icon e PrimaryColor.</a:t>
            </a:r>
            <a:endParaRPr lang="en-US" sz="1700" dirty="0"/>
          </a:p>
        </p:txBody>
      </p:sp>
      <p:sp>
        <p:nvSpPr>
          <p:cNvPr id="5" name="moldura f05"/>
          <p:cNvSpPr/>
          <p:nvPr/>
        </p:nvSpPr>
        <p:spPr>
          <a:xfrm>
            <a:off x="8998472" y="1463040"/>
            <a:ext cx="1507209" cy="4480560"/>
          </a:xfrm>
          <a:prstGeom prst="roundRect">
            <a:avLst>
              <a:gd name="adj" fmla="val 485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igura f05" descr="Fig. 5 – Properties (apostila, p. 1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624" y="1536192"/>
            <a:ext cx="1360905" cy="4334256"/>
          </a:xfrm>
          <a:prstGeom prst="rect">
            <a:avLst/>
          </a:prstGeom>
        </p:spPr>
      </p:pic>
      <p:sp>
        <p:nvSpPr>
          <p:cNvPr id="7" name="legenda f05"/>
          <p:cNvSpPr txBox="1"/>
          <p:nvPr/>
        </p:nvSpPr>
        <p:spPr>
          <a:xfrm>
            <a:off x="7863840" y="596188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 – Properties (apostila, p. 11)</a:t>
            </a:r>
            <a:endParaRPr lang="en-US" sz="1050" dirty="0"/>
          </a:p>
        </p:txBody>
      </p:sp>
      <p:sp>
        <p:nvSpPr>
          <p:cNvPr id="8" name="destaque Analogia (pedagógica, não está na apostila)"/>
          <p:cNvSpPr/>
          <p:nvPr/>
        </p:nvSpPr>
        <p:spPr>
          <a:xfrm>
            <a:off x="548640" y="4572000"/>
            <a:ext cx="6949440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713232" y="4663440"/>
            <a:ext cx="6620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Analogia (pedagógica, não está na apostila)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Assim como se parametriza um equipamento antes de colocá-lo em operação, aqui se ajusta cada componente antes de programar seu comportamento.</a:t>
            </a:r>
            <a:endParaRPr lang="en-US" sz="1300" dirty="0"/>
          </a:p>
        </p:txBody>
      </p:sp>
      <p:sp>
        <p:nvSpPr>
          <p:cNvPr id="1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2.4, Fig. 5 (p. 11)</a:t>
            </a:r>
            <a:endParaRPr lang="en-US" sz="1050" dirty="0"/>
          </a:p>
        </p:txBody>
      </p:sp>
      <p:sp>
        <p:nvSpPr>
          <p:cNvPr id="1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2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Designer monta a tela, Blocks programa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Duas vistas do mesmo projeto, alternadas no canto superior direito</a:t>
            </a:r>
            <a:endParaRPr lang="en-US" sz="1600" dirty="0"/>
          </a:p>
        </p:txBody>
      </p:sp>
      <p:sp>
        <p:nvSpPr>
          <p:cNvPr id="4" name="cartao Designer"/>
          <p:cNvSpPr/>
          <p:nvPr/>
        </p:nvSpPr>
        <p:spPr>
          <a:xfrm>
            <a:off x="548640" y="1554480"/>
            <a:ext cx="42062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Designer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Designer</a:t>
            </a:r>
            <a:endParaRPr lang="en-US" sz="17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2359152"/>
            <a:ext cx="384048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Usa Palette, Viewer, Components/Media e Properties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Define quais componentes existem e como aparecem</a:t>
            </a:r>
            <a:endParaRPr lang="en-US" sz="1500" dirty="0"/>
          </a:p>
        </p:txBody>
      </p:sp>
      <p:sp>
        <p:nvSpPr>
          <p:cNvPr id="9" name="cartao Blocks"/>
          <p:cNvSpPr/>
          <p:nvPr/>
        </p:nvSpPr>
        <p:spPr>
          <a:xfrm>
            <a:off x="4983480" y="1554480"/>
            <a:ext cx="42062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Blocks"/>
          <p:cNvSpPr/>
          <p:nvPr/>
        </p:nvSpPr>
        <p:spPr>
          <a:xfrm>
            <a:off x="516636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166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7190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Blocks</a:t>
            </a:r>
            <a:endParaRPr lang="en-US" sz="1700" dirty="0"/>
          </a:p>
        </p:txBody>
      </p:sp>
      <p:sp>
        <p:nvSpPr>
          <p:cNvPr id="13" name="lista"/>
          <p:cNvSpPr txBox="1"/>
          <p:nvPr/>
        </p:nvSpPr>
        <p:spPr>
          <a:xfrm>
            <a:off x="5166360" y="2359152"/>
            <a:ext cx="384048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Clique em BLOCKS no canto direito superior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Define o que acontece: </a:t>
            </a:r>
            <a:r>
              <a:rPr lang="en-US" sz="1500" dirty="0">
                <a:solidFill>
                  <a:schemeClr val="tx1"/>
                </a:solidFill>
              </a:rPr>
              <a:t>eventos, ações, variáveis, condições</a:t>
            </a:r>
            <a:endParaRPr lang="en-US" sz="1500" dirty="0"/>
          </a:p>
        </p:txBody>
      </p:sp>
      <p:sp>
        <p:nvSpPr>
          <p:cNvPr id="14" name="moldura f10"/>
          <p:cNvSpPr/>
          <p:nvPr/>
        </p:nvSpPr>
        <p:spPr>
          <a:xfrm>
            <a:off x="9418320" y="1641453"/>
            <a:ext cx="2240280" cy="1014773"/>
          </a:xfrm>
          <a:prstGeom prst="roundRect">
            <a:avLst>
              <a:gd name="adj" fmla="val 720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figura f10" descr="Fig. 10 (p. 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1714605"/>
            <a:ext cx="2093976" cy="868469"/>
          </a:xfrm>
          <a:prstGeom prst="rect">
            <a:avLst/>
          </a:prstGeom>
        </p:spPr>
      </p:pic>
      <p:sp>
        <p:nvSpPr>
          <p:cNvPr id="16" name="legenda f10"/>
          <p:cNvSpPr txBox="1"/>
          <p:nvPr/>
        </p:nvSpPr>
        <p:spPr>
          <a:xfrm>
            <a:off x="9418320" y="2674515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10 (p. 13)</a:t>
            </a:r>
            <a:endParaRPr lang="en-US" sz="1050" dirty="0"/>
          </a:p>
        </p:txBody>
      </p:sp>
      <p:sp>
        <p:nvSpPr>
          <p:cNvPr id="17" name="destaque Regra prática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713232" y="5257800"/>
            <a:ext cx="10762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Regra prática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Primeiro monte e nomeie os componentes no Designer; depois programe no Blocks. </a:t>
            </a:r>
            <a:endParaRPr lang="en-US" sz="1300" dirty="0"/>
          </a:p>
        </p:txBody>
      </p:sp>
      <p:sp>
        <p:nvSpPr>
          <p:cNvPr id="19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 (p. 13, Fig. 10) e cap. 8 (p. 42)</a:t>
            </a:r>
            <a:endParaRPr lang="en-US" sz="1050" dirty="0"/>
          </a:p>
        </p:txBody>
      </p:sp>
      <p:sp>
        <p:nvSpPr>
          <p:cNvPr id="20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2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Verificação rápida: onde eu faço isso?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Responda em duplas antes de ver a resposta</a:t>
            </a:r>
            <a:endParaRPr lang="en-US" sz="1600" dirty="0"/>
          </a:p>
        </p:txBody>
      </p:sp>
      <p:sp>
        <p:nvSpPr>
          <p:cNvPr id="4" name="cartao Mudar o texto de um botão para &quot;Clique aqui&quot;"/>
          <p:cNvSpPr/>
          <p:nvPr/>
        </p:nvSpPr>
        <p:spPr>
          <a:xfrm>
            <a:off x="548640" y="155448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Mudar o texto de um botão para &quot;Clique aqui&quot;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Mudar o texto de um botão para "Clique aqui"</a:t>
            </a:r>
            <a:endParaRPr lang="en-US" sz="1700" dirty="0"/>
          </a:p>
        </p:txBody>
      </p:sp>
      <p:sp>
        <p:nvSpPr>
          <p:cNvPr id="8" name="cartao Enviar um arquivo de som para o projeto"/>
          <p:cNvSpPr/>
          <p:nvPr/>
        </p:nvSpPr>
        <p:spPr>
          <a:xfrm>
            <a:off x="6172200" y="155448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elo Enviar um arquivo de som para o projeto"/>
          <p:cNvSpPr/>
          <p:nvPr/>
        </p:nvSpPr>
        <p:spPr>
          <a:xfrm>
            <a:off x="6355080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355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Enviar um arquivo de som para o projeto</a:t>
            </a:r>
            <a:endParaRPr lang="en-US" sz="1700" dirty="0"/>
          </a:p>
        </p:txBody>
      </p:sp>
      <p:sp>
        <p:nvSpPr>
          <p:cNvPr id="12" name="cartao Encontrar o componente Label para arrastar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elo Encontrar o componente Label para arrastar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315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Encontrar o componente Label para arrastar</a:t>
            </a:r>
            <a:endParaRPr lang="en-US" sz="1700" dirty="0"/>
          </a:p>
        </p:txBody>
      </p:sp>
      <p:sp>
        <p:nvSpPr>
          <p:cNvPr id="16" name="cartao Ver como a tela ficará no celular"/>
          <p:cNvSpPr/>
          <p:nvPr/>
        </p:nvSpPr>
        <p:spPr>
          <a:xfrm>
            <a:off x="6172200" y="310896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elo Ver como a tela ficará no celular"/>
          <p:cNvSpPr/>
          <p:nvPr/>
        </p:nvSpPr>
        <p:spPr>
          <a:xfrm>
            <a:off x="6355080" y="32918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355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273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 como a tela ficará no celular</a:t>
            </a:r>
            <a:endParaRPr lang="en-US" sz="1700" dirty="0"/>
          </a:p>
        </p:txBody>
      </p:sp>
      <p:sp>
        <p:nvSpPr>
          <p:cNvPr id="20" name="cartao Programar o que acontece ao clicar no botão"/>
          <p:cNvSpPr/>
          <p:nvPr/>
        </p:nvSpPr>
        <p:spPr>
          <a:xfrm>
            <a:off x="548640" y="466344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elo Programar o que acontece ao clicar no botão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828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Programar o que acontece ao clicar no botão</a:t>
            </a:r>
            <a:endParaRPr lang="en-US" sz="1700" dirty="0"/>
          </a:p>
        </p:txBody>
      </p:sp>
      <p:sp>
        <p:nvSpPr>
          <p:cNvPr id="24" name="cartao Trocar o nome Button1 por btnSalvar"/>
          <p:cNvSpPr/>
          <p:nvPr/>
        </p:nvSpPr>
        <p:spPr>
          <a:xfrm>
            <a:off x="6172200" y="466344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elo Trocar o nome Button1 por btnSalvar"/>
          <p:cNvSpPr/>
          <p:nvPr/>
        </p:nvSpPr>
        <p:spPr>
          <a:xfrm>
            <a:off x="6355080" y="4846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355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828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Trocar o nome Button1 por btnSalvar</a:t>
            </a:r>
            <a:endParaRPr lang="en-US" sz="1700" dirty="0"/>
          </a:p>
        </p:txBody>
      </p:sp>
      <p:sp>
        <p:nvSpPr>
          <p:cNvPr id="2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derivado da apostila, cap. 2 (p. 7-11) e cap. 3 (p. 12-13)</a:t>
            </a:r>
            <a:endParaRPr lang="en-US" sz="1050" dirty="0"/>
          </a:p>
        </p:txBody>
      </p:sp>
      <p:sp>
        <p:nvSpPr>
          <p:cNvPr id="2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Primeiro app: Hello World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02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Criar um projeto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Usar Button e Label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Programar um evento de clique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Gerar o .apk ou o QR code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13 a 18 · 23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3 (p. 12-14)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Objetivo e passo 1: novo projeto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Ao clicar em um botão, o app mostra "Hello World" em uma label</a:t>
            </a:r>
            <a:endParaRPr lang="en-US" sz="1600" dirty="0"/>
          </a:p>
        </p:txBody>
      </p:sp>
      <p:sp>
        <p:nvSpPr>
          <p:cNvPr id="4" name="cartao Objetivo"/>
          <p:cNvSpPr/>
          <p:nvPr/>
        </p:nvSpPr>
        <p:spPr>
          <a:xfrm>
            <a:off x="548640" y="1554480"/>
            <a:ext cx="57607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Objetivo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Objetivo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591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Exibir "Hello World" quando o botão for clicado.</a:t>
            </a:r>
            <a:endParaRPr lang="en-US" sz="1500" dirty="0"/>
          </a:p>
        </p:txBody>
      </p:sp>
      <p:sp>
        <p:nvSpPr>
          <p:cNvPr id="9" name="cartao Recursos"/>
          <p:cNvSpPr/>
          <p:nvPr/>
        </p:nvSpPr>
        <p:spPr>
          <a:xfrm>
            <a:off x="548640" y="3291840"/>
            <a:ext cx="576072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Recursos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564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Recursos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965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Componentes Button e Label.</a:t>
            </a:r>
            <a:endParaRPr lang="en-US" sz="1500" dirty="0"/>
          </a:p>
        </p:txBody>
      </p:sp>
      <p:sp>
        <p:nvSpPr>
          <p:cNvPr id="14" name="cartao Passo 1"/>
          <p:cNvSpPr/>
          <p:nvPr/>
        </p:nvSpPr>
        <p:spPr>
          <a:xfrm>
            <a:off x="548640" y="4800600"/>
            <a:ext cx="576072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lo Passo 1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651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Passo 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052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Menu Projects → Start New Project.</a:t>
            </a:r>
            <a:endParaRPr lang="en-US" sz="1500" dirty="0"/>
          </a:p>
        </p:txBody>
      </p:sp>
      <p:sp>
        <p:nvSpPr>
          <p:cNvPr id="19" name="moldura f06"/>
          <p:cNvSpPr/>
          <p:nvPr/>
        </p:nvSpPr>
        <p:spPr>
          <a:xfrm>
            <a:off x="7411420" y="1463040"/>
            <a:ext cx="3465159" cy="4480560"/>
          </a:xfrm>
          <a:prstGeom prst="roundRect">
            <a:avLst>
              <a:gd name="adj" fmla="val 211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figura f06" descr="Fig. 6 – Novo Projeto (apostila, p. 1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72" y="1536192"/>
            <a:ext cx="3318855" cy="4334256"/>
          </a:xfrm>
          <a:prstGeom prst="rect">
            <a:avLst/>
          </a:prstGeom>
        </p:spPr>
      </p:pic>
      <p:sp>
        <p:nvSpPr>
          <p:cNvPr id="21" name="legenda f06"/>
          <p:cNvSpPr txBox="1"/>
          <p:nvPr/>
        </p:nvSpPr>
        <p:spPr>
          <a:xfrm>
            <a:off x="6675120" y="5961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6 – Novo Projeto (apostila, p. 12)</a:t>
            </a:r>
            <a:endParaRPr lang="en-US" sz="1050" dirty="0"/>
          </a:p>
        </p:txBody>
      </p:sp>
      <p:sp>
        <p:nvSpPr>
          <p:cNvPr id="2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3, passo 1 e Fig. 6 (p. 12)</a:t>
            </a:r>
            <a:endParaRPr lang="en-US" sz="1050" dirty="0"/>
          </a:p>
        </p:txBody>
      </p:sp>
      <p:sp>
        <p:nvSpPr>
          <p:cNvPr id="2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Passos 2 e 3: montar e ajustar a tela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Arraste Button e Label e mude o texto de cada um em Properties</a:t>
            </a:r>
            <a:endParaRPr lang="en-US" sz="1600" dirty="0"/>
          </a:p>
        </p:txBody>
      </p:sp>
      <p:sp>
        <p:nvSpPr>
          <p:cNvPr id="4" name="moldura f07"/>
          <p:cNvSpPr/>
          <p:nvPr/>
        </p:nvSpPr>
        <p:spPr>
          <a:xfrm>
            <a:off x="565992" y="1463040"/>
            <a:ext cx="2982815" cy="4480560"/>
          </a:xfrm>
          <a:prstGeom prst="roundRect">
            <a:avLst>
              <a:gd name="adj" fmla="val 24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07" descr="Fig. 7 – Label e Botão (p. 1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4" y="1536192"/>
            <a:ext cx="2836511" cy="4334256"/>
          </a:xfrm>
          <a:prstGeom prst="rect">
            <a:avLst/>
          </a:prstGeom>
        </p:spPr>
      </p:pic>
      <p:sp>
        <p:nvSpPr>
          <p:cNvPr id="6" name="legenda f07"/>
          <p:cNvSpPr txBox="1"/>
          <p:nvPr/>
        </p:nvSpPr>
        <p:spPr>
          <a:xfrm>
            <a:off x="548640" y="5961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7 – Label e Botão (p. 12)</a:t>
            </a:r>
            <a:endParaRPr lang="en-US" sz="1050" dirty="0"/>
          </a:p>
        </p:txBody>
      </p:sp>
      <p:sp>
        <p:nvSpPr>
          <p:cNvPr id="7" name="seta"/>
          <p:cNvSpPr/>
          <p:nvPr/>
        </p:nvSpPr>
        <p:spPr>
          <a:xfrm>
            <a:off x="3657600" y="3657600"/>
            <a:ext cx="54864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moldura f08"/>
          <p:cNvSpPr/>
          <p:nvPr/>
        </p:nvSpPr>
        <p:spPr>
          <a:xfrm>
            <a:off x="4560531" y="1828800"/>
            <a:ext cx="2491817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figura f08" descr="Fig. 8 – propriedade Text (p. 1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683" y="1901952"/>
            <a:ext cx="2345513" cy="859536"/>
          </a:xfrm>
          <a:prstGeom prst="rect">
            <a:avLst/>
          </a:prstGeom>
        </p:spPr>
      </p:pic>
      <p:sp>
        <p:nvSpPr>
          <p:cNvPr id="10" name="legenda f08"/>
          <p:cNvSpPr txBox="1"/>
          <p:nvPr/>
        </p:nvSpPr>
        <p:spPr>
          <a:xfrm>
            <a:off x="429768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8 – propriedade Text (p. 13)</a:t>
            </a:r>
            <a:endParaRPr lang="en-US" sz="1050" dirty="0"/>
          </a:p>
        </p:txBody>
      </p:sp>
      <p:sp>
        <p:nvSpPr>
          <p:cNvPr id="11" name="moldura f09"/>
          <p:cNvSpPr/>
          <p:nvPr/>
        </p:nvSpPr>
        <p:spPr>
          <a:xfrm>
            <a:off x="4297680" y="3696854"/>
            <a:ext cx="3017520" cy="1293091"/>
          </a:xfrm>
          <a:prstGeom prst="roundRect">
            <a:avLst>
              <a:gd name="adj" fmla="val 56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figura f09" descr="Fig. 9 – ambos renomeados (p. 13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770006"/>
            <a:ext cx="2871216" cy="1146787"/>
          </a:xfrm>
          <a:prstGeom prst="rect">
            <a:avLst/>
          </a:prstGeom>
        </p:spPr>
      </p:pic>
      <p:sp>
        <p:nvSpPr>
          <p:cNvPr id="13" name="legenda f09"/>
          <p:cNvSpPr txBox="1"/>
          <p:nvPr/>
        </p:nvSpPr>
        <p:spPr>
          <a:xfrm>
            <a:off x="4297680" y="500823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9 – ambos renomeados (p. 13)</a:t>
            </a:r>
            <a:endParaRPr lang="en-US" sz="1050" dirty="0"/>
          </a:p>
        </p:txBody>
      </p:sp>
      <p:sp>
        <p:nvSpPr>
          <p:cNvPr id="14" name="lista"/>
          <p:cNvSpPr txBox="1"/>
          <p:nvPr/>
        </p:nvSpPr>
        <p:spPr>
          <a:xfrm>
            <a:off x="768096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Passo 2: </a:t>
            </a:r>
            <a:r>
              <a:rPr lang="en-US" sz="1600" dirty="0">
                <a:solidFill>
                  <a:schemeClr val="tx1"/>
                </a:solidFill>
              </a:rPr>
              <a:t>arraste BUTTON e LABEL para o Viewer.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Passo 3: </a:t>
            </a:r>
            <a:r>
              <a:rPr lang="en-US" sz="1600" dirty="0">
                <a:solidFill>
                  <a:schemeClr val="tx1"/>
                </a:solidFill>
              </a:rPr>
              <a:t>clique em cada um e altere a propriedade Text.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Botão: </a:t>
            </a:r>
            <a:r>
              <a:rPr lang="en-US" sz="1600" dirty="0">
                <a:solidFill>
                  <a:schemeClr val="tx1"/>
                </a:solidFill>
              </a:rPr>
              <a:t>"Clique aqui".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Label: </a:t>
            </a:r>
            <a:r>
              <a:rPr lang="en-US" sz="1600" dirty="0">
                <a:solidFill>
                  <a:schemeClr val="tx1"/>
                </a:solidFill>
              </a:rPr>
              <a:t>"Aguardando evento".</a:t>
            </a:r>
            <a:endParaRPr lang="en-US" sz="16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3, passos 2-3, Figs. 7, 8 e 9 (p. 12-13)</a:t>
            </a:r>
            <a:endParaRPr lang="en-US" sz="1050" dirty="0"/>
          </a:p>
        </p:txBody>
      </p:sp>
      <p:sp>
        <p:nvSpPr>
          <p:cNvPr id="16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Passos 4 e 5: o primeiro bloco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Quando o botão é clicado, faça: mude o texto da label</a:t>
            </a:r>
            <a:endParaRPr lang="en-US" sz="1600" dirty="0"/>
          </a:p>
        </p:txBody>
      </p:sp>
      <p:sp>
        <p:nvSpPr>
          <p:cNvPr id="4" name="moldura f11"/>
          <p:cNvSpPr/>
          <p:nvPr/>
        </p:nvSpPr>
        <p:spPr>
          <a:xfrm>
            <a:off x="621311" y="1417320"/>
            <a:ext cx="5889699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1" descr="Fig. 11 – Lógica, controle e texto (apostila, p. 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63" y="1490472"/>
            <a:ext cx="5743395" cy="1865376"/>
          </a:xfrm>
          <a:prstGeom prst="rect">
            <a:avLst/>
          </a:prstGeom>
        </p:spPr>
      </p:pic>
      <p:sp>
        <p:nvSpPr>
          <p:cNvPr id="6" name="legenda f11"/>
          <p:cNvSpPr txBox="1"/>
          <p:nvPr/>
        </p:nvSpPr>
        <p:spPr>
          <a:xfrm>
            <a:off x="548640" y="3447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11 – Lógica, controle e texto (apostila, p. 13)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Diagrama recriado a partir da Fig. 11 (não é captura do software)</a:t>
            </a:r>
            <a:endParaRPr lang="en-US" sz="1100" dirty="0"/>
          </a:p>
        </p:txBody>
      </p:sp>
      <p:sp>
        <p:nvSpPr>
          <p:cNvPr id="8" name="bloco when Button1.Click"/>
          <p:cNvSpPr/>
          <p:nvPr/>
        </p:nvSpPr>
        <p:spPr>
          <a:xfrm>
            <a:off x="548640" y="4251960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B58B2B"/>
          </a:solidFill>
          <a:ln w="12700">
            <a:solidFill>
              <a:srgbClr val="B58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when Button1.Click</a:t>
            </a:r>
            <a:endParaRPr lang="en-US" sz="1400" dirty="0"/>
          </a:p>
        </p:txBody>
      </p:sp>
      <p:sp>
        <p:nvSpPr>
          <p:cNvPr id="10" name="bloco set Label1.Text to"/>
          <p:cNvSpPr/>
          <p:nvPr/>
        </p:nvSpPr>
        <p:spPr>
          <a:xfrm>
            <a:off x="914400" y="48463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2F6E46"/>
          </a:solidFill>
          <a:ln w="12700">
            <a:solidFill>
              <a:srgbClr val="2F6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91440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set Label1.Text to</a:t>
            </a:r>
            <a:endParaRPr lang="en-US" sz="1400" dirty="0"/>
          </a:p>
        </p:txBody>
      </p:sp>
      <p:sp>
        <p:nvSpPr>
          <p:cNvPr id="12" name="bloco &quot;Hello World&quot;"/>
          <p:cNvSpPr/>
          <p:nvPr/>
        </p:nvSpPr>
        <p:spPr>
          <a:xfrm>
            <a:off x="3566160" y="484632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356616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"Hello World"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8B2B"/>
                </a:solidFill>
              </a:rPr>
              <a:t>dourado</a:t>
            </a:r>
            <a:r>
              <a:rPr lang="en-US" sz="1300" dirty="0">
                <a:solidFill>
                  <a:srgbClr val="000000"/>
                </a:solidFill>
              </a:rPr>
              <a:t> = estrutura de controle (evento)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790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46"/>
                </a:solidFill>
              </a:rPr>
              <a:t>verde</a:t>
            </a:r>
            <a:r>
              <a:rPr lang="en-US" sz="1300" dirty="0">
                <a:solidFill>
                  <a:srgbClr val="000000"/>
                </a:solidFill>
              </a:rPr>
              <a:t> = lógica (ação)   </a:t>
            </a:r>
            <a:r>
              <a:rPr lang="en-US" sz="1300" b="1" dirty="0">
                <a:solidFill>
                  <a:srgbClr val="B03A6A"/>
                </a:solidFill>
              </a:rPr>
              <a:t>roxo</a:t>
            </a:r>
            <a:r>
              <a:rPr lang="en-US" sz="1300" dirty="0">
                <a:solidFill>
                  <a:srgbClr val="000000"/>
                </a:solidFill>
              </a:rPr>
              <a:t> = texto apresentado</a:t>
            </a:r>
            <a:endParaRPr lang="en-US" sz="1300" dirty="0"/>
          </a:p>
        </p:txBody>
      </p:sp>
      <p:sp>
        <p:nvSpPr>
          <p:cNvPr id="16" name="lista"/>
          <p:cNvSpPr txBox="1"/>
          <p:nvPr/>
        </p:nvSpPr>
        <p:spPr>
          <a:xfrm>
            <a:off x="6858000" y="1508760"/>
            <a:ext cx="48006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Passo 4: </a:t>
            </a:r>
            <a:r>
              <a:rPr lang="en-US" sz="1500" dirty="0">
                <a:solidFill>
                  <a:schemeClr val="tx1"/>
                </a:solidFill>
              </a:rPr>
              <a:t>clique em BLOCKS (canto direito superior).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Passo 5: </a:t>
            </a:r>
            <a:r>
              <a:rPr lang="en-US" sz="1500" dirty="0">
                <a:solidFill>
                  <a:schemeClr val="tx1"/>
                </a:solidFill>
              </a:rPr>
              <a:t>monte a lógica com três estruturas, nomeadas pela apostila por cor.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Leitura do bloco: </a:t>
            </a:r>
            <a:r>
              <a:rPr lang="en-US" sz="1500" dirty="0">
                <a:solidFill>
                  <a:schemeClr val="tx1"/>
                </a:solidFill>
              </a:rPr>
              <a:t>"quando Button1 for clicado, faça: defina Label1.Text como 'Hello World'".</a:t>
            </a:r>
            <a:endParaRPr lang="en-US" sz="1500" dirty="0"/>
          </a:p>
        </p:txBody>
      </p:sp>
      <p:sp>
        <p:nvSpPr>
          <p:cNvPr id="17" name="destaque Analogia com Automação (pedagógica)"/>
          <p:cNvSpPr/>
          <p:nvPr/>
        </p:nvSpPr>
        <p:spPr>
          <a:xfrm>
            <a:off x="6858000" y="4251960"/>
            <a:ext cx="4800600" cy="1874520"/>
          </a:xfrm>
          <a:prstGeom prst="roundRect">
            <a:avLst>
              <a:gd name="adj" fmla="val 4878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7022592" y="4343400"/>
            <a:ext cx="44714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Analogia com Automação (pedagógica)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clique funciona como uma entrada que dispara a lógica; a mudança da label funciona como uma saída. O programa reage a eventos, em vez de executar de cima para baixo uma única vez.</a:t>
            </a:r>
            <a:endParaRPr lang="en-US" sz="1300" dirty="0"/>
          </a:p>
        </p:txBody>
      </p:sp>
      <p:sp>
        <p:nvSpPr>
          <p:cNvPr id="19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3, passos 4-5, Fig. 11 (p. 13)</a:t>
            </a:r>
            <a:endParaRPr lang="en-US" sz="1050" dirty="0"/>
          </a:p>
        </p:txBody>
      </p:sp>
      <p:sp>
        <p:nvSpPr>
          <p:cNvPr id="20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Passo 6: gerar o aplicativo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Build → .apk no computador ou QR code para o celular</a:t>
            </a:r>
            <a:endParaRPr lang="en-US" sz="1600" dirty="0"/>
          </a:p>
        </p:txBody>
      </p:sp>
      <p:sp>
        <p:nvSpPr>
          <p:cNvPr id="4" name="moldura f12"/>
          <p:cNvSpPr/>
          <p:nvPr/>
        </p:nvSpPr>
        <p:spPr>
          <a:xfrm>
            <a:off x="642395" y="1463040"/>
            <a:ext cx="493313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2" descr="Fig. 12 – Build .apk (apostila, p. 1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47" y="1536192"/>
            <a:ext cx="4786826" cy="2688336"/>
          </a:xfrm>
          <a:prstGeom prst="rect">
            <a:avLst/>
          </a:prstGeom>
        </p:spPr>
      </p:pic>
      <p:sp>
        <p:nvSpPr>
          <p:cNvPr id="6" name="legenda f12"/>
          <p:cNvSpPr txBox="1"/>
          <p:nvPr/>
        </p:nvSpPr>
        <p:spPr>
          <a:xfrm>
            <a:off x="548640" y="4315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12 – Build .apk (apostila, p. 14)</a:t>
            </a:r>
            <a:endParaRPr lang="en-US" sz="105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800600"/>
            <a:ext cx="69494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Build → App (save .apk to my computer): </a:t>
            </a:r>
            <a:r>
              <a:rPr lang="en-US" sz="1500" dirty="0">
                <a:solidFill>
                  <a:schemeClr val="tx1"/>
                </a:solidFill>
              </a:rPr>
              <a:t>baixa o arquivo instalável.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Build → App (Provide QR code for .apk): </a:t>
            </a:r>
            <a:r>
              <a:rPr lang="en-US" sz="1500" dirty="0">
                <a:solidFill>
                  <a:schemeClr val="tx1"/>
                </a:solidFill>
              </a:rPr>
              <a:t>gera um QR code para o celular.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escolha fica a critério de quem desenvolve.</a:t>
            </a:r>
            <a:endParaRPr lang="en-US" sz="1500" dirty="0"/>
          </a:p>
        </p:txBody>
      </p:sp>
      <p:sp>
        <p:nvSpPr>
          <p:cNvPr id="8" name="moldura f13"/>
          <p:cNvSpPr/>
          <p:nvPr/>
        </p:nvSpPr>
        <p:spPr>
          <a:xfrm>
            <a:off x="8446020" y="1463040"/>
            <a:ext cx="2584680" cy="4480560"/>
          </a:xfrm>
          <a:prstGeom prst="roundRect">
            <a:avLst>
              <a:gd name="adj" fmla="val 283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figura f13" descr="Fig. 13 – App Final (p. 1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172" y="1536192"/>
            <a:ext cx="2438376" cy="4334256"/>
          </a:xfrm>
          <a:prstGeom prst="rect">
            <a:avLst/>
          </a:prstGeom>
        </p:spPr>
      </p:pic>
      <p:sp>
        <p:nvSpPr>
          <p:cNvPr id="10" name="legenda f13"/>
          <p:cNvSpPr txBox="1"/>
          <p:nvPr/>
        </p:nvSpPr>
        <p:spPr>
          <a:xfrm>
            <a:off x="7863840" y="5961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13 – App Final (p. 14)</a:t>
            </a:r>
            <a:endParaRPr lang="en-US" sz="105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3, passo 6, Figs. 12 e 13 (p. 14)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Prática guiada: seu Hello World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Cada estudante reproduz o app e testa uma variação</a:t>
            </a:r>
            <a:endParaRPr lang="en-US" sz="1600" dirty="0"/>
          </a:p>
        </p:txBody>
      </p:sp>
      <p:sp>
        <p:nvSpPr>
          <p:cNvPr id="4" name="etapa 1"/>
          <p:cNvSpPr/>
          <p:nvPr/>
        </p:nvSpPr>
        <p:spPr>
          <a:xfrm>
            <a:off x="548640" y="1600200"/>
            <a:ext cx="20574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num etapa"/>
          <p:cNvSpPr/>
          <p:nvPr/>
        </p:nvSpPr>
        <p:spPr>
          <a:xfrm>
            <a:off x="1298448" y="137160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29844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Projects → Start New Project</a:t>
            </a:r>
            <a:endParaRPr lang="en-US" sz="1500" dirty="0"/>
          </a:p>
        </p:txBody>
      </p:sp>
      <p:sp>
        <p:nvSpPr>
          <p:cNvPr id="8" name="etapa 2"/>
          <p:cNvSpPr/>
          <p:nvPr/>
        </p:nvSpPr>
        <p:spPr>
          <a:xfrm>
            <a:off x="2807208" y="1600200"/>
            <a:ext cx="20574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num etapa"/>
          <p:cNvSpPr/>
          <p:nvPr/>
        </p:nvSpPr>
        <p:spPr>
          <a:xfrm>
            <a:off x="3557016" y="137160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55701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Arrastar Button e Label</a:t>
            </a:r>
            <a:endParaRPr lang="en-US" sz="1500" dirty="0"/>
          </a:p>
        </p:txBody>
      </p:sp>
      <p:sp>
        <p:nvSpPr>
          <p:cNvPr id="12" name="etapa 3"/>
          <p:cNvSpPr/>
          <p:nvPr/>
        </p:nvSpPr>
        <p:spPr>
          <a:xfrm>
            <a:off x="5065776" y="1600200"/>
            <a:ext cx="20574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num etapa"/>
          <p:cNvSpPr/>
          <p:nvPr/>
        </p:nvSpPr>
        <p:spPr>
          <a:xfrm>
            <a:off x="5815584" y="137160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81558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Ajustar Text em Properties</a:t>
            </a:r>
            <a:endParaRPr lang="en-US" sz="1500" dirty="0"/>
          </a:p>
        </p:txBody>
      </p:sp>
      <p:sp>
        <p:nvSpPr>
          <p:cNvPr id="16" name="etapa 4"/>
          <p:cNvSpPr/>
          <p:nvPr/>
        </p:nvSpPr>
        <p:spPr>
          <a:xfrm>
            <a:off x="7324344" y="1600200"/>
            <a:ext cx="20574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num etapa"/>
          <p:cNvSpPr/>
          <p:nvPr/>
        </p:nvSpPr>
        <p:spPr>
          <a:xfrm>
            <a:off x="8074152" y="137160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07415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34072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Montar o bloco no Blocks</a:t>
            </a:r>
            <a:endParaRPr lang="en-US" sz="1500" dirty="0"/>
          </a:p>
        </p:txBody>
      </p:sp>
      <p:sp>
        <p:nvSpPr>
          <p:cNvPr id="20" name="etapa 5"/>
          <p:cNvSpPr/>
          <p:nvPr/>
        </p:nvSpPr>
        <p:spPr>
          <a:xfrm>
            <a:off x="9582912" y="1600200"/>
            <a:ext cx="20574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num etapa"/>
          <p:cNvSpPr/>
          <p:nvPr/>
        </p:nvSpPr>
        <p:spPr>
          <a:xfrm>
            <a:off x="10332720" y="137160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103327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Build → QR code ou .apk</a:t>
            </a:r>
            <a:endParaRPr lang="en-US" sz="1500" dirty="0"/>
          </a:p>
        </p:txBody>
      </p:sp>
      <p:sp>
        <p:nvSpPr>
          <p:cNvPr id="24" name="destaque Desafio 1 · previsão"/>
          <p:cNvSpPr/>
          <p:nvPr/>
        </p:nvSpPr>
        <p:spPr>
          <a:xfrm>
            <a:off x="548640" y="3520440"/>
            <a:ext cx="5440680" cy="2560320"/>
          </a:xfrm>
          <a:prstGeom prst="roundRect">
            <a:avLst>
              <a:gd name="adj" fmla="val 3571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713232" y="3611880"/>
            <a:ext cx="51114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Desafio 1 · previsão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Troque "Hello World" pelo seu nome. Antes de testar, escreva: o que aparece ao abrir o app? E depois do clique?</a:t>
            </a:r>
            <a:endParaRPr lang="en-US" sz="1300" dirty="0"/>
          </a:p>
        </p:txBody>
      </p:sp>
      <p:sp>
        <p:nvSpPr>
          <p:cNvPr id="26" name="destaque Desafio 2 · interpretação"/>
          <p:cNvSpPr/>
          <p:nvPr/>
        </p:nvSpPr>
        <p:spPr>
          <a:xfrm>
            <a:off x="6199632" y="3520440"/>
            <a:ext cx="5440680" cy="2560320"/>
          </a:xfrm>
          <a:prstGeom prst="roundRect">
            <a:avLst>
              <a:gd name="adj" fmla="val 3571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6364224" y="3611880"/>
            <a:ext cx="51114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Desafio 2 · interpretação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Na Fig. 12 da apostila, o bloco usado é idêntico ao da Fig. 11. O que precisaria mudar para que o texto aparecesse no próprio botão em vez da label?</a:t>
            </a:r>
            <a:endParaRPr lang="en-US" sz="1300" dirty="0"/>
          </a:p>
        </p:txBody>
      </p:sp>
      <p:sp>
        <p:nvSpPr>
          <p:cNvPr id="2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procedimento da apostila, cap. 3 (p. 12-14); variação derivada</a:t>
            </a:r>
            <a:endParaRPr lang="en-US" sz="1050" dirty="0"/>
          </a:p>
        </p:txBody>
      </p:sp>
      <p:sp>
        <p:nvSpPr>
          <p:cNvPr id="2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8 min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Segundo app: Calcula Média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03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Várias caixas de texto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Variáveis globais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Expressões matemáticas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Botão para limpar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Condição if / else (exercício)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19 a 25 · 30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3.1 (p. 15-17) e exercício 1 (p. 18 e 77)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Design do Calcula Média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Quatro entradas, dois botões e uma saída</a:t>
            </a:r>
            <a:endParaRPr lang="en-US" sz="1600" dirty="0"/>
          </a:p>
        </p:txBody>
      </p:sp>
      <p:sp>
        <p:nvSpPr>
          <p:cNvPr id="4" name="moldura f15"/>
          <p:cNvSpPr/>
          <p:nvPr/>
        </p:nvSpPr>
        <p:spPr>
          <a:xfrm>
            <a:off x="686475" y="1463040"/>
            <a:ext cx="3016171" cy="4480560"/>
          </a:xfrm>
          <a:prstGeom prst="roundRect">
            <a:avLst>
              <a:gd name="adj" fmla="val 242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5" descr="Fig. 15 – Design 2 (apostila, p. 1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27" y="1536192"/>
            <a:ext cx="2869867" cy="4334256"/>
          </a:xfrm>
          <a:prstGeom prst="rect">
            <a:avLst/>
          </a:prstGeom>
        </p:spPr>
      </p:pic>
      <p:sp>
        <p:nvSpPr>
          <p:cNvPr id="6" name="legenda f15"/>
          <p:cNvSpPr txBox="1"/>
          <p:nvPr/>
        </p:nvSpPr>
        <p:spPr>
          <a:xfrm>
            <a:off x="548640" y="5961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15 – Design 2 (apostila, p. 15)</a:t>
            </a:r>
            <a:endParaRPr lang="en-US" sz="1050" dirty="0"/>
          </a:p>
        </p:txBody>
      </p:sp>
      <p:graphicFrame>
        <p:nvGraphicFramePr>
          <p:cNvPr id="2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554480"/>
          <a:ext cx="7406640" cy="25146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Função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Componente (nomes da Fig. 17)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Entrada das notas 1 a 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TextBox1 a TextBox4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Disparar o cálculo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Button1 (Calcular)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Limpar os campos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Button3 (Limpar)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Mostrar a média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Label5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3.1, passos 1-2, Fig. 15 (p. 15) e Fig. 17 (p. 16)</a:t>
            </a:r>
            <a:endParaRPr lang="en-US" sz="1050" dirty="0"/>
          </a:p>
        </p:txBody>
      </p:sp>
      <p:sp>
        <p:nvSpPr>
          <p:cNvPr id="1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Variáveis globais: a memória do app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Cinco variáveis criadas antes de qualquer evento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Diagrama recriado a partir da Fig. 17</a:t>
            </a:r>
            <a:endParaRPr lang="en-US" sz="1100" dirty="0"/>
          </a:p>
        </p:txBody>
      </p:sp>
      <p:sp>
        <p:nvSpPr>
          <p:cNvPr id="5" name="bloco initialize global n1 to"/>
          <p:cNvSpPr/>
          <p:nvPr/>
        </p:nvSpPr>
        <p:spPr>
          <a:xfrm>
            <a:off x="548640" y="182880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CF6230"/>
          </a:solidFill>
          <a:ln w="12700">
            <a:solidFill>
              <a:srgbClr val="CF62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initialize global n1 to</a:t>
            </a:r>
            <a:endParaRPr lang="en-US" sz="1400" dirty="0"/>
          </a:p>
        </p:txBody>
      </p:sp>
      <p:sp>
        <p:nvSpPr>
          <p:cNvPr id="7" name="bloco 0.0"/>
          <p:cNvSpPr/>
          <p:nvPr/>
        </p:nvSpPr>
        <p:spPr>
          <a:xfrm>
            <a:off x="3840480" y="182880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3F6FB0"/>
          </a:solidFill>
          <a:ln w="12700">
            <a:solidFill>
              <a:srgbClr val="3F6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84048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0.0</a:t>
            </a:r>
            <a:endParaRPr lang="en-US" sz="1400" dirty="0"/>
          </a:p>
        </p:txBody>
      </p:sp>
      <p:sp>
        <p:nvSpPr>
          <p:cNvPr id="9" name="bloco initialize global n2 to"/>
          <p:cNvSpPr/>
          <p:nvPr/>
        </p:nvSpPr>
        <p:spPr>
          <a:xfrm>
            <a:off x="548640" y="24688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CF6230"/>
          </a:solidFill>
          <a:ln w="12700">
            <a:solidFill>
              <a:srgbClr val="CF62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48640" y="2468880"/>
            <a:ext cx="32004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initialize global n2 to</a:t>
            </a:r>
            <a:endParaRPr lang="en-US" sz="1400" dirty="0"/>
          </a:p>
        </p:txBody>
      </p:sp>
      <p:sp>
        <p:nvSpPr>
          <p:cNvPr id="11" name="bloco 0.0"/>
          <p:cNvSpPr/>
          <p:nvPr/>
        </p:nvSpPr>
        <p:spPr>
          <a:xfrm>
            <a:off x="3840480" y="246888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3F6FB0"/>
          </a:solidFill>
          <a:ln w="12700">
            <a:solidFill>
              <a:srgbClr val="3F6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840480" y="2468880"/>
            <a:ext cx="8229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0.0</a:t>
            </a:r>
            <a:endParaRPr lang="en-US" sz="1400" dirty="0"/>
          </a:p>
        </p:txBody>
      </p:sp>
      <p:sp>
        <p:nvSpPr>
          <p:cNvPr id="13" name="bloco initialize global n3 to"/>
          <p:cNvSpPr/>
          <p:nvPr/>
        </p:nvSpPr>
        <p:spPr>
          <a:xfrm>
            <a:off x="548640" y="310896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CF6230"/>
          </a:solidFill>
          <a:ln w="12700">
            <a:solidFill>
              <a:srgbClr val="CF62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4864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initialize global n3 to</a:t>
            </a:r>
            <a:endParaRPr lang="en-US" sz="1400" dirty="0"/>
          </a:p>
        </p:txBody>
      </p:sp>
      <p:sp>
        <p:nvSpPr>
          <p:cNvPr id="15" name="bloco 0.0"/>
          <p:cNvSpPr/>
          <p:nvPr/>
        </p:nvSpPr>
        <p:spPr>
          <a:xfrm>
            <a:off x="3840480" y="310896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3F6FB0"/>
          </a:solidFill>
          <a:ln w="12700">
            <a:solidFill>
              <a:srgbClr val="3F6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384048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0.0</a:t>
            </a:r>
            <a:endParaRPr lang="en-US" sz="1400" dirty="0"/>
          </a:p>
        </p:txBody>
      </p:sp>
      <p:sp>
        <p:nvSpPr>
          <p:cNvPr id="17" name="bloco initialize global n4 to"/>
          <p:cNvSpPr/>
          <p:nvPr/>
        </p:nvSpPr>
        <p:spPr>
          <a:xfrm>
            <a:off x="548640" y="374904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CF6230"/>
          </a:solidFill>
          <a:ln w="12700">
            <a:solidFill>
              <a:srgbClr val="CF62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54864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initialize global n4 to</a:t>
            </a:r>
            <a:endParaRPr lang="en-US" sz="1400" dirty="0"/>
          </a:p>
        </p:txBody>
      </p:sp>
      <p:sp>
        <p:nvSpPr>
          <p:cNvPr id="19" name="bloco 0.0"/>
          <p:cNvSpPr/>
          <p:nvPr/>
        </p:nvSpPr>
        <p:spPr>
          <a:xfrm>
            <a:off x="3840480" y="374904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3F6FB0"/>
          </a:solidFill>
          <a:ln w="12700">
            <a:solidFill>
              <a:srgbClr val="3F6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3840480" y="3749040"/>
            <a:ext cx="8229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0.0</a:t>
            </a:r>
            <a:endParaRPr lang="en-US" sz="1400" dirty="0"/>
          </a:p>
        </p:txBody>
      </p:sp>
      <p:sp>
        <p:nvSpPr>
          <p:cNvPr id="21" name="bloco initialize global media to"/>
          <p:cNvSpPr/>
          <p:nvPr/>
        </p:nvSpPr>
        <p:spPr>
          <a:xfrm>
            <a:off x="548640" y="438912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CF6230"/>
          </a:solidFill>
          <a:ln w="12700">
            <a:solidFill>
              <a:srgbClr val="CF62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initialize global media to</a:t>
            </a:r>
            <a:endParaRPr lang="en-US" sz="1400" dirty="0"/>
          </a:p>
        </p:txBody>
      </p:sp>
      <p:sp>
        <p:nvSpPr>
          <p:cNvPr id="23" name="bloco 0"/>
          <p:cNvSpPr/>
          <p:nvPr/>
        </p:nvSpPr>
        <p:spPr>
          <a:xfrm>
            <a:off x="3840480" y="4389120"/>
            <a:ext cx="822960" cy="502920"/>
          </a:xfrm>
          <a:prstGeom prst="roundRect">
            <a:avLst>
              <a:gd name="adj" fmla="val 12727"/>
            </a:avLst>
          </a:prstGeom>
          <a:solidFill>
            <a:srgbClr val="3F6FB0"/>
          </a:solidFill>
          <a:ln w="12700">
            <a:solidFill>
              <a:srgbClr val="3F6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3840480" y="4389120"/>
            <a:ext cx="8229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25" name="lista"/>
          <p:cNvSpPr txBox="1"/>
          <p:nvPr/>
        </p:nvSpPr>
        <p:spPr>
          <a:xfrm>
            <a:off x="5212080" y="1554480"/>
            <a:ext cx="644652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Variável global: </a:t>
            </a:r>
            <a:r>
              <a:rPr lang="en-US" sz="1600" dirty="0">
                <a:solidFill>
                  <a:schemeClr val="tx1"/>
                </a:solidFill>
              </a:rPr>
              <a:t>existe fora dos eventos e pode ser lida e alterada por qualquer bloco do app.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Cada variável recebe um valor inicial: </a:t>
            </a:r>
            <a:r>
              <a:rPr lang="en-US" sz="1600" dirty="0">
                <a:solidFill>
                  <a:schemeClr val="tx1"/>
                </a:solidFill>
              </a:rPr>
              <a:t>0.0 para as notas e 0 para a média.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Nos blocos: </a:t>
            </a:r>
            <a:r>
              <a:rPr lang="en-US" sz="1600" dirty="0">
                <a:solidFill>
                  <a:schemeClr val="tx1"/>
                </a:solidFill>
              </a:rPr>
              <a:t>set global … to (gravar) e get global … (ler).</a:t>
            </a:r>
            <a:endParaRPr lang="en-US" sz="1600" dirty="0"/>
          </a:p>
        </p:txBody>
      </p:sp>
      <p:sp>
        <p:nvSpPr>
          <p:cNvPr id="26" name="destaque Analogia com Automação (pedagógica)"/>
          <p:cNvSpPr/>
          <p:nvPr/>
        </p:nvSpPr>
        <p:spPr>
          <a:xfrm>
            <a:off x="5212080" y="4572000"/>
            <a:ext cx="6446520" cy="1554480"/>
          </a:xfrm>
          <a:prstGeom prst="roundRect">
            <a:avLst>
              <a:gd name="adj" fmla="val 5882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5376672" y="4663440"/>
            <a:ext cx="6117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Analogia com Automação (pedagógica)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Funcionam como posições de memória de um controlador: guardam valores que a lógica lê e escreve durante a execução.</a:t>
            </a:r>
            <a:endParaRPr lang="en-US" sz="1300" dirty="0"/>
          </a:p>
        </p:txBody>
      </p:sp>
      <p:sp>
        <p:nvSpPr>
          <p:cNvPr id="2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3.1, passo 5, Fig. 17 – destaque "Variáveis globais" (p. 16)</a:t>
            </a:r>
            <a:endParaRPr lang="en-US" sz="1050" dirty="0"/>
          </a:p>
        </p:txBody>
      </p:sp>
      <p:sp>
        <p:nvSpPr>
          <p:cNvPr id="2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Estrutura lógica do botão Calcular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Ler as entradas, calcular e escrever a saída</a:t>
            </a:r>
            <a:endParaRPr lang="en-US" sz="1600" dirty="0"/>
          </a:p>
        </p:txBody>
      </p:sp>
      <p:sp>
        <p:nvSpPr>
          <p:cNvPr id="4" name="moldura f17"/>
          <p:cNvSpPr/>
          <p:nvPr/>
        </p:nvSpPr>
        <p:spPr>
          <a:xfrm>
            <a:off x="548640" y="1473470"/>
            <a:ext cx="6583680" cy="4413979"/>
          </a:xfrm>
          <a:prstGeom prst="roundRect">
            <a:avLst>
              <a:gd name="adj" fmla="val 16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7" descr="Fig. 17 – Codificação em blocos (apostila, p. 1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46622"/>
            <a:ext cx="6437376" cy="4267675"/>
          </a:xfrm>
          <a:prstGeom prst="rect">
            <a:avLst/>
          </a:prstGeom>
        </p:spPr>
      </p:pic>
      <p:sp>
        <p:nvSpPr>
          <p:cNvPr id="6" name="legenda f17"/>
          <p:cNvSpPr txBox="1"/>
          <p:nvPr/>
        </p:nvSpPr>
        <p:spPr>
          <a:xfrm>
            <a:off x="548640" y="590573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17 – Codificação em blocos (apostila, p. 16)</a:t>
            </a:r>
            <a:endParaRPr lang="en-US" sz="1050" dirty="0"/>
          </a:p>
        </p:txBody>
      </p:sp>
      <p:sp>
        <p:nvSpPr>
          <p:cNvPr id="7" name="cartao Ler"/>
          <p:cNvSpPr/>
          <p:nvPr/>
        </p:nvSpPr>
        <p:spPr>
          <a:xfrm>
            <a:off x="7406640" y="1554480"/>
            <a:ext cx="42336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elo Ler"/>
          <p:cNvSpPr/>
          <p:nvPr/>
        </p:nvSpPr>
        <p:spPr>
          <a:xfrm>
            <a:off x="7589520" y="1737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7589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1719072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2359152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global n1…n4 to TextBox1…4.Text</a:t>
            </a:r>
            <a:endParaRPr lang="en-US" sz="1400" dirty="0"/>
          </a:p>
        </p:txBody>
      </p:sp>
      <p:sp>
        <p:nvSpPr>
          <p:cNvPr id="12" name="cartao Calcular"/>
          <p:cNvSpPr/>
          <p:nvPr/>
        </p:nvSpPr>
        <p:spPr>
          <a:xfrm>
            <a:off x="7406640" y="3127248"/>
            <a:ext cx="42336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elo Calcular"/>
          <p:cNvSpPr/>
          <p:nvPr/>
        </p:nvSpPr>
        <p:spPr>
          <a:xfrm>
            <a:off x="7589520" y="3310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758952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29184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Calcular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393192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global media to (n1 + n2 + n3 + n4) / 4</a:t>
            </a:r>
            <a:endParaRPr lang="en-US" sz="1400" dirty="0"/>
          </a:p>
        </p:txBody>
      </p:sp>
      <p:sp>
        <p:nvSpPr>
          <p:cNvPr id="17" name="cartao Mostrar"/>
          <p:cNvSpPr/>
          <p:nvPr/>
        </p:nvSpPr>
        <p:spPr>
          <a:xfrm>
            <a:off x="7406640" y="4700016"/>
            <a:ext cx="423367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elo Mostrar"/>
          <p:cNvSpPr/>
          <p:nvPr/>
        </p:nvSpPr>
        <p:spPr>
          <a:xfrm>
            <a:off x="7589520" y="488289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758952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86460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Mostrar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5504688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 Label5.Text to get global media</a:t>
            </a:r>
            <a:endParaRPr lang="en-US" sz="1400" dirty="0"/>
          </a:p>
        </p:txBody>
      </p:sp>
      <p:sp>
        <p:nvSpPr>
          <p:cNvPr id="2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3.1, Fig. 17 – destaque "Estrutura lógica" (p. 16)</a:t>
            </a:r>
            <a:endParaRPr lang="en-US" sz="1050" dirty="0"/>
          </a:p>
        </p:txBody>
      </p:sp>
      <p:sp>
        <p:nvSpPr>
          <p:cNvPr id="2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Limpar e testar: teste de mesa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Simule a execução antes de tocar no celular</a:t>
            </a:r>
            <a:endParaRPr lang="en-US" sz="1600" dirty="0"/>
          </a:p>
        </p:txBody>
      </p:sp>
      <p:sp>
        <p:nvSpPr>
          <p:cNvPr id="4" name="moldura f18"/>
          <p:cNvSpPr/>
          <p:nvPr/>
        </p:nvSpPr>
        <p:spPr>
          <a:xfrm>
            <a:off x="581462" y="1463040"/>
            <a:ext cx="2586117" cy="4480560"/>
          </a:xfrm>
          <a:prstGeom prst="roundRect">
            <a:avLst>
              <a:gd name="adj" fmla="val 28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8" descr="Fig. 18 – App pronto (p. 1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14" y="1536192"/>
            <a:ext cx="2439813" cy="4334256"/>
          </a:xfrm>
          <a:prstGeom prst="rect">
            <a:avLst/>
          </a:prstGeom>
        </p:spPr>
      </p:pic>
      <p:sp>
        <p:nvSpPr>
          <p:cNvPr id="6" name="legenda f18"/>
          <p:cNvSpPr txBox="1"/>
          <p:nvPr/>
        </p:nvSpPr>
        <p:spPr>
          <a:xfrm>
            <a:off x="548640" y="5961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18 – App pronto (p. 17)</a:t>
            </a:r>
            <a:endParaRPr lang="en-US" sz="1050" dirty="0"/>
          </a:p>
        </p:txBody>
      </p:sp>
      <p:graphicFrame>
        <p:nvGraphicFramePr>
          <p:cNvPr id="2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554480"/>
          <a:ext cx="818388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Passo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n1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media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Label5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Início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Ler notas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Calcular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Mostrar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destaque Botão Limpar (Button3)"/>
          <p:cNvSpPr/>
          <p:nvPr/>
        </p:nvSpPr>
        <p:spPr>
          <a:xfrm>
            <a:off x="3474720" y="4114800"/>
            <a:ext cx="3977640" cy="2011680"/>
          </a:xfrm>
          <a:prstGeom prst="roundRect">
            <a:avLst>
              <a:gd name="adj" fmla="val 4545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 txBox="1"/>
          <p:nvPr/>
        </p:nvSpPr>
        <p:spPr>
          <a:xfrm>
            <a:off x="3639312" y="4206240"/>
            <a:ext cx="3648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Botão Limpar (Button3)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Define o texto de TextBox1 a TextBox4 como vazio e o de Label5 como "0.0".</a:t>
            </a:r>
            <a:endParaRPr lang="en-US" sz="1300" dirty="0"/>
          </a:p>
        </p:txBody>
      </p:sp>
      <p:sp>
        <p:nvSpPr>
          <p:cNvPr id="10" name="destaque Complete as interrogações"/>
          <p:cNvSpPr/>
          <p:nvPr/>
        </p:nvSpPr>
        <p:spPr>
          <a:xfrm>
            <a:off x="7680960" y="4114800"/>
            <a:ext cx="3977640" cy="2011680"/>
          </a:xfrm>
          <a:prstGeom prst="roundRect">
            <a:avLst>
              <a:gd name="adj" fmla="val 4545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7845552" y="4206240"/>
            <a:ext cx="36484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Complete as interrogações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as notas da Fig. 18 (4, 9, 9 e 2). Depois confira com a tela da apostila.</a:t>
            </a:r>
            <a:endParaRPr lang="en-US" sz="13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3.1, Fig. 17 – "Estrutura para limpar" (p. 16) e Fig. 18 (p. 17)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Prática: Aprovado ou Reprovado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Exercício básico 1: acrescente uma decisão ao Calcula Média</a:t>
            </a:r>
            <a:endParaRPr lang="en-US" sz="1600" dirty="0"/>
          </a:p>
        </p:txBody>
      </p:sp>
      <p:sp>
        <p:nvSpPr>
          <p:cNvPr id="4" name="destaque Enunciado (apostila)"/>
          <p:cNvSpPr/>
          <p:nvPr/>
        </p:nvSpPr>
        <p:spPr>
          <a:xfrm>
            <a:off x="548640" y="1554480"/>
            <a:ext cx="11091672" cy="1234440"/>
          </a:xfrm>
          <a:prstGeom prst="roundRect">
            <a:avLst>
              <a:gd name="adj" fmla="val 7407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13232" y="1645920"/>
            <a:ext cx="10762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Enunciado (apostila)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Desenvolva um aplicativo que calcule a média de um aluno; caso a média seja maior que 6, deverá aparecer a mensagem "Aluno Aprovado" e, se for menor, "Aluno reprovado".</a:t>
            </a:r>
            <a:endParaRPr lang="en-US" sz="1300" dirty="0"/>
          </a:p>
        </p:txBody>
      </p:sp>
      <p:sp>
        <p:nvSpPr>
          <p:cNvPr id="6" name="cartao Reaproveite"/>
          <p:cNvSpPr/>
          <p:nvPr/>
        </p:nvSpPr>
        <p:spPr>
          <a:xfrm>
            <a:off x="548640" y="301752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elo Reaproveite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821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Reaproveite</a:t>
            </a:r>
            <a:endParaRPr lang="en-US" sz="1700" dirty="0"/>
          </a:p>
        </p:txBody>
      </p:sp>
      <p:sp>
        <p:nvSpPr>
          <p:cNvPr id="10" name="lista"/>
          <p:cNvSpPr txBox="1"/>
          <p:nvPr/>
        </p:nvSpPr>
        <p:spPr>
          <a:xfrm>
            <a:off x="731520" y="3822192"/>
            <a:ext cx="32004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Design do slide 20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Variáveis do slide 21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Cálculo do slide 22</a:t>
            </a:r>
            <a:endParaRPr lang="en-US" sz="1500" dirty="0"/>
          </a:p>
        </p:txBody>
      </p:sp>
      <p:sp>
        <p:nvSpPr>
          <p:cNvPr id="11" name="cartao Acrescente"/>
          <p:cNvSpPr/>
          <p:nvPr/>
        </p:nvSpPr>
        <p:spPr>
          <a:xfrm>
            <a:off x="4315968" y="301752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elo Acrescente"/>
          <p:cNvSpPr/>
          <p:nvPr/>
        </p:nvSpPr>
        <p:spPr>
          <a:xfrm>
            <a:off x="4498848" y="32004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49884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31821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Acrescente</a:t>
            </a:r>
            <a:endParaRPr lang="en-US" sz="1700" dirty="0"/>
          </a:p>
        </p:txBody>
      </p:sp>
      <p:sp>
        <p:nvSpPr>
          <p:cNvPr id="15" name="lista"/>
          <p:cNvSpPr txBox="1"/>
          <p:nvPr/>
        </p:nvSpPr>
        <p:spPr>
          <a:xfrm>
            <a:off x="4498848" y="3822192"/>
            <a:ext cx="32004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bloco if / else depois do cálculo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comparação entre media e 6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texto diferente em cada ramo</a:t>
            </a:r>
            <a:endParaRPr lang="en-US" sz="1500" dirty="0"/>
          </a:p>
        </p:txBody>
      </p:sp>
      <p:sp>
        <p:nvSpPr>
          <p:cNvPr id="16" name="cartao Antes de testar"/>
          <p:cNvSpPr/>
          <p:nvPr/>
        </p:nvSpPr>
        <p:spPr>
          <a:xfrm>
            <a:off x="8083296" y="3017520"/>
            <a:ext cx="35661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elo Antes de testar"/>
          <p:cNvSpPr/>
          <p:nvPr/>
        </p:nvSpPr>
        <p:spPr>
          <a:xfrm>
            <a:off x="8266176" y="320040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266176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06256" y="31821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Antes de testar</a:t>
            </a:r>
            <a:endParaRPr lang="en-US" sz="1700" dirty="0"/>
          </a:p>
        </p:txBody>
      </p:sp>
      <p:sp>
        <p:nvSpPr>
          <p:cNvPr id="20" name="lista"/>
          <p:cNvSpPr txBox="1"/>
          <p:nvPr/>
        </p:nvSpPr>
        <p:spPr>
          <a:xfrm>
            <a:off x="8266176" y="3822192"/>
            <a:ext cx="32004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 se a média for exatamente 6?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enunciado decide esse caso?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Escolha e justifique</a:t>
            </a:r>
            <a:endParaRPr lang="en-US" sz="1500" dirty="0"/>
          </a:p>
        </p:txBody>
      </p:sp>
      <p:sp>
        <p:nvSpPr>
          <p:cNvPr id="2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4, exercício 1 (p. 18)</a:t>
            </a:r>
            <a:endParaRPr lang="en-US" sz="1050" dirty="0"/>
          </a:p>
        </p:txBody>
      </p:sp>
      <p:sp>
        <p:nvSpPr>
          <p:cNvPr id="2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10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Gabarito do exercício 1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if media ≥ 6 → "APROVADO" em verde; senão → "REPROVADO" em vermelho</a:t>
            </a:r>
            <a:endParaRPr lang="en-US" sz="1600" dirty="0"/>
          </a:p>
        </p:txBody>
      </p:sp>
      <p:sp>
        <p:nvSpPr>
          <p:cNvPr id="4" name="moldura a1"/>
          <p:cNvSpPr/>
          <p:nvPr/>
        </p:nvSpPr>
        <p:spPr>
          <a:xfrm>
            <a:off x="606134" y="1417320"/>
            <a:ext cx="774885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a1" descr="Blocos do exercício 1 (apostila, Anexo, p. 7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86" y="1490472"/>
            <a:ext cx="7602548" cy="2871216"/>
          </a:xfrm>
          <a:prstGeom prst="rect">
            <a:avLst/>
          </a:prstGeom>
        </p:spPr>
      </p:pic>
      <p:sp>
        <p:nvSpPr>
          <p:cNvPr id="6" name="legenda a1"/>
          <p:cNvSpPr txBox="1"/>
          <p:nvPr/>
        </p:nvSpPr>
        <p:spPr>
          <a:xfrm>
            <a:off x="548640" y="44531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Blocos do exercício 1 (apostila, Anexo, p. 77)</a:t>
            </a:r>
            <a:endParaRPr lang="en-US" sz="1050" dirty="0"/>
          </a:p>
        </p:txBody>
      </p:sp>
      <p:sp>
        <p:nvSpPr>
          <p:cNvPr id="7" name="moldura a1app"/>
          <p:cNvSpPr/>
          <p:nvPr/>
        </p:nvSpPr>
        <p:spPr>
          <a:xfrm>
            <a:off x="8686800" y="1492435"/>
            <a:ext cx="2926080" cy="437605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a1app" descr="Tela do exercício 1 (p. 7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1565587"/>
            <a:ext cx="2779776" cy="4229746"/>
          </a:xfrm>
          <a:prstGeom prst="rect">
            <a:avLst/>
          </a:prstGeom>
        </p:spPr>
      </p:pic>
      <p:sp>
        <p:nvSpPr>
          <p:cNvPr id="9" name="legenda a1app"/>
          <p:cNvSpPr txBox="1"/>
          <p:nvPr/>
        </p:nvSpPr>
        <p:spPr>
          <a:xfrm>
            <a:off x="8686800" y="5886773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Tela do exercício 1 (p. 77)</a:t>
            </a:r>
            <a:endParaRPr lang="en-US" sz="1050" dirty="0"/>
          </a:p>
        </p:txBody>
      </p:sp>
      <p:sp>
        <p:nvSpPr>
          <p:cNvPr id="10" name="lista"/>
          <p:cNvSpPr txBox="1"/>
          <p:nvPr/>
        </p:nvSpPr>
        <p:spPr>
          <a:xfrm>
            <a:off x="548640" y="4937760"/>
            <a:ext cx="786384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Variáveis renomeadas: </a:t>
            </a:r>
            <a:r>
              <a:rPr lang="en-US" sz="1400" dirty="0">
                <a:solidFill>
                  <a:schemeClr val="tx1"/>
                </a:solidFill>
              </a:rPr>
              <a:t>nota1…nota4 e media; componentes com nomes descritivos (TextBoxNota1, LabelMedia).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join junta o texto "APROVADO" ou "REPROVADO" com o valor da média.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TextColor muda a cor do resultado: </a:t>
            </a:r>
            <a:r>
              <a:rPr lang="en-US" sz="1400" dirty="0">
                <a:solidFill>
                  <a:schemeClr val="tx1"/>
                </a:solidFill>
              </a:rPr>
              <a:t>verde ou vermelho.</a:t>
            </a:r>
            <a:endParaRPr lang="en-US" sz="14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Anexo – Lista básica, exercício 1 (p. 77)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Decisões, telas e mídia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04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Condições com imagens (Etanol x Gasolina)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Várias telas (Lei de Ohm)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Laço while e análise crítica (Número triangular)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Componentes de som, fala, tradução e web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26 a 32 · 24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4 (p. 18-19) e Anexo (p. 77-95)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Etanol ou gasolina? O problema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etanol compensa se custar até 70% do preço da gasolina</a:t>
            </a:r>
            <a:endParaRPr lang="en-US" sz="1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508760"/>
            <a:ext cx="658368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Contexto: </a:t>
            </a:r>
            <a:r>
              <a:rPr lang="en-US" sz="1700" dirty="0">
                <a:solidFill>
                  <a:schemeClr val="tx1"/>
                </a:solidFill>
              </a:rPr>
              <a:t>carros flex permitem escolher entre etanol e gasolina.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Regra: </a:t>
            </a:r>
            <a:r>
              <a:rPr lang="en-US" sz="1700" dirty="0">
                <a:solidFill>
                  <a:schemeClr val="tx1"/>
                </a:solidFill>
              </a:rPr>
              <a:t>o etanol é vantajoso se o litro custar até 70% do litro da gasolina.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Motivo citado: </a:t>
            </a:r>
            <a:r>
              <a:rPr lang="en-US" sz="1700" dirty="0">
                <a:solidFill>
                  <a:schemeClr val="tx1"/>
                </a:solidFill>
              </a:rPr>
              <a:t>motores com etanol consomem, em média, 30% a mais.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Lógica pedida: </a:t>
            </a:r>
            <a:r>
              <a:rPr lang="en-US" sz="1700" dirty="0">
                <a:solidFill>
                  <a:schemeClr val="tx1"/>
                </a:solidFill>
              </a:rPr>
              <a:t>comparar os dois valores com uma estrutura condicional if else.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Cálculo: </a:t>
            </a:r>
            <a:r>
              <a:rPr lang="en-US" sz="1700" dirty="0">
                <a:solidFill>
                  <a:schemeClr val="tx1"/>
                </a:solidFill>
              </a:rPr>
              <a:t>multiplicar o preço da gasolina por 0.7.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Saída: </a:t>
            </a:r>
            <a:r>
              <a:rPr lang="en-US" sz="1700" dirty="0">
                <a:solidFill>
                  <a:schemeClr val="tx1"/>
                </a:solidFill>
              </a:rPr>
              <a:t>trocar a imagem para indicar o combustível mais vantajoso.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Fluxo recriado a partir do enunciado</a:t>
            </a:r>
            <a:endParaRPr lang="en-US" sz="1100" dirty="0"/>
          </a:p>
        </p:txBody>
      </p:sp>
      <p:sp>
        <p:nvSpPr>
          <p:cNvPr id="6" name="bloco Ler preço etanol e gasolina"/>
          <p:cNvSpPr/>
          <p:nvPr/>
        </p:nvSpPr>
        <p:spPr>
          <a:xfrm>
            <a:off x="7498080" y="182880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2F6E46"/>
          </a:solidFill>
          <a:ln w="12700">
            <a:solidFill>
              <a:srgbClr val="2F6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49808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Ler preço etanol e gasolina</a:t>
            </a:r>
            <a:endParaRPr lang="en-US" sz="1400" dirty="0"/>
          </a:p>
        </p:txBody>
      </p:sp>
      <p:sp>
        <p:nvSpPr>
          <p:cNvPr id="8" name="seta"/>
          <p:cNvSpPr/>
          <p:nvPr/>
        </p:nvSpPr>
        <p:spPr>
          <a:xfrm>
            <a:off x="9555480" y="2377440"/>
            <a:ext cx="914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bloco limite = gasolina × 0.7"/>
          <p:cNvSpPr/>
          <p:nvPr/>
        </p:nvSpPr>
        <p:spPr>
          <a:xfrm>
            <a:off x="7498080" y="269748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3F6FB0"/>
          </a:solidFill>
          <a:ln w="12700">
            <a:solidFill>
              <a:srgbClr val="3F6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7498080" y="2697480"/>
            <a:ext cx="4114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limite = gasolina × 0.7</a:t>
            </a:r>
            <a:endParaRPr lang="en-US" sz="1400" dirty="0"/>
          </a:p>
        </p:txBody>
      </p:sp>
      <p:sp>
        <p:nvSpPr>
          <p:cNvPr id="11" name="seta"/>
          <p:cNvSpPr/>
          <p:nvPr/>
        </p:nvSpPr>
        <p:spPr>
          <a:xfrm>
            <a:off x="9555480" y="3246120"/>
            <a:ext cx="914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bloco Comparar limite e etanol"/>
          <p:cNvSpPr/>
          <p:nvPr/>
        </p:nvSpPr>
        <p:spPr>
          <a:xfrm>
            <a:off x="7498080" y="356616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B58B2B"/>
          </a:solidFill>
          <a:ln w="12700">
            <a:solidFill>
              <a:srgbClr val="B58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498080" y="3566160"/>
            <a:ext cx="4114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Comparar limite e etanol</a:t>
            </a:r>
            <a:endParaRPr lang="en-US" sz="1400" dirty="0"/>
          </a:p>
        </p:txBody>
      </p:sp>
      <p:sp>
        <p:nvSpPr>
          <p:cNvPr id="14" name="seta"/>
          <p:cNvSpPr/>
          <p:nvPr/>
        </p:nvSpPr>
        <p:spPr>
          <a:xfrm>
            <a:off x="8503920" y="4114800"/>
            <a:ext cx="914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ta"/>
          <p:cNvSpPr/>
          <p:nvPr/>
        </p:nvSpPr>
        <p:spPr>
          <a:xfrm>
            <a:off x="10607040" y="4114800"/>
            <a:ext cx="914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bloco imagem A"/>
          <p:cNvSpPr/>
          <p:nvPr/>
        </p:nvSpPr>
        <p:spPr>
          <a:xfrm>
            <a:off x="7498080" y="452628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49808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imagem A</a:t>
            </a:r>
            <a:endParaRPr lang="en-US" sz="1400" dirty="0"/>
          </a:p>
        </p:txBody>
      </p:sp>
      <p:sp>
        <p:nvSpPr>
          <p:cNvPr id="18" name="bloco imagem B"/>
          <p:cNvSpPr/>
          <p:nvPr/>
        </p:nvSpPr>
        <p:spPr>
          <a:xfrm>
            <a:off x="9646920" y="452628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964692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imagem 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5486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Qual imagem vai em cada ramo? Decida antes do próximo slide.</a:t>
            </a:r>
            <a:endParaRPr lang="en-US" sz="1400" dirty="0"/>
          </a:p>
        </p:txBody>
      </p:sp>
      <p:sp>
        <p:nvSpPr>
          <p:cNvPr id="2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4, exercício 8 (p. 18)</a:t>
            </a:r>
            <a:endParaRPr lang="en-US" sz="1050" dirty="0"/>
          </a:p>
        </p:txBody>
      </p:sp>
      <p:sp>
        <p:nvSpPr>
          <p:cNvPr id="2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Etanol ou gasolina? O gabarito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Uma condição decide qual imagem aparece</a:t>
            </a:r>
            <a:endParaRPr lang="en-US" sz="1600" dirty="0"/>
          </a:p>
        </p:txBody>
      </p:sp>
      <p:sp>
        <p:nvSpPr>
          <p:cNvPr id="4" name="moldura a8"/>
          <p:cNvSpPr/>
          <p:nvPr/>
        </p:nvSpPr>
        <p:spPr>
          <a:xfrm>
            <a:off x="648133" y="1417320"/>
            <a:ext cx="6567573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a8" descr="Blocos do exercício 8 (apostila, Anexo, p. 8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85" y="1490472"/>
            <a:ext cx="6421269" cy="3511296"/>
          </a:xfrm>
          <a:prstGeom prst="rect">
            <a:avLst/>
          </a:prstGeom>
        </p:spPr>
      </p:pic>
      <p:sp>
        <p:nvSpPr>
          <p:cNvPr id="6" name="legenda a8"/>
          <p:cNvSpPr txBox="1"/>
          <p:nvPr/>
        </p:nvSpPr>
        <p:spPr>
          <a:xfrm>
            <a:off x="548640" y="50932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Blocos do exercício 8 (apostila, Anexo, p. 84)</a:t>
            </a:r>
            <a:endParaRPr lang="en-US" sz="1050" dirty="0"/>
          </a:p>
        </p:txBody>
      </p:sp>
      <p:sp>
        <p:nvSpPr>
          <p:cNvPr id="7" name="moldura a8app"/>
          <p:cNvSpPr/>
          <p:nvPr/>
        </p:nvSpPr>
        <p:spPr>
          <a:xfrm>
            <a:off x="7617371" y="1417320"/>
            <a:ext cx="2047418" cy="2834640"/>
          </a:xfrm>
          <a:prstGeom prst="roundRect">
            <a:avLst>
              <a:gd name="adj" fmla="val 35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a8app" descr="Tela (p. 8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523" y="1490472"/>
            <a:ext cx="1901114" cy="2688336"/>
          </a:xfrm>
          <a:prstGeom prst="rect">
            <a:avLst/>
          </a:prstGeom>
        </p:spPr>
      </p:pic>
      <p:sp>
        <p:nvSpPr>
          <p:cNvPr id="9" name="legenda a8app"/>
          <p:cNvSpPr txBox="1"/>
          <p:nvPr/>
        </p:nvSpPr>
        <p:spPr>
          <a:xfrm>
            <a:off x="7589520" y="4270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Tela (p. 84)</a:t>
            </a:r>
            <a:endParaRPr lang="en-US" sz="1050" dirty="0"/>
          </a:p>
        </p:txBody>
      </p:sp>
      <p:sp>
        <p:nvSpPr>
          <p:cNvPr id="10" name="destaque Previsão"/>
          <p:cNvSpPr/>
          <p:nvPr/>
        </p:nvSpPr>
        <p:spPr>
          <a:xfrm>
            <a:off x="7589520" y="4709160"/>
            <a:ext cx="4050792" cy="1463040"/>
          </a:xfrm>
          <a:prstGeom prst="roundRect">
            <a:avLst>
              <a:gd name="adj" fmla="val 6250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7754112" y="4800600"/>
            <a:ext cx="3721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Previsão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Etanol R$ 3,60 e gasolina R$ 5,00. Qual imagem aparece?</a:t>
            </a:r>
            <a:endParaRPr lang="en-US" sz="1300" dirty="0"/>
          </a:p>
        </p:txBody>
      </p:sp>
      <p:sp>
        <p:nvSpPr>
          <p:cNvPr id="12" name="lista"/>
          <p:cNvSpPr txBox="1"/>
          <p:nvPr/>
        </p:nvSpPr>
        <p:spPr>
          <a:xfrm>
            <a:off x="548640" y="5532120"/>
            <a:ext cx="6766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precoFinal = precoGasolina × 0.7</a:t>
            </a:r>
            <a:endParaRPr lang="en-US" sz="14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precoFinal ≤ precoEtanol → gasolina.png; else → etanol.png</a:t>
            </a:r>
            <a:endParaRPr lang="en-US" sz="1400" dirty="0"/>
          </a:p>
        </p:txBody>
      </p:sp>
      <p:sp>
        <p:nvSpPr>
          <p:cNvPr id="13" name="texto"/>
          <p:cNvSpPr txBox="1"/>
          <p:nvPr/>
        </p:nvSpPr>
        <p:spPr>
          <a:xfrm>
            <a:off x="9875520" y="1463040"/>
            <a:ext cx="178308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 imagem é trocada pela propriedade Picture do componente ImageResposta.</a:t>
            </a:r>
            <a:endParaRPr lang="en-US" sz="1300" dirty="0"/>
          </a:p>
        </p:txBody>
      </p:sp>
      <p:sp>
        <p:nvSpPr>
          <p:cNvPr id="1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Anexo – exercício 8 (p. 84)</a:t>
            </a:r>
            <a:endParaRPr lang="en-US" sz="1050" dirty="0"/>
          </a:p>
        </p:txBody>
      </p:sp>
      <p:sp>
        <p:nvSpPr>
          <p:cNvPr id="1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Lei de Ohm: um app com várias telas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Um menu leva a três telas, cada uma calcula uma grandeza</a:t>
            </a:r>
            <a:endParaRPr lang="en-US" sz="1600" dirty="0"/>
          </a:p>
        </p:txBody>
      </p:sp>
      <p:sp>
        <p:nvSpPr>
          <p:cNvPr id="4" name="moldura f19"/>
          <p:cNvSpPr/>
          <p:nvPr/>
        </p:nvSpPr>
        <p:spPr>
          <a:xfrm>
            <a:off x="548640" y="1447610"/>
            <a:ext cx="4206240" cy="2133981"/>
          </a:xfrm>
          <a:prstGeom prst="roundRect">
            <a:avLst>
              <a:gd name="adj" fmla="val 34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9" descr="Fig. 19 – Lei de Ohm (p. 1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20762"/>
            <a:ext cx="4059936" cy="1987677"/>
          </a:xfrm>
          <a:prstGeom prst="rect">
            <a:avLst/>
          </a:prstGeom>
        </p:spPr>
      </p:pic>
      <p:sp>
        <p:nvSpPr>
          <p:cNvPr id="6" name="legenda f19"/>
          <p:cNvSpPr txBox="1"/>
          <p:nvPr/>
        </p:nvSpPr>
        <p:spPr>
          <a:xfrm>
            <a:off x="548640" y="359987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19 – Lei de Ohm (p. 18)</a:t>
            </a:r>
            <a:endParaRPr lang="en-US" sz="1050" dirty="0"/>
          </a:p>
        </p:txBody>
      </p:sp>
      <p:sp>
        <p:nvSpPr>
          <p:cNvPr id="7" name="moldura a9menu"/>
          <p:cNvSpPr/>
          <p:nvPr/>
        </p:nvSpPr>
        <p:spPr>
          <a:xfrm>
            <a:off x="1168973" y="4023360"/>
            <a:ext cx="296557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a9menu" descr="Menu: open another screen (p. 85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125" y="4096512"/>
            <a:ext cx="2819270" cy="1819656"/>
          </a:xfrm>
          <a:prstGeom prst="rect">
            <a:avLst/>
          </a:prstGeom>
        </p:spPr>
      </p:pic>
      <p:sp>
        <p:nvSpPr>
          <p:cNvPr id="9" name="legenda a9menu"/>
          <p:cNvSpPr txBox="1"/>
          <p:nvPr/>
        </p:nvSpPr>
        <p:spPr>
          <a:xfrm>
            <a:off x="548640" y="6007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Menu: open another screen (p. 85)</a:t>
            </a:r>
            <a:endParaRPr lang="en-US" sz="1050" dirty="0"/>
          </a:p>
        </p:txBody>
      </p:sp>
      <p:sp>
        <p:nvSpPr>
          <p:cNvPr id="10" name="moldura a9t"/>
          <p:cNvSpPr/>
          <p:nvPr/>
        </p:nvSpPr>
        <p:spPr>
          <a:xfrm>
            <a:off x="5029200" y="1418087"/>
            <a:ext cx="6629400" cy="2375905"/>
          </a:xfrm>
          <a:prstGeom prst="roundRect">
            <a:avLst>
              <a:gd name="adj" fmla="val 307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figura a9t" descr="Tela Tensão: V = R × I (p. 86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1491239"/>
            <a:ext cx="6483096" cy="2229601"/>
          </a:xfrm>
          <a:prstGeom prst="rect">
            <a:avLst/>
          </a:prstGeom>
        </p:spPr>
      </p:pic>
      <p:sp>
        <p:nvSpPr>
          <p:cNvPr id="12" name="legenda a9t"/>
          <p:cNvSpPr txBox="1"/>
          <p:nvPr/>
        </p:nvSpPr>
        <p:spPr>
          <a:xfrm>
            <a:off x="5029200" y="3812281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Tela Tensão: V = R × I (p. 86)</a:t>
            </a:r>
            <a:endParaRPr lang="en-US" sz="1050" dirty="0"/>
          </a:p>
        </p:txBody>
      </p:sp>
      <p:sp>
        <p:nvSpPr>
          <p:cNvPr id="13" name="lista"/>
          <p:cNvSpPr txBox="1"/>
          <p:nvPr/>
        </p:nvSpPr>
        <p:spPr>
          <a:xfrm>
            <a:off x="5029200" y="4343400"/>
            <a:ext cx="66294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Telas Tensao, Resistencia e Corrente, abertas por open another screen screenName.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tela tem seu ButtonCalcular, ButtonLimpar e ButtonVoltar (volta para Screen1).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Tensão: </a:t>
            </a:r>
            <a:r>
              <a:rPr lang="en-US" sz="1500" dirty="0">
                <a:solidFill>
                  <a:schemeClr val="tx1"/>
                </a:solidFill>
              </a:rPr>
              <a:t>resultado = resistência × corrente, exibido com " V".</a:t>
            </a:r>
            <a:endParaRPr lang="en-US" sz="1500" dirty="0"/>
          </a:p>
        </p:txBody>
      </p:sp>
      <p:sp>
        <p:nvSpPr>
          <p:cNvPr id="1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exercício 9 (p. 18, Fig. 19) e Anexo (p. 85-88)</a:t>
            </a:r>
            <a:endParaRPr lang="en-US" sz="1050" dirty="0"/>
          </a:p>
        </p:txBody>
      </p:sp>
      <p:sp>
        <p:nvSpPr>
          <p:cNvPr id="1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Número triangular: o gabarito confere?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Desafio de análise: simule o laço while e compare com o enunciado</a:t>
            </a:r>
            <a:endParaRPr lang="en-US" sz="1600" dirty="0"/>
          </a:p>
        </p:txBody>
      </p:sp>
      <p:sp>
        <p:nvSpPr>
          <p:cNvPr id="4" name="destaque Enunciado (p. 18)"/>
          <p:cNvSpPr/>
          <p:nvPr/>
        </p:nvSpPr>
        <p:spPr>
          <a:xfrm>
            <a:off x="548640" y="1463040"/>
            <a:ext cx="51206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4791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Enunciado (p. 18)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Um número natural é triangular se for produto de três números naturais consecutivos. Ex.: 120 = 4 · 5 · 6.</a:t>
            </a:r>
            <a:endParaRPr lang="en-US" sz="1300" dirty="0"/>
          </a:p>
        </p:txBody>
      </p:sp>
      <p:sp>
        <p:nvSpPr>
          <p:cNvPr id="6" name="moldura a3"/>
          <p:cNvSpPr/>
          <p:nvPr/>
        </p:nvSpPr>
        <p:spPr>
          <a:xfrm>
            <a:off x="6091621" y="1417320"/>
            <a:ext cx="5418958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figura a3" descr="Blocos do exercício 3 (apostila, Anexo, p. 7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73" y="1490472"/>
            <a:ext cx="5272654" cy="3099816"/>
          </a:xfrm>
          <a:prstGeom prst="rect">
            <a:avLst/>
          </a:prstGeom>
        </p:spPr>
      </p:pic>
      <p:sp>
        <p:nvSpPr>
          <p:cNvPr id="8" name="legenda a3"/>
          <p:cNvSpPr txBox="1"/>
          <p:nvPr/>
        </p:nvSpPr>
        <p:spPr>
          <a:xfrm>
            <a:off x="5943600" y="468172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Blocos do exercício 3 (apostila, Anexo, p. 79)</a:t>
            </a:r>
            <a:endParaRPr lang="en-US" sz="1050" dirty="0"/>
          </a:p>
        </p:txBody>
      </p:sp>
      <p:graphicFrame>
        <p:nvGraphicFramePr>
          <p:cNvPr id="3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512064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Volta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contador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numeroTriangular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início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1ª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2ª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3ª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destaque Teste com n = 24 (24 = 2 · 3 · 4)"/>
          <p:cNvSpPr/>
          <p:nvPr/>
        </p:nvSpPr>
        <p:spPr>
          <a:xfrm>
            <a:off x="5943600" y="5120640"/>
            <a:ext cx="5715000" cy="1051560"/>
          </a:xfrm>
          <a:prstGeom prst="roundRect">
            <a:avLst>
              <a:gd name="adj" fmla="val 8696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6108192" y="5212080"/>
            <a:ext cx="5385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Teste com n = 24 (24 = 2 · 3 · 4)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gabarito responde "Triangular" ou "Não Triangular"?</a:t>
            </a:r>
            <a:endParaRPr lang="en-US" sz="13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exercício 3 (p. 18) e Anexo – exercício 3 (p. 79)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Componentes de mídia e web na lista básica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Cada componente traz seus próprios eventos e métodos</a:t>
            </a:r>
            <a:endParaRPr lang="en-US" sz="1600" dirty="0"/>
          </a:p>
        </p:txBody>
      </p:sp>
      <p:graphicFrame>
        <p:nvGraphicFramePr>
          <p:cNvPr id="3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40156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Ex.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Blocos usados no gabarito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 que faz no app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Sound (4 unidades)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Play, Stop, Vibrate (1000 ms)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Toca o som do animal tocado e para os outros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WebViewer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GoToUrl (em Screen1.Initialize)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Carrega uma página com a cotação do bitcoin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YandexTranslate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RequestTranslation → GotTranslation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Traduz de português para inglês ("en")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TextToSpeech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Speak (message)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Lê em voz alta a palavra traduzida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SpeechRecognizer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GetText → AfterGettingText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Recebe a palavra falada pelo usuário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estaque Padrão importante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13232" y="5349240"/>
            <a:ext cx="10762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Padrão importante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Pedido e resposta separados: RequestTranslation pede; o resultado chega depois, no evento GotTranslation (p. 81).</a:t>
            </a:r>
            <a:endParaRPr lang="en-US" sz="1300" dirty="0"/>
          </a:p>
        </p:txBody>
      </p:sp>
      <p:sp>
        <p:nvSpPr>
          <p:cNvPr id="7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exercícios 2, 4, 5, 6 e 7 (p. 18) e Anexo (p. 78-83)</a:t>
            </a:r>
            <a:endParaRPr lang="en-US" sz="1050" dirty="0"/>
          </a:p>
        </p:txBody>
      </p:sp>
      <p:sp>
        <p:nvSpPr>
          <p:cNvPr id="8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Resistor: decompor um problema grande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Exercício 10: cinco faixas, cinco procedimentos semelhantes</a:t>
            </a:r>
            <a:endParaRPr lang="en-US" sz="1600" dirty="0"/>
          </a:p>
        </p:txBody>
      </p:sp>
      <p:sp>
        <p:nvSpPr>
          <p:cNvPr id="4" name="moldura f20"/>
          <p:cNvSpPr/>
          <p:nvPr/>
        </p:nvSpPr>
        <p:spPr>
          <a:xfrm>
            <a:off x="702463" y="1417320"/>
            <a:ext cx="3898593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20" descr="Fig. 20 – Tabela de Cores (p. 1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15" y="1490472"/>
            <a:ext cx="3752289" cy="3145536"/>
          </a:xfrm>
          <a:prstGeom prst="rect">
            <a:avLst/>
          </a:prstGeom>
        </p:spPr>
      </p:pic>
      <p:sp>
        <p:nvSpPr>
          <p:cNvPr id="6" name="legenda f20"/>
          <p:cNvSpPr txBox="1"/>
          <p:nvPr/>
        </p:nvSpPr>
        <p:spPr>
          <a:xfrm>
            <a:off x="548640" y="4727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20 – Tabela de Cores (p. 19)</a:t>
            </a:r>
            <a:endParaRPr lang="en-US" sz="1050" dirty="0"/>
          </a:p>
        </p:txBody>
      </p:sp>
      <p:sp>
        <p:nvSpPr>
          <p:cNvPr id="7" name="moldura a10"/>
          <p:cNvSpPr/>
          <p:nvPr/>
        </p:nvSpPr>
        <p:spPr>
          <a:xfrm>
            <a:off x="5314643" y="1417320"/>
            <a:ext cx="6058514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a10" descr="Gabarito: Screen1.Initialize, ListView e ButtonCalcular (p. 9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795" y="1490472"/>
            <a:ext cx="5912210" cy="2779776"/>
          </a:xfrm>
          <a:prstGeom prst="rect">
            <a:avLst/>
          </a:prstGeom>
        </p:spPr>
      </p:pic>
      <p:sp>
        <p:nvSpPr>
          <p:cNvPr id="9" name="legenda a10"/>
          <p:cNvSpPr txBox="1"/>
          <p:nvPr/>
        </p:nvSpPr>
        <p:spPr>
          <a:xfrm>
            <a:off x="5029200" y="4361688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Gabarito: Screen1.Initialize, ListView e ButtonCalcular (p. 90)</a:t>
            </a:r>
            <a:endParaRPr lang="en-US" sz="1050" dirty="0"/>
          </a:p>
        </p:txBody>
      </p:sp>
      <p:sp>
        <p:nvSpPr>
          <p:cNvPr id="10" name="lista"/>
          <p:cNvSpPr txBox="1"/>
          <p:nvPr/>
        </p:nvSpPr>
        <p:spPr>
          <a:xfrm>
            <a:off x="5029200" y="4846320"/>
            <a:ext cx="66294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ListView com as cores (make a list: </a:t>
            </a:r>
            <a:r>
              <a:rPr lang="en-US" sz="1400" dirty="0">
                <a:solidFill>
                  <a:schemeClr val="tx1"/>
                </a:solidFill>
              </a:rPr>
              <a:t>PRETO, MARROM…).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CheckBox indica qual faixa recebe a cor escolhida.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ButtonCalcular chama 5 procedimentos: </a:t>
            </a:r>
            <a:r>
              <a:rPr lang="en-US" sz="1400" dirty="0">
                <a:solidFill>
                  <a:schemeClr val="tx1"/>
                </a:solidFill>
              </a:rPr>
              <a:t>calcularResistenciaFaixa1 a 5.</a:t>
            </a:r>
            <a:endParaRPr lang="en-US" sz="1400" dirty="0"/>
          </a:p>
        </p:txBody>
      </p:sp>
      <p:sp>
        <p:nvSpPr>
          <p:cNvPr id="11" name="texto"/>
          <p:cNvSpPr txBox="1"/>
          <p:nvPr/>
        </p:nvSpPr>
        <p:spPr>
          <a:xfrm>
            <a:off x="548640" y="5212080"/>
            <a:ext cx="42062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Cada procedimento é uma sequência de if: cor → valor (p. 91-95).</a:t>
            </a:r>
            <a:endParaRPr lang="en-US" sz="14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exercício 10 (p. 19, Fig. 20) e Anexo (p. 89-95)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Intervalo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15 min</a:t>
            </a:r>
            <a:endParaRPr lang="en-US" sz="8800" dirty="0"/>
          </a:p>
        </p:txBody>
      </p:sp>
      <p:sp>
        <p:nvSpPr>
          <p:cNvPr id="4" name="painel volta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32588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Na volta</a:t>
            </a:r>
            <a:endParaRPr lang="en-US" sz="1600" dirty="0"/>
          </a:p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</a:rPr>
              <a:t>Projetos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completos</a:t>
            </a:r>
            <a:r>
              <a:rPr lang="en-US" sz="1500" dirty="0">
                <a:solidFill>
                  <a:schemeClr val="bg1"/>
                </a:solidFill>
              </a:rPr>
              <a:t>: </a:t>
            </a:r>
            <a:r>
              <a:rPr lang="en-US" sz="1500" dirty="0" err="1">
                <a:solidFill>
                  <a:schemeClr val="bg1"/>
                </a:solidFill>
              </a:rPr>
              <a:t>guardar</a:t>
            </a:r>
            <a:r>
              <a:rPr lang="en-US" sz="1500" dirty="0">
                <a:solidFill>
                  <a:schemeClr val="bg1"/>
                </a:solidFill>
              </a:rPr>
              <a:t> dados, listas, desenho, jogos, nuvem e Arduino.</a:t>
            </a:r>
            <a:endParaRPr lang="en-US" sz="1600" dirty="0"/>
          </a:p>
        </p:txBody>
      </p:sp>
      <p:sp>
        <p:nvSpPr>
          <p:cNvPr id="6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planejamento da aula</a:t>
            </a:r>
            <a:endParaRPr lang="en-US" sz="1050" dirty="0"/>
          </a:p>
        </p:txBody>
      </p:sp>
      <p:sp>
        <p:nvSpPr>
          <p:cNvPr id="7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Projeto Bloco de Notas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05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Banco de dados TinyDB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Date Picker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Importar e usar uma extensão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Enviar uma notificação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34 a 40 · 20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8 (p. 38-45)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 app e seus componentes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Anotação com data, salva no aparelho, com aviso ao salvar</a:t>
            </a:r>
            <a:endParaRPr lang="en-US" sz="1600" dirty="0"/>
          </a:p>
        </p:txBody>
      </p:sp>
      <p:sp>
        <p:nvSpPr>
          <p:cNvPr id="4" name="moldura f47"/>
          <p:cNvSpPr/>
          <p:nvPr/>
        </p:nvSpPr>
        <p:spPr>
          <a:xfrm>
            <a:off x="774027" y="1417320"/>
            <a:ext cx="2658186" cy="4572000"/>
          </a:xfrm>
          <a:prstGeom prst="roundRect">
            <a:avLst>
              <a:gd name="adj" fmla="val 27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47" descr="Fig. 47 – Interface (p. 3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79" y="1490472"/>
            <a:ext cx="2511882" cy="4425696"/>
          </a:xfrm>
          <a:prstGeom prst="rect">
            <a:avLst/>
          </a:prstGeom>
        </p:spPr>
      </p:pic>
      <p:sp>
        <p:nvSpPr>
          <p:cNvPr id="6" name="legenda f47"/>
          <p:cNvSpPr txBox="1"/>
          <p:nvPr/>
        </p:nvSpPr>
        <p:spPr>
          <a:xfrm>
            <a:off x="548640" y="6007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47 – Interface (p. 39)</a:t>
            </a:r>
            <a:endParaRPr lang="en-US" sz="1050" dirty="0"/>
          </a:p>
        </p:txBody>
      </p:sp>
      <p:sp>
        <p:nvSpPr>
          <p:cNvPr id="7" name="moldura f46"/>
          <p:cNvSpPr/>
          <p:nvPr/>
        </p:nvSpPr>
        <p:spPr>
          <a:xfrm>
            <a:off x="3961846" y="1417320"/>
            <a:ext cx="2500468" cy="3383280"/>
          </a:xfrm>
          <a:prstGeom prst="roundRect">
            <a:avLst>
              <a:gd name="adj" fmla="val 29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46" descr="Fig. 46 – Componentes (p. 38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998" y="1490472"/>
            <a:ext cx="2354164" cy="3236976"/>
          </a:xfrm>
          <a:prstGeom prst="rect">
            <a:avLst/>
          </a:prstGeom>
        </p:spPr>
      </p:pic>
      <p:sp>
        <p:nvSpPr>
          <p:cNvPr id="9" name="legenda f46"/>
          <p:cNvSpPr txBox="1"/>
          <p:nvPr/>
        </p:nvSpPr>
        <p:spPr>
          <a:xfrm>
            <a:off x="3840480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46 – Componentes (p. 38)</a:t>
            </a:r>
            <a:endParaRPr lang="en-US" sz="1050" dirty="0"/>
          </a:p>
        </p:txBody>
      </p:sp>
      <p:sp>
        <p:nvSpPr>
          <p:cNvPr id="10" name="lista"/>
          <p:cNvSpPr txBox="1"/>
          <p:nvPr/>
        </p:nvSpPr>
        <p:spPr>
          <a:xfrm>
            <a:off x="6858000" y="1508760"/>
            <a:ext cx="480060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txtBlocoNotas: </a:t>
            </a:r>
            <a:r>
              <a:rPr lang="en-US" sz="1500" dirty="0">
                <a:solidFill>
                  <a:schemeClr val="tx1"/>
                </a:solidFill>
              </a:rPr>
              <a:t>campo de texto da anotação.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btnSalvar e btnMostrar: </a:t>
            </a:r>
            <a:r>
              <a:rPr lang="en-US" sz="1500" dirty="0">
                <a:solidFill>
                  <a:schemeClr val="tx1"/>
                </a:solidFill>
              </a:rPr>
              <a:t>botões.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btnAddData: </a:t>
            </a:r>
            <a:r>
              <a:rPr lang="en-US" sz="1500" dirty="0">
                <a:solidFill>
                  <a:schemeClr val="tx1"/>
                </a:solidFill>
              </a:rPr>
              <a:t>parece botão, mas é um DATE PICKER.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lblAnotacao: </a:t>
            </a:r>
            <a:r>
              <a:rPr lang="en-US" sz="1500" dirty="0">
                <a:solidFill>
                  <a:schemeClr val="tx1"/>
                </a:solidFill>
              </a:rPr>
              <a:t>mostra o valor recuperado.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TinyDB1: </a:t>
            </a:r>
            <a:r>
              <a:rPr lang="en-US" sz="1500" dirty="0">
                <a:solidFill>
                  <a:schemeClr val="tx1"/>
                </a:solidFill>
              </a:rPr>
              <a:t>banco de dados (não visível).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TaifunNotification1: </a:t>
            </a:r>
            <a:r>
              <a:rPr lang="en-US" sz="1500" dirty="0">
                <a:solidFill>
                  <a:schemeClr val="tx1"/>
                </a:solidFill>
              </a:rPr>
              <a:t>extensão, adicionada depois.</a:t>
            </a:r>
            <a:endParaRPr lang="en-US" sz="15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8, passo 1, Figs. 46 e 47 (p. 38-39)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Salvar: StoreValue com tag e valor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 tag é a chave que identifica o dado; valueToStore é o dado</a:t>
            </a:r>
            <a:endParaRPr lang="en-US" sz="1600" dirty="0"/>
          </a:p>
        </p:txBody>
      </p:sp>
      <p:sp>
        <p:nvSpPr>
          <p:cNvPr id="4" name="moldura f49"/>
          <p:cNvSpPr/>
          <p:nvPr/>
        </p:nvSpPr>
        <p:spPr>
          <a:xfrm>
            <a:off x="657913" y="1417320"/>
            <a:ext cx="654801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49" descr="Fig. 49 – Botão salvar finalizado (apostila, p. 4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5" y="1490472"/>
            <a:ext cx="6401710" cy="1956816"/>
          </a:xfrm>
          <a:prstGeom prst="rect">
            <a:avLst/>
          </a:prstGeom>
        </p:spPr>
      </p:pic>
      <p:sp>
        <p:nvSpPr>
          <p:cNvPr id="6" name="legenda f49"/>
          <p:cNvSpPr txBox="1"/>
          <p:nvPr/>
        </p:nvSpPr>
        <p:spPr>
          <a:xfrm>
            <a:off x="548640" y="35387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49 – Botão salvar finalizado (apostila, p. 40)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Diagrama recriado a partir da Fig. 49</a:t>
            </a:r>
            <a:endParaRPr lang="en-US" sz="1100" dirty="0"/>
          </a:p>
        </p:txBody>
      </p:sp>
      <p:sp>
        <p:nvSpPr>
          <p:cNvPr id="8" name="bloco when btnSalvar.Click"/>
          <p:cNvSpPr/>
          <p:nvPr/>
        </p:nvSpPr>
        <p:spPr>
          <a:xfrm>
            <a:off x="548640" y="4434840"/>
            <a:ext cx="2926080" cy="502920"/>
          </a:xfrm>
          <a:prstGeom prst="roundRect">
            <a:avLst>
              <a:gd name="adj" fmla="val 12727"/>
            </a:avLst>
          </a:prstGeom>
          <a:solidFill>
            <a:srgbClr val="B58B2B"/>
          </a:solidFill>
          <a:ln w="12700">
            <a:solidFill>
              <a:srgbClr val="B58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4864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when btnSalvar.Click</a:t>
            </a:r>
            <a:endParaRPr lang="en-US" sz="1400" dirty="0"/>
          </a:p>
        </p:txBody>
      </p:sp>
      <p:sp>
        <p:nvSpPr>
          <p:cNvPr id="10" name="bloco call TinyDB1.StoreValue"/>
          <p:cNvSpPr/>
          <p:nvPr/>
        </p:nvSpPr>
        <p:spPr>
          <a:xfrm>
            <a:off x="914400" y="50292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6E4C93"/>
          </a:solidFill>
          <a:ln w="12700">
            <a:solidFill>
              <a:srgbClr val="6E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914400" y="5029200"/>
            <a:ext cx="27432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call TinyDB1.StoreValue</a:t>
            </a:r>
            <a:endParaRPr lang="en-US" sz="1400" dirty="0"/>
          </a:p>
        </p:txBody>
      </p:sp>
      <p:sp>
        <p:nvSpPr>
          <p:cNvPr id="12" name="bloco tag"/>
          <p:cNvSpPr/>
          <p:nvPr/>
        </p:nvSpPr>
        <p:spPr>
          <a:xfrm>
            <a:off x="3749040" y="502920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6E4C93"/>
          </a:solidFill>
          <a:ln w="12700">
            <a:solidFill>
              <a:srgbClr val="6E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374904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tag</a:t>
            </a:r>
            <a:endParaRPr lang="en-US" sz="1400" dirty="0"/>
          </a:p>
        </p:txBody>
      </p:sp>
      <p:sp>
        <p:nvSpPr>
          <p:cNvPr id="14" name="bloco &quot;data&quot;"/>
          <p:cNvSpPr/>
          <p:nvPr/>
        </p:nvSpPr>
        <p:spPr>
          <a:xfrm>
            <a:off x="5029200" y="502920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502920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"data"</a:t>
            </a:r>
            <a:endParaRPr lang="en-US" sz="1400" dirty="0"/>
          </a:p>
        </p:txBody>
      </p:sp>
      <p:sp>
        <p:nvSpPr>
          <p:cNvPr id="16" name="bloco value"/>
          <p:cNvSpPr/>
          <p:nvPr/>
        </p:nvSpPr>
        <p:spPr>
          <a:xfrm>
            <a:off x="3749040" y="5596128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6E4C93"/>
          </a:solidFill>
          <a:ln w="12700">
            <a:solidFill>
              <a:srgbClr val="6E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3749040" y="5596128"/>
            <a:ext cx="11887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value</a:t>
            </a:r>
            <a:endParaRPr lang="en-US" sz="1400" dirty="0"/>
          </a:p>
        </p:txBody>
      </p:sp>
      <p:sp>
        <p:nvSpPr>
          <p:cNvPr id="18" name="bloco txtBlocoNotas.Text"/>
          <p:cNvSpPr/>
          <p:nvPr/>
        </p:nvSpPr>
        <p:spPr>
          <a:xfrm>
            <a:off x="5029200" y="5596128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5029200" y="5596128"/>
            <a:ext cx="22860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txtBlocoNotas.Text</a:t>
            </a:r>
            <a:endParaRPr lang="en-US" sz="1400" dirty="0"/>
          </a:p>
        </p:txBody>
      </p:sp>
      <p:sp>
        <p:nvSpPr>
          <p:cNvPr id="20" name="destaque Nas palavras da apostila"/>
          <p:cNvSpPr/>
          <p:nvPr/>
        </p:nvSpPr>
        <p:spPr>
          <a:xfrm>
            <a:off x="7589520" y="1463040"/>
            <a:ext cx="4050792" cy="2194560"/>
          </a:xfrm>
          <a:prstGeom prst="roundRect">
            <a:avLst>
              <a:gd name="adj" fmla="val 4167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7754112" y="1554480"/>
            <a:ext cx="3721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Nas palavras da apostila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tag é a nossa chave primária: o que vai identificar o dado para o banco. O valueToStore é o valor propriamente dito.</a:t>
            </a:r>
            <a:endParaRPr lang="en-US" sz="1300" dirty="0"/>
          </a:p>
        </p:txBody>
      </p:sp>
      <p:sp>
        <p:nvSpPr>
          <p:cNvPr id="22" name="destaque Previsão"/>
          <p:cNvSpPr/>
          <p:nvPr/>
        </p:nvSpPr>
        <p:spPr>
          <a:xfrm>
            <a:off x="7589520" y="3886200"/>
            <a:ext cx="4050792" cy="2240280"/>
          </a:xfrm>
          <a:prstGeom prst="roundRect">
            <a:avLst>
              <a:gd name="adj" fmla="val 4082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7754112" y="3977640"/>
            <a:ext cx="372160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Previsão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usuário salva "Comprar resistores" e depois salva "Revisar código". Com a tag fixa "data", o que fica guardado?</a:t>
            </a:r>
            <a:endParaRPr lang="en-US" sz="1300" dirty="0"/>
          </a:p>
        </p:txBody>
      </p:sp>
      <p:sp>
        <p:nvSpPr>
          <p:cNvPr id="2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8, passos 2-3, Figs. 48 e 49 (p. 39-40)</a:t>
            </a:r>
            <a:endParaRPr lang="en-US" sz="1050" dirty="0"/>
          </a:p>
        </p:txBody>
      </p:sp>
      <p:sp>
        <p:nvSpPr>
          <p:cNvPr id="2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Recuperar: GetValue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botão Mostrar busca o valor pela tag e coloca na label</a:t>
            </a:r>
            <a:endParaRPr lang="en-US" sz="1600" dirty="0"/>
          </a:p>
        </p:txBody>
      </p:sp>
      <p:sp>
        <p:nvSpPr>
          <p:cNvPr id="4" name="moldura f50"/>
          <p:cNvSpPr/>
          <p:nvPr/>
        </p:nvSpPr>
        <p:spPr>
          <a:xfrm>
            <a:off x="548640" y="1474408"/>
            <a:ext cx="6949440" cy="2720464"/>
          </a:xfrm>
          <a:prstGeom prst="roundRect">
            <a:avLst>
              <a:gd name="adj" fmla="val 268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50" descr="Fig. 50 – Botão recuperar (apostila, p. 4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47560"/>
            <a:ext cx="6803136" cy="2574160"/>
          </a:xfrm>
          <a:prstGeom prst="rect">
            <a:avLst/>
          </a:prstGeom>
        </p:spPr>
      </p:pic>
      <p:sp>
        <p:nvSpPr>
          <p:cNvPr id="6" name="legenda f50"/>
          <p:cNvSpPr txBox="1"/>
          <p:nvPr/>
        </p:nvSpPr>
        <p:spPr>
          <a:xfrm>
            <a:off x="548640" y="42131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50 – Botão recuperar (apostila, p. 40)</a:t>
            </a:r>
            <a:endParaRPr lang="en-US" sz="1050" dirty="0"/>
          </a:p>
        </p:txBody>
      </p:sp>
      <p:sp>
        <p:nvSpPr>
          <p:cNvPr id="7" name="lista"/>
          <p:cNvSpPr txBox="1"/>
          <p:nvPr/>
        </p:nvSpPr>
        <p:spPr>
          <a:xfrm>
            <a:off x="7772400" y="1508760"/>
            <a:ext cx="3886200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Evento: </a:t>
            </a:r>
            <a:r>
              <a:rPr lang="en-US" sz="1500" dirty="0">
                <a:solidFill>
                  <a:schemeClr val="tx1"/>
                </a:solidFill>
              </a:rPr>
              <a:t>when btnMostrar.Click.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lblAnotacao.Text to call TinyDB1.GetValue.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tag: </a:t>
            </a:r>
            <a:r>
              <a:rPr lang="en-US" sz="1500" dirty="0">
                <a:solidFill>
                  <a:schemeClr val="tx1"/>
                </a:solidFill>
              </a:rPr>
              <a:t>"data" (a mesma usada para salvar).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valueIfTagNotThere: </a:t>
            </a:r>
            <a:r>
              <a:rPr lang="en-US" sz="1500" dirty="0">
                <a:solidFill>
                  <a:schemeClr val="tx1"/>
                </a:solidFill>
              </a:rPr>
              <a:t>texto vazio, usado se a tag não existir.</a:t>
            </a:r>
            <a:endParaRPr lang="en-US" sz="1500" dirty="0"/>
          </a:p>
        </p:txBody>
      </p:sp>
      <p:sp>
        <p:nvSpPr>
          <p:cNvPr id="8" name="destaque Pergunta"/>
          <p:cNvSpPr/>
          <p:nvPr/>
        </p:nvSpPr>
        <p:spPr>
          <a:xfrm>
            <a:off x="548640" y="4800600"/>
            <a:ext cx="11091672" cy="1325880"/>
          </a:xfrm>
          <a:prstGeom prst="roundRect">
            <a:avLst>
              <a:gd name="adj" fmla="val 6897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713232" y="4892040"/>
            <a:ext cx="10762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Pergunta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 o botão Mostrar for clicado antes de qualquer gravação, o que aparece em lblAnotacao? E se, por engano, a tag do GetValue fosse "Data" com D maiúsculo?</a:t>
            </a:r>
            <a:endParaRPr lang="en-US" sz="1300" dirty="0"/>
          </a:p>
        </p:txBody>
      </p:sp>
      <p:sp>
        <p:nvSpPr>
          <p:cNvPr id="1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8, passo 4, Fig. 50 (p. 40)</a:t>
            </a:r>
            <a:endParaRPr lang="en-US" sz="1050" dirty="0"/>
          </a:p>
        </p:txBody>
      </p:sp>
      <p:sp>
        <p:nvSpPr>
          <p:cNvPr id="1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Inserir a data com o Date Picker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Formato desejado: "30/12/2099 – Olá Mundo"</a:t>
            </a:r>
            <a:endParaRPr lang="en-US" sz="1600" dirty="0"/>
          </a:p>
        </p:txBody>
      </p:sp>
      <p:sp>
        <p:nvSpPr>
          <p:cNvPr id="4" name="moldura f52"/>
          <p:cNvSpPr/>
          <p:nvPr/>
        </p:nvSpPr>
        <p:spPr>
          <a:xfrm>
            <a:off x="548640" y="1490067"/>
            <a:ext cx="6217920" cy="2597706"/>
          </a:xfrm>
          <a:prstGeom prst="roundRect">
            <a:avLst>
              <a:gd name="adj" fmla="val 281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52" descr="Fig. 52 – Método addData completo (apostila, p. 4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63219"/>
            <a:ext cx="6071616" cy="2451402"/>
          </a:xfrm>
          <a:prstGeom prst="rect">
            <a:avLst/>
          </a:prstGeom>
        </p:spPr>
      </p:pic>
      <p:sp>
        <p:nvSpPr>
          <p:cNvPr id="6" name="legenda f52"/>
          <p:cNvSpPr txBox="1"/>
          <p:nvPr/>
        </p:nvSpPr>
        <p:spPr>
          <a:xfrm>
            <a:off x="548640" y="4106061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52 – Método addData completo (apostila, p. 41)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Montagem do texto (recriado a partir da Fig. 52)</a:t>
            </a:r>
            <a:endParaRPr lang="en-US" sz="1100" dirty="0"/>
          </a:p>
        </p:txBody>
      </p:sp>
      <p:sp>
        <p:nvSpPr>
          <p:cNvPr id="8" name="bloco Day"/>
          <p:cNvSpPr/>
          <p:nvPr/>
        </p:nvSpPr>
        <p:spPr>
          <a:xfrm>
            <a:off x="548640" y="498348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48640" y="4983480"/>
            <a:ext cx="685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Day</a:t>
            </a:r>
            <a:endParaRPr lang="en-US" sz="1300" dirty="0"/>
          </a:p>
        </p:txBody>
      </p:sp>
      <p:sp>
        <p:nvSpPr>
          <p:cNvPr id="10" name="bloco /"/>
          <p:cNvSpPr/>
          <p:nvPr/>
        </p:nvSpPr>
        <p:spPr>
          <a:xfrm>
            <a:off x="1307592" y="498348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1307592" y="4983480"/>
            <a:ext cx="685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/</a:t>
            </a:r>
            <a:endParaRPr lang="en-US" sz="1300" dirty="0"/>
          </a:p>
        </p:txBody>
      </p:sp>
      <p:sp>
        <p:nvSpPr>
          <p:cNvPr id="12" name="bloco Month"/>
          <p:cNvSpPr/>
          <p:nvPr/>
        </p:nvSpPr>
        <p:spPr>
          <a:xfrm>
            <a:off x="2066544" y="4983480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2066544" y="498348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Month</a:t>
            </a:r>
            <a:endParaRPr lang="en-US" sz="1300" dirty="0"/>
          </a:p>
        </p:txBody>
      </p:sp>
      <p:sp>
        <p:nvSpPr>
          <p:cNvPr id="14" name="bloco /"/>
          <p:cNvSpPr/>
          <p:nvPr/>
        </p:nvSpPr>
        <p:spPr>
          <a:xfrm>
            <a:off x="3419856" y="498348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3419856" y="4983480"/>
            <a:ext cx="685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/</a:t>
            </a:r>
            <a:endParaRPr lang="en-US" sz="1300" dirty="0"/>
          </a:p>
        </p:txBody>
      </p:sp>
      <p:sp>
        <p:nvSpPr>
          <p:cNvPr id="16" name="bloco Year"/>
          <p:cNvSpPr/>
          <p:nvPr/>
        </p:nvSpPr>
        <p:spPr>
          <a:xfrm>
            <a:off x="4178808" y="498348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4178808" y="4983480"/>
            <a:ext cx="685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Year</a:t>
            </a:r>
            <a:endParaRPr lang="en-US" sz="1300" dirty="0"/>
          </a:p>
        </p:txBody>
      </p:sp>
      <p:sp>
        <p:nvSpPr>
          <p:cNvPr id="18" name="bloco -"/>
          <p:cNvSpPr/>
          <p:nvPr/>
        </p:nvSpPr>
        <p:spPr>
          <a:xfrm>
            <a:off x="4937760" y="4983480"/>
            <a:ext cx="685800" cy="548640"/>
          </a:xfrm>
          <a:prstGeom prst="roundRect">
            <a:avLst>
              <a:gd name="adj" fmla="val 11667"/>
            </a:avLst>
          </a:prstGeom>
          <a:solidFill>
            <a:srgbClr val="B03A6A"/>
          </a:solidFill>
          <a:ln w="12700">
            <a:solidFill>
              <a:srgbClr val="B03A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4937760" y="4983480"/>
            <a:ext cx="6858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-</a:t>
            </a:r>
            <a:endParaRPr lang="en-US" sz="1300" dirty="0"/>
          </a:p>
        </p:txBody>
      </p:sp>
      <p:sp>
        <p:nvSpPr>
          <p:cNvPr id="20" name="bloco texto atual"/>
          <p:cNvSpPr/>
          <p:nvPr/>
        </p:nvSpPr>
        <p:spPr>
          <a:xfrm>
            <a:off x="5696712" y="4983480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 txBox="1"/>
          <p:nvPr/>
        </p:nvSpPr>
        <p:spPr>
          <a:xfrm>
            <a:off x="5696712" y="4983480"/>
            <a:ext cx="12801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texto atual</a:t>
            </a:r>
            <a:endParaRPr lang="en-US" sz="1300" dirty="0"/>
          </a:p>
        </p:txBody>
      </p:sp>
      <p:sp>
        <p:nvSpPr>
          <p:cNvPr id="22" name="lista"/>
          <p:cNvSpPr txBox="1"/>
          <p:nvPr/>
        </p:nvSpPr>
        <p:spPr>
          <a:xfrm>
            <a:off x="7040880" y="1508760"/>
            <a:ext cx="461772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Evento: </a:t>
            </a:r>
            <a:r>
              <a:rPr lang="en-US" sz="1500" dirty="0">
                <a:solidFill>
                  <a:schemeClr val="tx1"/>
                </a:solidFill>
              </a:rPr>
              <a:t>when btnAddData.TouchDown (Fig. 51).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txtBlocoNotas.Text to join(…).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join junta dia, mês e ano do Date Picker, os separadores "/" e "-" e o texto que já estava no campo.</a:t>
            </a:r>
            <a:endParaRPr lang="en-US" sz="1500" dirty="0"/>
          </a:p>
        </p:txBody>
      </p:sp>
      <p:sp>
        <p:nvSpPr>
          <p:cNvPr id="23" name="destaque Ordem importa"/>
          <p:cNvSpPr/>
          <p:nvPr/>
        </p:nvSpPr>
        <p:spPr>
          <a:xfrm>
            <a:off x="7040880" y="4526280"/>
            <a:ext cx="4617720" cy="1600200"/>
          </a:xfrm>
          <a:prstGeom prst="roundRect">
            <a:avLst>
              <a:gd name="adj" fmla="val 5714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7205472" y="4617720"/>
            <a:ext cx="42885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Ordem importa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texto atual entra no fim do join; por isso a data aparece antes da anotação.</a:t>
            </a:r>
            <a:endParaRPr lang="en-US" sz="1300" dirty="0"/>
          </a:p>
        </p:txBody>
      </p:sp>
      <p:sp>
        <p:nvSpPr>
          <p:cNvPr id="25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8, passos 5-6, Figs. 51 e 52 (p. 41)</a:t>
            </a:r>
            <a:endParaRPr lang="en-US" sz="1050" dirty="0"/>
          </a:p>
        </p:txBody>
      </p:sp>
      <p:sp>
        <p:nvSpPr>
          <p:cNvPr id="26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Extensões: recursos de fora da paleta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Arquivo .aix importado em Extension → Import extension</a:t>
            </a:r>
            <a:endParaRPr lang="en-US" sz="1600" dirty="0"/>
          </a:p>
        </p:txBody>
      </p:sp>
      <p:sp>
        <p:nvSpPr>
          <p:cNvPr id="4" name="cartao Buscar"/>
          <p:cNvSpPr/>
          <p:nvPr/>
        </p:nvSpPr>
        <p:spPr>
          <a:xfrm>
            <a:off x="548640" y="1554480"/>
            <a:ext cx="67665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Buscar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Buscar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645920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site Pura Vida Apps, a extensão "Simple Notification Extension"</a:t>
            </a:r>
            <a:endParaRPr lang="en-US" sz="1400" dirty="0"/>
          </a:p>
        </p:txBody>
      </p:sp>
      <p:sp>
        <p:nvSpPr>
          <p:cNvPr id="9" name="cartao Ler a documentação"/>
          <p:cNvSpPr/>
          <p:nvPr/>
        </p:nvSpPr>
        <p:spPr>
          <a:xfrm>
            <a:off x="548640" y="2724912"/>
            <a:ext cx="67665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Ler a documentação"/>
          <p:cNvSpPr/>
          <p:nvPr/>
        </p:nvSpPr>
        <p:spPr>
          <a:xfrm>
            <a:off x="731520" y="29077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3152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89504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Ler a documentação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816352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"Sempre olhe os manuais!" Baixar o arquivo TaifunNotification (.aix)</a:t>
            </a:r>
            <a:endParaRPr lang="en-US" sz="1400" dirty="0"/>
          </a:p>
        </p:txBody>
      </p:sp>
      <p:sp>
        <p:nvSpPr>
          <p:cNvPr id="14" name="cartao Importar"/>
          <p:cNvSpPr/>
          <p:nvPr/>
        </p:nvSpPr>
        <p:spPr>
          <a:xfrm>
            <a:off x="548640" y="3895344"/>
            <a:ext cx="67665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lo Importar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59936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Importar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398678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Designer → paleta Extension → Import extension</a:t>
            </a:r>
            <a:endParaRPr lang="en-US" sz="1400" dirty="0"/>
          </a:p>
        </p:txBody>
      </p:sp>
      <p:sp>
        <p:nvSpPr>
          <p:cNvPr id="19" name="cartao Usar"/>
          <p:cNvSpPr/>
          <p:nvPr/>
        </p:nvSpPr>
        <p:spPr>
          <a:xfrm>
            <a:off x="548640" y="5065776"/>
            <a:ext cx="67665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elo Usar"/>
          <p:cNvSpPr/>
          <p:nvPr/>
        </p:nvSpPr>
        <p:spPr>
          <a:xfrm>
            <a:off x="731520" y="524865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31520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30368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5157216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Arrastar a extensão para o app como qualquer componente</a:t>
            </a:r>
            <a:endParaRPr lang="en-US" sz="1400" dirty="0"/>
          </a:p>
        </p:txBody>
      </p:sp>
      <p:sp>
        <p:nvSpPr>
          <p:cNvPr id="24" name="moldura f55"/>
          <p:cNvSpPr/>
          <p:nvPr/>
        </p:nvSpPr>
        <p:spPr>
          <a:xfrm>
            <a:off x="7811262" y="1463040"/>
            <a:ext cx="3717036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figura f55" descr="Fig. 55 – Adicionar extensão (p. 4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414" y="1536192"/>
            <a:ext cx="3570732" cy="2596896"/>
          </a:xfrm>
          <a:prstGeom prst="rect">
            <a:avLst/>
          </a:prstGeom>
        </p:spPr>
      </p:pic>
      <p:sp>
        <p:nvSpPr>
          <p:cNvPr id="26" name="legenda f55"/>
          <p:cNvSpPr txBox="1"/>
          <p:nvPr/>
        </p:nvSpPr>
        <p:spPr>
          <a:xfrm>
            <a:off x="7680960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55 – Adicionar extensão (p. 42)</a:t>
            </a:r>
            <a:endParaRPr lang="en-US" sz="1050" dirty="0"/>
          </a:p>
        </p:txBody>
      </p:sp>
      <p:sp>
        <p:nvSpPr>
          <p:cNvPr id="27" name="texto"/>
          <p:cNvSpPr txBox="1"/>
          <p:nvPr/>
        </p:nvSpPr>
        <p:spPr>
          <a:xfrm>
            <a:off x="7680960" y="4846320"/>
            <a:ext cx="39776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 apostila chama a extensão também de biblioteca e diz que a maioria das extensões do site é desenvolvida em JavaScript.</a:t>
            </a:r>
            <a:endParaRPr lang="en-US" sz="1300" dirty="0"/>
          </a:p>
        </p:txBody>
      </p:sp>
      <p:sp>
        <p:nvSpPr>
          <p:cNvPr id="2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8, passo 7, Figs. 53-55 (p. 41-42)</a:t>
            </a:r>
            <a:endParaRPr lang="en-US" sz="1050" dirty="0"/>
          </a:p>
        </p:txBody>
      </p:sp>
      <p:sp>
        <p:nvSpPr>
          <p:cNvPr id="2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Notificação ao salvar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TaifunNotification1.Send dentro do evento btnSalvar.Click</a:t>
            </a:r>
            <a:endParaRPr lang="en-US" sz="1600" dirty="0"/>
          </a:p>
        </p:txBody>
      </p:sp>
      <p:sp>
        <p:nvSpPr>
          <p:cNvPr id="4" name="moldura f57"/>
          <p:cNvSpPr/>
          <p:nvPr/>
        </p:nvSpPr>
        <p:spPr>
          <a:xfrm>
            <a:off x="666499" y="1417320"/>
            <a:ext cx="4884922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57" descr="Fig. 57 – Adicionando notificação (p. 4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51" y="1490472"/>
            <a:ext cx="4738618" cy="2688336"/>
          </a:xfrm>
          <a:prstGeom prst="rect">
            <a:avLst/>
          </a:prstGeom>
        </p:spPr>
      </p:pic>
      <p:sp>
        <p:nvSpPr>
          <p:cNvPr id="6" name="legenda f57"/>
          <p:cNvSpPr txBox="1"/>
          <p:nvPr/>
        </p:nvSpPr>
        <p:spPr>
          <a:xfrm>
            <a:off x="548640" y="4270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57 – Adicionando notificação (p. 43)</a:t>
            </a:r>
            <a:endParaRPr lang="en-US" sz="1050" dirty="0"/>
          </a:p>
        </p:txBody>
      </p:sp>
      <p:graphicFrame>
        <p:nvGraphicFramePr>
          <p:cNvPr id="4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5120640" cy="1371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Parâmetro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Significado (apostila)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seconds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tempo para enviar após clicar em salvar (1)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título da notificação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texto da notificação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startText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deixar vazio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moldura f58"/>
          <p:cNvSpPr/>
          <p:nvPr/>
        </p:nvSpPr>
        <p:spPr>
          <a:xfrm>
            <a:off x="5943600" y="1448806"/>
            <a:ext cx="2743200" cy="4463309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figura f58" descr="Fig. 58 – App final (p. 4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521958"/>
            <a:ext cx="2596896" cy="4317005"/>
          </a:xfrm>
          <a:prstGeom prst="rect">
            <a:avLst/>
          </a:prstGeom>
        </p:spPr>
      </p:pic>
      <p:sp>
        <p:nvSpPr>
          <p:cNvPr id="10" name="legenda f58"/>
          <p:cNvSpPr txBox="1"/>
          <p:nvPr/>
        </p:nvSpPr>
        <p:spPr>
          <a:xfrm>
            <a:off x="5943600" y="593040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58 – App final (p. 44)</a:t>
            </a:r>
            <a:endParaRPr lang="en-US" sz="1050" dirty="0"/>
          </a:p>
        </p:txBody>
      </p:sp>
      <p:sp>
        <p:nvSpPr>
          <p:cNvPr id="11" name="moldura f59"/>
          <p:cNvSpPr/>
          <p:nvPr/>
        </p:nvSpPr>
        <p:spPr>
          <a:xfrm>
            <a:off x="8934740" y="1417320"/>
            <a:ext cx="2704520" cy="4526280"/>
          </a:xfrm>
          <a:prstGeom prst="roundRect">
            <a:avLst>
              <a:gd name="adj" fmla="val 270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figura f59" descr="Fig. 59 – Notificação (p. 44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7892" y="1490472"/>
            <a:ext cx="2558216" cy="4379976"/>
          </a:xfrm>
          <a:prstGeom prst="rect">
            <a:avLst/>
          </a:prstGeom>
        </p:spPr>
      </p:pic>
      <p:sp>
        <p:nvSpPr>
          <p:cNvPr id="13" name="legenda f59"/>
          <p:cNvSpPr txBox="1"/>
          <p:nvPr/>
        </p:nvSpPr>
        <p:spPr>
          <a:xfrm>
            <a:off x="8915400" y="5961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59 – Notificação (p. 44)</a:t>
            </a:r>
            <a:endParaRPr lang="en-US" sz="1050" dirty="0"/>
          </a:p>
        </p:txBody>
      </p:sp>
      <p:sp>
        <p:nvSpPr>
          <p:cNvPr id="1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8, passos 8-9 e conclusão, Figs. 56-59 (p. 43-44)</a:t>
            </a:r>
            <a:endParaRPr lang="en-US" sz="1050" dirty="0"/>
          </a:p>
        </p:txBody>
      </p:sp>
      <p:sp>
        <p:nvSpPr>
          <p:cNvPr id="1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Projeto Dicionário Interativo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06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Manipular listas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Índices de listas (começam em 1)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Inserir sons e imagens dinamicamente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Fazer o app falar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41 a 45 · 16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9 (p. 46-53)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o dicionário faz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Buscar uma palavra e trazer definição, imagem, som e fala</a:t>
            </a:r>
            <a:endParaRPr lang="en-US" sz="1600" dirty="0"/>
          </a:p>
        </p:txBody>
      </p:sp>
      <p:sp>
        <p:nvSpPr>
          <p:cNvPr id="4" name="moldura f72"/>
          <p:cNvSpPr/>
          <p:nvPr/>
        </p:nvSpPr>
        <p:spPr>
          <a:xfrm>
            <a:off x="625296" y="1417320"/>
            <a:ext cx="2772768" cy="4572000"/>
          </a:xfrm>
          <a:prstGeom prst="roundRect">
            <a:avLst>
              <a:gd name="adj" fmla="val 263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72" descr="Fig. 72 – Aplicativo (p. 5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48" y="1490472"/>
            <a:ext cx="2626464" cy="4425696"/>
          </a:xfrm>
          <a:prstGeom prst="rect">
            <a:avLst/>
          </a:prstGeom>
        </p:spPr>
      </p:pic>
      <p:sp>
        <p:nvSpPr>
          <p:cNvPr id="6" name="legenda f72"/>
          <p:cNvSpPr txBox="1"/>
          <p:nvPr/>
        </p:nvSpPr>
        <p:spPr>
          <a:xfrm>
            <a:off x="548640" y="6007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72 – Aplicativo (p. 53)</a:t>
            </a:r>
            <a:endParaRPr lang="en-US" sz="1050" dirty="0"/>
          </a:p>
        </p:txBody>
      </p:sp>
      <p:sp>
        <p:nvSpPr>
          <p:cNvPr id="7" name="moldura f62"/>
          <p:cNvSpPr/>
          <p:nvPr/>
        </p:nvSpPr>
        <p:spPr>
          <a:xfrm>
            <a:off x="3828794" y="1417320"/>
            <a:ext cx="2400811" cy="3383280"/>
          </a:xfrm>
          <a:prstGeom prst="roundRect">
            <a:avLst>
              <a:gd name="adj" fmla="val 304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62" descr="Fig. 62 – Árvore de componentes (p. 4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946" y="1490472"/>
            <a:ext cx="2254507" cy="3236976"/>
          </a:xfrm>
          <a:prstGeom prst="rect">
            <a:avLst/>
          </a:prstGeom>
        </p:spPr>
      </p:pic>
      <p:sp>
        <p:nvSpPr>
          <p:cNvPr id="9" name="legenda f62"/>
          <p:cNvSpPr txBox="1"/>
          <p:nvPr/>
        </p:nvSpPr>
        <p:spPr>
          <a:xfrm>
            <a:off x="3657600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62 – Árvore de componentes (p. 47)</a:t>
            </a:r>
            <a:endParaRPr lang="en-US" sz="1050" dirty="0"/>
          </a:p>
        </p:txBody>
      </p:sp>
      <p:graphicFrame>
        <p:nvGraphicFramePr>
          <p:cNvPr id="43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54480"/>
          <a:ext cx="498348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Qtd.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Labels (lblTitulo, lblDescricao)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Campo de texto (txtBuscar)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Botões (btnBuscar, btnOuvir)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Image (imgPalavra)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Sound (não visível)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TextToSpeech (não visível)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o"/>
          <p:cNvSpPr txBox="1"/>
          <p:nvPr/>
        </p:nvSpPr>
        <p:spPr>
          <a:xfrm>
            <a:off x="6675120" y="5029200"/>
            <a:ext cx="4983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Ao buscar "chuva", a Fig. 72 mostra: "A palavra chuva significa: Precipitação das nuvens".</a:t>
            </a:r>
            <a:endParaRPr lang="en-US" sz="14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9, passo 1, Figs. 61, 62 e 72 (p. 46-53)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2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Duas listas paralelas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 posição liga a palavra ao seu significado</a:t>
            </a:r>
            <a:endParaRPr lang="en-US" sz="1600" dirty="0"/>
          </a:p>
        </p:txBody>
      </p:sp>
      <p:sp>
        <p:nvSpPr>
          <p:cNvPr id="4" name="moldura f63"/>
          <p:cNvSpPr/>
          <p:nvPr/>
        </p:nvSpPr>
        <p:spPr>
          <a:xfrm>
            <a:off x="587063" y="1417320"/>
            <a:ext cx="6323953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63" descr="Fig. 63 – Inicializando a lista (apostila, p. 4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5" y="1490472"/>
            <a:ext cx="6177649" cy="1682496"/>
          </a:xfrm>
          <a:prstGeom prst="rect">
            <a:avLst/>
          </a:prstGeom>
        </p:spPr>
      </p:pic>
      <p:sp>
        <p:nvSpPr>
          <p:cNvPr id="6" name="legenda f63"/>
          <p:cNvSpPr txBox="1"/>
          <p:nvPr/>
        </p:nvSpPr>
        <p:spPr>
          <a:xfrm>
            <a:off x="548640" y="32644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63 – Inicializando a lista (apostila, p. 47)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Diagrama recriado a partir da Fig. 63</a:t>
            </a:r>
            <a:endParaRPr lang="en-US" sz="1100" dirty="0"/>
          </a:p>
        </p:txBody>
      </p:sp>
      <p:graphicFrame>
        <p:nvGraphicFramePr>
          <p:cNvPr id="4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6400800" cy="1371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Índice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listaDePalavras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listaDeSignificados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bola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Objeto esférico utilizado em esportes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chuva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Precipitação das nuvens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destaque Regra destacada pela apostila"/>
          <p:cNvSpPr/>
          <p:nvPr/>
        </p:nvSpPr>
        <p:spPr>
          <a:xfrm>
            <a:off x="7223760" y="1463040"/>
            <a:ext cx="4416552" cy="2194560"/>
          </a:xfrm>
          <a:prstGeom prst="roundRect">
            <a:avLst>
              <a:gd name="adj" fmla="val 4167"/>
            </a:avLst>
          </a:prstGeom>
          <a:solidFill>
            <a:schemeClr val="accent5">
              <a:alpha val="15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7388352" y="1554480"/>
            <a:ext cx="40873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Regra destacada pela apostila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As listas no App Inventor começam em 1, e não em 0.</a:t>
            </a:r>
            <a:endParaRPr lang="en-US" sz="1300" dirty="0"/>
          </a:p>
        </p:txBody>
      </p:sp>
      <p:sp>
        <p:nvSpPr>
          <p:cNvPr id="11" name="lista"/>
          <p:cNvSpPr txBox="1"/>
          <p:nvPr/>
        </p:nvSpPr>
        <p:spPr>
          <a:xfrm>
            <a:off x="7223760" y="3931920"/>
            <a:ext cx="4416552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Criadas como variáveis globais com o bloco make a list.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item na posição N de uma lista corresponde ao item na posição N da outra.</a:t>
            </a:r>
            <a:endParaRPr lang="en-US" sz="15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9, passo 2, Fig. 63 (p. 47) e passo 4 (p. 48)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 busca: is in list?, index in list e select list item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Encontrar a posição da palavra e usá-la na outra lista</a:t>
            </a:r>
            <a:endParaRPr lang="en-US" sz="1600" dirty="0"/>
          </a:p>
        </p:txBody>
      </p:sp>
      <p:sp>
        <p:nvSpPr>
          <p:cNvPr id="4" name="moldura f65"/>
          <p:cNvSpPr/>
          <p:nvPr/>
        </p:nvSpPr>
        <p:spPr>
          <a:xfrm>
            <a:off x="685821" y="1417320"/>
            <a:ext cx="640075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65" descr="Fig. 65 – Localização da palavra (apostila, p. 4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73" y="1490472"/>
            <a:ext cx="6254455" cy="2871216"/>
          </a:xfrm>
          <a:prstGeom prst="rect">
            <a:avLst/>
          </a:prstGeom>
        </p:spPr>
      </p:pic>
      <p:sp>
        <p:nvSpPr>
          <p:cNvPr id="6" name="legenda f65"/>
          <p:cNvSpPr txBox="1"/>
          <p:nvPr/>
        </p:nvSpPr>
        <p:spPr>
          <a:xfrm>
            <a:off x="548640" y="44531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65 – Localização da palavra (apostila, p. 48)</a:t>
            </a:r>
            <a:endParaRPr lang="en-US" sz="1050" dirty="0"/>
          </a:p>
        </p:txBody>
      </p:sp>
      <p:graphicFrame>
        <p:nvGraphicFramePr>
          <p:cNvPr id="45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6675120" cy="137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Bloco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Resultado para "chuva"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is in list? thing = txtBuscar.Text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index in list thing (listaDePalavras)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select list item (listaDeSignificados)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set lblDescricao.Text to join(…)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ista"/>
          <p:cNvSpPr txBox="1"/>
          <p:nvPr/>
        </p:nvSpPr>
        <p:spPr>
          <a:xfrm>
            <a:off x="7498080" y="1508760"/>
            <a:ext cx="416052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Se a palavra existe: </a:t>
            </a:r>
            <a:r>
              <a:rPr lang="en-US" sz="1500" dirty="0">
                <a:solidFill>
                  <a:schemeClr val="tx1"/>
                </a:solidFill>
              </a:rPr>
              <a:t>mostra "A palavra", o texto digitado, "significa" e o significado.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Se não existe: </a:t>
            </a:r>
            <a:r>
              <a:rPr lang="en-US" sz="1500" dirty="0">
                <a:solidFill>
                  <a:schemeClr val="tx1"/>
                </a:solidFill>
              </a:rPr>
              <a:t>mostra que a palavra "não foi encontrada".</a:t>
            </a:r>
            <a:endParaRPr lang="en-US" sz="1500" dirty="0"/>
          </a:p>
        </p:txBody>
      </p:sp>
      <p:sp>
        <p:nvSpPr>
          <p:cNvPr id="9" name="destaque Teste de mesa"/>
          <p:cNvSpPr/>
          <p:nvPr/>
        </p:nvSpPr>
        <p:spPr>
          <a:xfrm>
            <a:off x="7498080" y="3840480"/>
            <a:ext cx="4160520" cy="2286000"/>
          </a:xfrm>
          <a:prstGeom prst="roundRect">
            <a:avLst>
              <a:gd name="adj" fmla="val 4000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7662672" y="3931920"/>
            <a:ext cx="3831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Teste de mesa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Preencha a tabela para a busca "chuva" e depois para "sol".</a:t>
            </a:r>
            <a:endParaRPr lang="en-US" sz="13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9, passos 3-4, Figs. 64 e 65 (p. 48)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Imagem, som e fala montados com texto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nome do arquivo é construído a partir do que foi digitado</a:t>
            </a:r>
            <a:endParaRPr lang="en-US" sz="1600" dirty="0"/>
          </a:p>
        </p:txBody>
      </p:sp>
      <p:graphicFrame>
        <p:nvGraphicFramePr>
          <p:cNvPr id="4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27432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Bloco (apostila)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Busca por "bola"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Imagem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imgPalavra.Picture to join(txtBuscar.Text, ".jpg")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bola.jpg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Sound1.Source to join(txtBuscar.Text, ".mp3") + call Sound1.Play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bola.mp3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TextToSpeech1.Language to "Portuguese" + call TextToSpeech1.Speak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lê a definição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moldura f70"/>
          <p:cNvSpPr/>
          <p:nvPr/>
        </p:nvSpPr>
        <p:spPr>
          <a:xfrm>
            <a:off x="1637425" y="4572000"/>
            <a:ext cx="5320511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igura f70" descr="Fig. 70 – Botão ouvir som (apostila, p. 5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77" y="4645152"/>
            <a:ext cx="5174207" cy="1271016"/>
          </a:xfrm>
          <a:prstGeom prst="rect">
            <a:avLst/>
          </a:prstGeom>
        </p:spPr>
      </p:pic>
      <p:sp>
        <p:nvSpPr>
          <p:cNvPr id="7" name="legenda f70"/>
          <p:cNvSpPr txBox="1"/>
          <p:nvPr/>
        </p:nvSpPr>
        <p:spPr>
          <a:xfrm>
            <a:off x="548640" y="6007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70 – Botão ouvir som (apostila, p. 51)</a:t>
            </a:r>
            <a:endParaRPr lang="en-US" sz="1050" dirty="0"/>
          </a:p>
        </p:txBody>
      </p:sp>
      <p:sp>
        <p:nvSpPr>
          <p:cNvPr id="8" name="moldura f67"/>
          <p:cNvSpPr/>
          <p:nvPr/>
        </p:nvSpPr>
        <p:spPr>
          <a:xfrm>
            <a:off x="8585570" y="1463040"/>
            <a:ext cx="27627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figura f67" descr="Fig. 67 – Mídias carregadas (p. 4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722" y="1536192"/>
            <a:ext cx="2616476" cy="2139696"/>
          </a:xfrm>
          <a:prstGeom prst="rect">
            <a:avLst/>
          </a:prstGeom>
        </p:spPr>
      </p:pic>
      <p:sp>
        <p:nvSpPr>
          <p:cNvPr id="10" name="legenda f67"/>
          <p:cNvSpPr txBox="1"/>
          <p:nvPr/>
        </p:nvSpPr>
        <p:spPr>
          <a:xfrm>
            <a:off x="832104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67 – Mídias carregadas (p. 49)</a:t>
            </a:r>
            <a:endParaRPr lang="en-US" sz="1050" dirty="0"/>
          </a:p>
        </p:txBody>
      </p:sp>
      <p:sp>
        <p:nvSpPr>
          <p:cNvPr id="11" name="destaque Condição"/>
          <p:cNvSpPr/>
          <p:nvPr/>
        </p:nvSpPr>
        <p:spPr>
          <a:xfrm>
            <a:off x="8321040" y="4343400"/>
            <a:ext cx="3291840" cy="1783080"/>
          </a:xfrm>
          <a:prstGeom prst="roundRect">
            <a:avLst>
              <a:gd name="adj" fmla="val 5128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 txBox="1"/>
          <p:nvPr/>
        </p:nvSpPr>
        <p:spPr>
          <a:xfrm>
            <a:off x="8485632" y="4434840"/>
            <a:ext cx="29626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Condição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Os nomes dos arquivos em Media devem coincidir com as palavras da lista.</a:t>
            </a:r>
            <a:endParaRPr lang="en-US" sz="1300" dirty="0"/>
          </a:p>
        </p:txBody>
      </p:sp>
      <p:sp>
        <p:nvSpPr>
          <p:cNvPr id="13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9, passos 5-8, Figs. 66-70 (p. 49-51)</a:t>
            </a:r>
            <a:endParaRPr lang="en-US" sz="1050" dirty="0"/>
          </a:p>
        </p:txBody>
      </p:sp>
      <p:sp>
        <p:nvSpPr>
          <p:cNvPr id="14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Desenho, câmera e jogos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07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Canvas: desenhar com eventos de toque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Câmera e galeria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Sprites, Clock e colisão no Space Invaders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46 a 51 · 19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10 (p. 54-59) e cap. 7 (p. 35-37)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Editor de imagens: componentes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Tirar foto ou abrir da galeria, desenhar no Canvas e salvar</a:t>
            </a:r>
            <a:endParaRPr lang="en-US" sz="1600" dirty="0"/>
          </a:p>
        </p:txBody>
      </p:sp>
      <p:sp>
        <p:nvSpPr>
          <p:cNvPr id="4" name="moldura f74"/>
          <p:cNvSpPr/>
          <p:nvPr/>
        </p:nvSpPr>
        <p:spPr>
          <a:xfrm>
            <a:off x="577077" y="1417320"/>
            <a:ext cx="2869206" cy="4572000"/>
          </a:xfrm>
          <a:prstGeom prst="roundRect">
            <a:avLst>
              <a:gd name="adj" fmla="val 255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74" descr="Fig. 74 – Layout (p. 5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9" y="1490472"/>
            <a:ext cx="2722902" cy="4425696"/>
          </a:xfrm>
          <a:prstGeom prst="rect">
            <a:avLst/>
          </a:prstGeom>
        </p:spPr>
      </p:pic>
      <p:sp>
        <p:nvSpPr>
          <p:cNvPr id="6" name="legenda f74"/>
          <p:cNvSpPr txBox="1"/>
          <p:nvPr/>
        </p:nvSpPr>
        <p:spPr>
          <a:xfrm>
            <a:off x="548640" y="6007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74 – Layout (p. 55)</a:t>
            </a:r>
            <a:endParaRPr lang="en-US" sz="1050" dirty="0"/>
          </a:p>
        </p:txBody>
      </p:sp>
      <p:sp>
        <p:nvSpPr>
          <p:cNvPr id="7" name="moldura f84"/>
          <p:cNvSpPr/>
          <p:nvPr/>
        </p:nvSpPr>
        <p:spPr>
          <a:xfrm>
            <a:off x="3707775" y="1417320"/>
            <a:ext cx="2642850" cy="4572000"/>
          </a:xfrm>
          <a:prstGeom prst="roundRect">
            <a:avLst>
              <a:gd name="adj" fmla="val 276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84" descr="Fig. 84 – App final 2 (p. 5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927" y="1490472"/>
            <a:ext cx="2496546" cy="4425696"/>
          </a:xfrm>
          <a:prstGeom prst="rect">
            <a:avLst/>
          </a:prstGeom>
        </p:spPr>
      </p:pic>
      <p:sp>
        <p:nvSpPr>
          <p:cNvPr id="9" name="legenda f84"/>
          <p:cNvSpPr txBox="1"/>
          <p:nvPr/>
        </p:nvSpPr>
        <p:spPr>
          <a:xfrm>
            <a:off x="3657600" y="6007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84 – App final 2 (p. 59)</a:t>
            </a:r>
            <a:endParaRPr lang="en-US" sz="1050" dirty="0"/>
          </a:p>
        </p:txBody>
      </p:sp>
      <p:sp>
        <p:nvSpPr>
          <p:cNvPr id="10" name="lista"/>
          <p:cNvSpPr txBox="1"/>
          <p:nvPr/>
        </p:nvSpPr>
        <p:spPr>
          <a:xfrm>
            <a:off x="6675120" y="1508760"/>
            <a:ext cx="498348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6 botões: </a:t>
            </a:r>
            <a:r>
              <a:rPr lang="en-US" sz="1600" dirty="0">
                <a:solidFill>
                  <a:schemeClr val="tx1"/>
                </a:solidFill>
              </a:rPr>
              <a:t>Vermelho, Verde, Azul, Tirar Foto, Salvar, Limpar quadro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1 ImagePicker: </a:t>
            </a:r>
            <a:r>
              <a:rPr lang="en-US" sz="1600" dirty="0">
                <a:solidFill>
                  <a:schemeClr val="tx1"/>
                </a:solidFill>
              </a:rPr>
              <a:t>Acessar Galeria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1 campo de texto: </a:t>
            </a:r>
            <a:r>
              <a:rPr lang="en-US" sz="1600" dirty="0">
                <a:solidFill>
                  <a:schemeClr val="tx1"/>
                </a:solidFill>
              </a:rPr>
              <a:t>nome da foto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Label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Canvas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Camera (não visível)</a:t>
            </a:r>
            <a:endParaRPr lang="en-US" sz="16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10, passo 1, Figs. 73, 74 e 84 (p. 54-59)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2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Canvas: Touched desenha, Dragged traça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Os eventos entregam coordenadas que viram parâmetros do desenho</a:t>
            </a:r>
            <a:endParaRPr lang="en-US" sz="1600" dirty="0"/>
          </a:p>
        </p:txBody>
      </p:sp>
      <p:sp>
        <p:nvSpPr>
          <p:cNvPr id="4" name="moldura f75"/>
          <p:cNvSpPr/>
          <p:nvPr/>
        </p:nvSpPr>
        <p:spPr>
          <a:xfrm>
            <a:off x="686597" y="1417320"/>
            <a:ext cx="4844726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75" descr="Fig. 75 – Desenhando círculos (p. 5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9" y="1490472"/>
            <a:ext cx="4698422" cy="2688336"/>
          </a:xfrm>
          <a:prstGeom prst="rect">
            <a:avLst/>
          </a:prstGeom>
        </p:spPr>
      </p:pic>
      <p:sp>
        <p:nvSpPr>
          <p:cNvPr id="6" name="legenda f75"/>
          <p:cNvSpPr txBox="1"/>
          <p:nvPr/>
        </p:nvSpPr>
        <p:spPr>
          <a:xfrm>
            <a:off x="548640" y="4270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75 – Desenhando círculos (p. 55)</a:t>
            </a:r>
            <a:endParaRPr lang="en-US" sz="1050" dirty="0"/>
          </a:p>
        </p:txBody>
      </p:sp>
      <p:sp>
        <p:nvSpPr>
          <p:cNvPr id="7" name="moldura f76"/>
          <p:cNvSpPr/>
          <p:nvPr/>
        </p:nvSpPr>
        <p:spPr>
          <a:xfrm>
            <a:off x="5943600" y="1656731"/>
            <a:ext cx="5715000" cy="2355819"/>
          </a:xfrm>
          <a:prstGeom prst="roundRect">
            <a:avLst>
              <a:gd name="adj" fmla="val 310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76" descr="Fig. 76 – Função drag (p. 56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729883"/>
            <a:ext cx="5568696" cy="2209515"/>
          </a:xfrm>
          <a:prstGeom prst="rect">
            <a:avLst/>
          </a:prstGeom>
        </p:spPr>
      </p:pic>
      <p:sp>
        <p:nvSpPr>
          <p:cNvPr id="9" name="legenda f76"/>
          <p:cNvSpPr txBox="1"/>
          <p:nvPr/>
        </p:nvSpPr>
        <p:spPr>
          <a:xfrm>
            <a:off x="5943600" y="4030837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76 – Função drag (p. 56)</a:t>
            </a:r>
            <a:endParaRPr lang="en-US" sz="1050" dirty="0"/>
          </a:p>
        </p:txBody>
      </p:sp>
      <p:sp>
        <p:nvSpPr>
          <p:cNvPr id="10" name="cartao Touched (x, y)"/>
          <p:cNvSpPr/>
          <p:nvPr/>
        </p:nvSpPr>
        <p:spPr>
          <a:xfrm>
            <a:off x="548640" y="4754880"/>
            <a:ext cx="5120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elo Touched (x, y)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7315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49194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Touched (x, y)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559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call Canvas1.DrawCircle: centerX = x, centerY = y, radius 12, fill true</a:t>
            </a:r>
            <a:endParaRPr lang="en-US" sz="1400" dirty="0"/>
          </a:p>
        </p:txBody>
      </p:sp>
      <p:sp>
        <p:nvSpPr>
          <p:cNvPr id="15" name="cartao Dragged (prevX, prevY, currentX, currentY)"/>
          <p:cNvSpPr/>
          <p:nvPr/>
        </p:nvSpPr>
        <p:spPr>
          <a:xfrm>
            <a:off x="5943600" y="4754880"/>
            <a:ext cx="57150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elo Dragged (prevX, prevY, currentX, currentY)"/>
          <p:cNvSpPr/>
          <p:nvPr/>
        </p:nvSpPr>
        <p:spPr>
          <a:xfrm>
            <a:off x="6126480" y="4937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 txBox="1"/>
          <p:nvPr/>
        </p:nvSpPr>
        <p:spPr>
          <a:xfrm>
            <a:off x="61264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49194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Dragged (prevX, prevY, currentX, currentY)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126480" y="555955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LineWidth 12 e call Canvas1.DrawLine de (prevX, prevY) até (currentX, currentY)</a:t>
            </a:r>
            <a:endParaRPr lang="en-US" sz="1400" dirty="0"/>
          </a:p>
        </p:txBody>
      </p:sp>
      <p:sp>
        <p:nvSpPr>
          <p:cNvPr id="2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10, passos 2-3, Figs. 75 e 76 (p. 55-56)</a:t>
            </a:r>
            <a:endParaRPr lang="en-US" sz="1050" dirty="0"/>
          </a:p>
        </p:txBody>
      </p:sp>
      <p:sp>
        <p:nvSpPr>
          <p:cNvPr id="2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Cor, limpeza, câmera, galeria e salvar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Cada botão faz uma única coisa: eventos curtos e fáceis de ler</a:t>
            </a:r>
            <a:endParaRPr lang="en-US" sz="1600" dirty="0"/>
          </a:p>
        </p:txBody>
      </p:sp>
      <p:graphicFrame>
        <p:nvGraphicFramePr>
          <p:cNvPr id="5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58444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Evento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Ação (apostila)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btnRed / btnGreen / btnBlue.Click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 Canvas1.PaintColor (vermelho, verde, azul)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btnLimpar.Click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call Canvas1.Clear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imagePickerCarregarFoto.AfterPicking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Canvas1.BackgroundImage ← imagePicker.Selection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btnTirarFoto.Click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call Camera1.TakePicture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Camera1.AfterPicture (image)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Canvas1.BackgroundImage ← image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btnSalvar.Click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Canvas1.SaveAs fileName = join(txtNomeFoto.Text, extensão)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estaque Mesmo padrão do tradutor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13232" y="5440680"/>
            <a:ext cx="10762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Mesmo padrão do tradutor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TakePicture pede a foto; a imagem chega depois, no evento AfterPicture.</a:t>
            </a:r>
            <a:endParaRPr lang="en-US" sz="1300" dirty="0"/>
          </a:p>
        </p:txBody>
      </p:sp>
      <p:sp>
        <p:nvSpPr>
          <p:cNvPr id="7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10, passos 4-8, Figs. 77-81 (p. 56-57)</a:t>
            </a:r>
            <a:endParaRPr lang="en-US" sz="1050" dirty="0"/>
          </a:p>
        </p:txBody>
      </p:sp>
      <p:sp>
        <p:nvSpPr>
          <p:cNvPr id="8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Space Invaders: objetivos e componentes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Clock, timer para mover sprites, colisão e visibilidade</a:t>
            </a:r>
            <a:endParaRPr lang="en-US" sz="1600" dirty="0"/>
          </a:p>
        </p:txBody>
      </p:sp>
      <p:sp>
        <p:nvSpPr>
          <p:cNvPr id="4" name="moldura f42"/>
          <p:cNvSpPr/>
          <p:nvPr/>
        </p:nvSpPr>
        <p:spPr>
          <a:xfrm>
            <a:off x="596222" y="1417320"/>
            <a:ext cx="2648036" cy="4572000"/>
          </a:xfrm>
          <a:prstGeom prst="roundRect">
            <a:avLst>
              <a:gd name="adj" fmla="val 276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42" descr="Fig. 42 – Space Invaders (p. 3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74" y="1490472"/>
            <a:ext cx="2501732" cy="4425696"/>
          </a:xfrm>
          <a:prstGeom prst="rect">
            <a:avLst/>
          </a:prstGeom>
        </p:spPr>
      </p:pic>
      <p:sp>
        <p:nvSpPr>
          <p:cNvPr id="6" name="legenda f42"/>
          <p:cNvSpPr txBox="1"/>
          <p:nvPr/>
        </p:nvSpPr>
        <p:spPr>
          <a:xfrm>
            <a:off x="548640" y="6007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42 – Space Invaders (p. 35)</a:t>
            </a:r>
            <a:endParaRPr lang="en-US" sz="1050" dirty="0"/>
          </a:p>
        </p:txBody>
      </p:sp>
      <p:sp>
        <p:nvSpPr>
          <p:cNvPr id="7" name="moldura t37"/>
          <p:cNvSpPr/>
          <p:nvPr/>
        </p:nvSpPr>
        <p:spPr>
          <a:xfrm>
            <a:off x="3546854" y="1417320"/>
            <a:ext cx="4884932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t37" descr="Tabela de componentes (apostila, p. 3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006" y="1490472"/>
            <a:ext cx="4738628" cy="2871216"/>
          </a:xfrm>
          <a:prstGeom prst="rect">
            <a:avLst/>
          </a:prstGeom>
        </p:spPr>
      </p:pic>
      <p:sp>
        <p:nvSpPr>
          <p:cNvPr id="9" name="legenda t37"/>
          <p:cNvSpPr txBox="1"/>
          <p:nvPr/>
        </p:nvSpPr>
        <p:spPr>
          <a:xfrm>
            <a:off x="3520440" y="4453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Tabela de componentes (apostila, p. 37)</a:t>
            </a:r>
            <a:endParaRPr lang="en-US" sz="1050" dirty="0"/>
          </a:p>
        </p:txBody>
      </p:sp>
      <p:sp>
        <p:nvSpPr>
          <p:cNvPr id="10" name="lista"/>
          <p:cNvSpPr txBox="1"/>
          <p:nvPr/>
        </p:nvSpPr>
        <p:spPr>
          <a:xfrm>
            <a:off x="8686800" y="1508760"/>
            <a:ext cx="297180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Usar o componente Clock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Usar o timer para movimentar os sprites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Detectar colisão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Definir a visibilidade de sprites</a:t>
            </a:r>
            <a:endParaRPr lang="en-US" sz="1500" dirty="0"/>
          </a:p>
        </p:txBody>
      </p:sp>
      <p:sp>
        <p:nvSpPr>
          <p:cNvPr id="11" name="texto"/>
          <p:cNvSpPr txBox="1"/>
          <p:nvPr/>
        </p:nvSpPr>
        <p:spPr>
          <a:xfrm>
            <a:off x="3520440" y="5029200"/>
            <a:ext cx="81381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Sprites: imagens PNG de uma nave amiga e uma inimiga (sugestão da apostila: flaticon.com).</a:t>
            </a:r>
            <a:endParaRPr lang="en-US" sz="14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7.1 e 7.2, Figs. 42-44 e tabela de componentes (p. 35-37)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Space Invaders: leitura dos blocos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Cada evento do jogo tem uma regra simples</a:t>
            </a:r>
            <a:endParaRPr lang="en-US" sz="1600" dirty="0"/>
          </a:p>
        </p:txBody>
      </p:sp>
      <p:sp>
        <p:nvSpPr>
          <p:cNvPr id="4" name="moldura f45"/>
          <p:cNvSpPr/>
          <p:nvPr/>
        </p:nvSpPr>
        <p:spPr>
          <a:xfrm>
            <a:off x="548640" y="1601604"/>
            <a:ext cx="5394960" cy="2603231"/>
          </a:xfrm>
          <a:prstGeom prst="roundRect">
            <a:avLst>
              <a:gd name="adj" fmla="val 2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45" descr="Fig. 45 – Blocos (apostila, p. 3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4756"/>
            <a:ext cx="5248656" cy="2456927"/>
          </a:xfrm>
          <a:prstGeom prst="rect">
            <a:avLst/>
          </a:prstGeom>
        </p:spPr>
      </p:pic>
      <p:sp>
        <p:nvSpPr>
          <p:cNvPr id="6" name="legenda f45"/>
          <p:cNvSpPr txBox="1"/>
          <p:nvPr/>
        </p:nvSpPr>
        <p:spPr>
          <a:xfrm>
            <a:off x="548640" y="42231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45 – Blocos (apostila, p. 37)</a:t>
            </a:r>
            <a:endParaRPr lang="en-US" sz="1050" dirty="0"/>
          </a:p>
        </p:txBody>
      </p:sp>
      <p:graphicFrame>
        <p:nvGraphicFramePr>
          <p:cNvPr id="5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63040"/>
          <a:ext cx="5486400" cy="2529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Evento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 que acontece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Screen1.Initialize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Bullet invisível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RocketSprite.Dragged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nave segue o dedo no eixo X (currentX)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RocketSprite.Touched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Bullet vai ao centro da nave, fica visível, Speed 5, Heading 90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Clock1.Timer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SaucerSprite.X = número aleatório entre 0 e (largura do Canvas − largura do disco)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Bullet.EdgeReached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Bullet invisível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Bullet.CollidedWith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Bullet invisível, placar +1, disco em novo X aleatório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ResetButton.Click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placar = 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destaque Previsão"/>
          <p:cNvSpPr/>
          <p:nvPr/>
        </p:nvSpPr>
        <p:spPr>
          <a:xfrm>
            <a:off x="548640" y="4846320"/>
            <a:ext cx="5394960" cy="1325880"/>
          </a:xfrm>
          <a:prstGeom prst="roundRect">
            <a:avLst>
              <a:gd name="adj" fmla="val 6897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 txBox="1"/>
          <p:nvPr/>
        </p:nvSpPr>
        <p:spPr>
          <a:xfrm>
            <a:off x="713232" y="4937760"/>
            <a:ext cx="5065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Previsão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Por que o limite do número aleatório é "largura do Canvas menos largura do disco" e não apenas a largura do Canvas?</a:t>
            </a:r>
            <a:endParaRPr lang="en-US" sz="1300" dirty="0"/>
          </a:p>
        </p:txBody>
      </p:sp>
      <p:sp>
        <p:nvSpPr>
          <p:cNvPr id="1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7.2, passo 3, Fig. 45 (p. 37)</a:t>
            </a:r>
            <a:endParaRPr lang="en-US" sz="1050" dirty="0"/>
          </a:p>
        </p:txBody>
      </p:sp>
      <p:sp>
        <p:nvSpPr>
          <p:cNvPr id="1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6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Chat com Firebase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08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Banco de dados em nuvem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Configurar FirebaseDB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Procedimentos (procedures)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Evento DataChanged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52 a 55 · 11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cap. 6 (p. 27-34)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Firebase: vantagens e configuração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Banco de dados na nuvem, em tempo real, configurado sem código</a:t>
            </a:r>
            <a:endParaRPr lang="en-US" sz="1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508760"/>
            <a:ext cx="502920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Autenticação que fornece acesso seguro</a:t>
            </a:r>
            <a:endParaRPr lang="en-US" sz="15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Na nuvem: </a:t>
            </a:r>
            <a:r>
              <a:rPr lang="en-US" sz="1500" dirty="0">
                <a:solidFill>
                  <a:schemeClr val="tx1"/>
                </a:solidFill>
              </a:rPr>
              <a:t>acessível de qualquer aparelho</a:t>
            </a:r>
            <a:endParaRPr lang="en-US" sz="15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Tempo real: </a:t>
            </a:r>
            <a:r>
              <a:rPr lang="en-US" sz="1500" dirty="0">
                <a:solidFill>
                  <a:schemeClr val="tx1"/>
                </a:solidFill>
              </a:rPr>
              <a:t>mostra as modificações assim que atualizado</a:t>
            </a:r>
            <a:endParaRPr lang="en-US" sz="15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Permite adicionar colaboradores</a:t>
            </a:r>
            <a:endParaRPr lang="en-US" sz="15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Interface gráfica para manipular os dados</a:t>
            </a:r>
            <a:endParaRPr lang="en-US" sz="15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Não há código, apenas configuração</a:t>
            </a:r>
            <a:endParaRPr lang="en-US" sz="1500" dirty="0"/>
          </a:p>
        </p:txBody>
      </p:sp>
      <p:sp>
        <p:nvSpPr>
          <p:cNvPr id="5" name="lista"/>
          <p:cNvSpPr txBox="1"/>
          <p:nvPr/>
        </p:nvSpPr>
        <p:spPr>
          <a:xfrm>
            <a:off x="548640" y="4800600"/>
            <a:ext cx="50292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console.firebase.google.com (conta Google)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tx2"/>
                </a:solidFill>
              </a:rPr>
              <a:t>Add Project: </a:t>
            </a:r>
            <a:r>
              <a:rPr lang="en-US" sz="1400" dirty="0">
                <a:solidFill>
                  <a:schemeClr val="tx1"/>
                </a:solidFill>
              </a:rPr>
              <a:t>nome e país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Database → Real Time Database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Em rules, deixar igual à Fig. 32</a:t>
            </a:r>
            <a:endParaRPr lang="en-US" sz="1400" dirty="0"/>
          </a:p>
        </p:txBody>
      </p:sp>
      <p:sp>
        <p:nvSpPr>
          <p:cNvPr id="6" name="moldura f31"/>
          <p:cNvSpPr/>
          <p:nvPr/>
        </p:nvSpPr>
        <p:spPr>
          <a:xfrm>
            <a:off x="6328164" y="1417320"/>
            <a:ext cx="4854433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figura f31" descr="Fig. 31 – Configurações do projeto (p. 2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316" y="1490472"/>
            <a:ext cx="4708129" cy="1956816"/>
          </a:xfrm>
          <a:prstGeom prst="rect">
            <a:avLst/>
          </a:prstGeom>
        </p:spPr>
      </p:pic>
      <p:sp>
        <p:nvSpPr>
          <p:cNvPr id="8" name="legenda f31"/>
          <p:cNvSpPr txBox="1"/>
          <p:nvPr/>
        </p:nvSpPr>
        <p:spPr>
          <a:xfrm>
            <a:off x="5852160" y="3538728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31 – Configurações do projeto (p. 29)</a:t>
            </a:r>
            <a:endParaRPr lang="en-US" sz="1050" dirty="0"/>
          </a:p>
        </p:txBody>
      </p:sp>
      <p:sp>
        <p:nvSpPr>
          <p:cNvPr id="9" name="moldura f32"/>
          <p:cNvSpPr/>
          <p:nvPr/>
        </p:nvSpPr>
        <p:spPr>
          <a:xfrm>
            <a:off x="7228415" y="3931920"/>
            <a:ext cx="3053931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figura f32" descr="Fig. 32 – Níveis de segurança (p. 2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567" y="4005072"/>
            <a:ext cx="2907627" cy="1911096"/>
          </a:xfrm>
          <a:prstGeom prst="rect">
            <a:avLst/>
          </a:prstGeom>
        </p:spPr>
      </p:pic>
      <p:sp>
        <p:nvSpPr>
          <p:cNvPr id="11" name="legenda f32"/>
          <p:cNvSpPr txBox="1"/>
          <p:nvPr/>
        </p:nvSpPr>
        <p:spPr>
          <a:xfrm>
            <a:off x="5852160" y="6007608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32 – Níveis de segurança (p. 29)</a:t>
            </a:r>
            <a:endParaRPr lang="en-US" sz="105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6 e 6.1, passos 1-4, Figs. 28-32 (p. 27-29)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No App Inventor: FirebaseDB e procedimentos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botão Enviar chama um procedimento que valida e grava</a:t>
            </a:r>
            <a:endParaRPr lang="en-US" sz="1600" dirty="0"/>
          </a:p>
        </p:txBody>
      </p:sp>
      <p:sp>
        <p:nvSpPr>
          <p:cNvPr id="4" name="moldura f33"/>
          <p:cNvSpPr/>
          <p:nvPr/>
        </p:nvSpPr>
        <p:spPr>
          <a:xfrm>
            <a:off x="599172" y="1417320"/>
            <a:ext cx="2184937" cy="3566160"/>
          </a:xfrm>
          <a:prstGeom prst="roundRect">
            <a:avLst>
              <a:gd name="adj" fmla="val 334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33" descr="Fig. 33 (p. 3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24" y="1490472"/>
            <a:ext cx="2038633" cy="3419856"/>
          </a:xfrm>
          <a:prstGeom prst="rect">
            <a:avLst/>
          </a:prstGeom>
        </p:spPr>
      </p:pic>
      <p:sp>
        <p:nvSpPr>
          <p:cNvPr id="6" name="legenda f33"/>
          <p:cNvSpPr txBox="1"/>
          <p:nvPr/>
        </p:nvSpPr>
        <p:spPr>
          <a:xfrm>
            <a:off x="548640" y="5001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33 (p. 30)</a:t>
            </a:r>
            <a:endParaRPr lang="en-US" sz="1050" dirty="0"/>
          </a:p>
        </p:txBody>
      </p:sp>
      <p:sp>
        <p:nvSpPr>
          <p:cNvPr id="7" name="moldura f39"/>
          <p:cNvSpPr/>
          <p:nvPr/>
        </p:nvSpPr>
        <p:spPr>
          <a:xfrm>
            <a:off x="3134415" y="1417320"/>
            <a:ext cx="497829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39" descr="Fig. 39 – Procedimento isChatEntered (p. 3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567" y="1490472"/>
            <a:ext cx="4831986" cy="2139696"/>
          </a:xfrm>
          <a:prstGeom prst="rect">
            <a:avLst/>
          </a:prstGeom>
        </p:spPr>
      </p:pic>
      <p:sp>
        <p:nvSpPr>
          <p:cNvPr id="9" name="legenda f39"/>
          <p:cNvSpPr txBox="1"/>
          <p:nvPr/>
        </p:nvSpPr>
        <p:spPr>
          <a:xfrm>
            <a:off x="3063240" y="37216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39 – Procedimento isChatEntered (p. 33)</a:t>
            </a:r>
            <a:endParaRPr lang="en-US" sz="1050" dirty="0"/>
          </a:p>
        </p:txBody>
      </p:sp>
      <p:sp>
        <p:nvSpPr>
          <p:cNvPr id="10" name="moldura f40"/>
          <p:cNvSpPr/>
          <p:nvPr/>
        </p:nvSpPr>
        <p:spPr>
          <a:xfrm>
            <a:off x="3613899" y="4160520"/>
            <a:ext cx="401932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figura f40" descr="Fig. 40 – Validação do usuário (p. 33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051" y="4233672"/>
            <a:ext cx="3873018" cy="1682496"/>
          </a:xfrm>
          <a:prstGeom prst="rect">
            <a:avLst/>
          </a:prstGeom>
        </p:spPr>
      </p:pic>
      <p:sp>
        <p:nvSpPr>
          <p:cNvPr id="12" name="legenda f40"/>
          <p:cNvSpPr txBox="1"/>
          <p:nvPr/>
        </p:nvSpPr>
        <p:spPr>
          <a:xfrm>
            <a:off x="3063240" y="60076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40 – Validação do usuário (p. 33)</a:t>
            </a:r>
            <a:endParaRPr lang="en-US" sz="1050" dirty="0"/>
          </a:p>
        </p:txBody>
      </p:sp>
      <p:sp>
        <p:nvSpPr>
          <p:cNvPr id="13" name="lista"/>
          <p:cNvSpPr txBox="1"/>
          <p:nvPr/>
        </p:nvSpPr>
        <p:spPr>
          <a:xfrm>
            <a:off x="8412480" y="1508760"/>
            <a:ext cx="324612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FirebaseDB1 fica em EXPERIMENTAL; em Properties, configurar FirebaseURL.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Variáveis globais KEY_USER e KEY_CHAT.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btnEnviar chama isChatEntered; btnLimpar apaga o histórico.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 há mensagem: </a:t>
            </a:r>
            <a:r>
              <a:rPr lang="en-US" sz="1400" dirty="0">
                <a:solidFill>
                  <a:schemeClr val="tx1"/>
                </a:solidFill>
              </a:rPr>
              <a:t>valida o nome e grava em KEY_CHAT o nome concatenado com a mensagem.</a:t>
            </a:r>
            <a:endParaRPr lang="en-US" sz="1400" dirty="0"/>
          </a:p>
        </p:txBody>
      </p:sp>
      <p:sp>
        <p:nvSpPr>
          <p:cNvPr id="14" name="texto"/>
          <p:cNvSpPr txBox="1"/>
          <p:nvPr/>
        </p:nvSpPr>
        <p:spPr>
          <a:xfrm>
            <a:off x="548640" y="5486400"/>
            <a:ext cx="2286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Tela: nome, histórico, mensagem, Enviar e Limpar</a:t>
            </a:r>
            <a:endParaRPr lang="en-US" sz="12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6.2, passos 1-8, Figs. 33-40 (p. 30-33)</a:t>
            </a:r>
            <a:endParaRPr lang="en-US" sz="1050" dirty="0"/>
          </a:p>
        </p:txBody>
      </p:sp>
      <p:sp>
        <p:nvSpPr>
          <p:cNvPr id="16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DataChanged: o chat se atualiza sozinho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Quando o dado muda na nuvem, o evento acontece em cada aparelho</a:t>
            </a:r>
            <a:endParaRPr lang="en-US" sz="1600" dirty="0"/>
          </a:p>
        </p:txBody>
      </p:sp>
      <p:sp>
        <p:nvSpPr>
          <p:cNvPr id="4" name="moldura f41"/>
          <p:cNvSpPr/>
          <p:nvPr/>
        </p:nvSpPr>
        <p:spPr>
          <a:xfrm>
            <a:off x="705941" y="1417320"/>
            <a:ext cx="5720438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41" descr="Fig. 41 – Atualização do banco de dados (apostila, p. 3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93" y="1490472"/>
            <a:ext cx="5574134" cy="2231136"/>
          </a:xfrm>
          <a:prstGeom prst="rect">
            <a:avLst/>
          </a:prstGeom>
        </p:spPr>
      </p:pic>
      <p:sp>
        <p:nvSpPr>
          <p:cNvPr id="6" name="legenda f41"/>
          <p:cNvSpPr txBox="1"/>
          <p:nvPr/>
        </p:nvSpPr>
        <p:spPr>
          <a:xfrm>
            <a:off x="548640" y="381304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41 – Atualização do banco de dados (apostila, p. 34)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Fluxo recriado a partir das Figs. 39 e 41</a:t>
            </a:r>
            <a:endParaRPr lang="en-US" sz="1100" dirty="0"/>
          </a:p>
        </p:txBody>
      </p:sp>
      <p:sp>
        <p:nvSpPr>
          <p:cNvPr id="8" name="bloco Celular A: Enviar → StoreValue(KEY_CHAT)"/>
          <p:cNvSpPr/>
          <p:nvPr/>
        </p:nvSpPr>
        <p:spPr>
          <a:xfrm>
            <a:off x="6858000" y="182880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6E4C93"/>
          </a:solidFill>
          <a:ln w="12700">
            <a:solidFill>
              <a:srgbClr val="6E4C9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85800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Celular A: Enviar → StoreValue(KEY_CHAT)</a:t>
            </a:r>
            <a:endParaRPr lang="en-US" sz="1300" dirty="0"/>
          </a:p>
        </p:txBody>
      </p:sp>
      <p:sp>
        <p:nvSpPr>
          <p:cNvPr id="10" name="seta"/>
          <p:cNvSpPr/>
          <p:nvPr/>
        </p:nvSpPr>
        <p:spPr>
          <a:xfrm>
            <a:off x="9235440" y="2377440"/>
            <a:ext cx="914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bloco Firebase: valor de KEY_CHAT muda"/>
          <p:cNvSpPr/>
          <p:nvPr/>
        </p:nvSpPr>
        <p:spPr>
          <a:xfrm>
            <a:off x="6858000" y="269748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3E8E6A"/>
          </a:solidFill>
          <a:ln w="12700">
            <a:solidFill>
              <a:srgbClr val="3E8E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6858000" y="2697480"/>
            <a:ext cx="47548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Firebase: valor de KEY_CHAT muda</a:t>
            </a:r>
            <a:endParaRPr lang="en-US" sz="1300" dirty="0"/>
          </a:p>
        </p:txBody>
      </p:sp>
      <p:sp>
        <p:nvSpPr>
          <p:cNvPr id="13" name="seta"/>
          <p:cNvSpPr/>
          <p:nvPr/>
        </p:nvSpPr>
        <p:spPr>
          <a:xfrm>
            <a:off x="9235440" y="3246120"/>
            <a:ext cx="914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bloco Aparelhos: when FirebaseDB1.DataChanged"/>
          <p:cNvSpPr/>
          <p:nvPr/>
        </p:nvSpPr>
        <p:spPr>
          <a:xfrm>
            <a:off x="6858000" y="356616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B58B2B"/>
          </a:solidFill>
          <a:ln w="12700">
            <a:solidFill>
              <a:srgbClr val="B58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685800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Aparelhos: when FirebaseDB1.DataChanged</a:t>
            </a:r>
            <a:endParaRPr lang="en-US" sz="1300" dirty="0"/>
          </a:p>
        </p:txBody>
      </p:sp>
      <p:sp>
        <p:nvSpPr>
          <p:cNvPr id="16" name="seta"/>
          <p:cNvSpPr/>
          <p:nvPr/>
        </p:nvSpPr>
        <p:spPr>
          <a:xfrm>
            <a:off x="9235440" y="4114800"/>
            <a:ext cx="914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bloco if tag = KEY_CHAT → histórico atualizado"/>
          <p:cNvSpPr/>
          <p:nvPr/>
        </p:nvSpPr>
        <p:spPr>
          <a:xfrm>
            <a:off x="6858000" y="4434840"/>
            <a:ext cx="4754880" cy="548640"/>
          </a:xfrm>
          <a:prstGeom prst="roundRect">
            <a:avLst>
              <a:gd name="adj" fmla="val 11667"/>
            </a:avLst>
          </a:prstGeom>
          <a:solidFill>
            <a:srgbClr val="2F6E46"/>
          </a:solidFill>
          <a:ln w="12700">
            <a:solidFill>
              <a:srgbClr val="2F6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6858000" y="4434840"/>
            <a:ext cx="47548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if tag = KEY_CHAT → histórico atualizado</a:t>
            </a:r>
            <a:endParaRPr lang="en-US" sz="1300" dirty="0"/>
          </a:p>
        </p:txBody>
      </p:sp>
      <p:sp>
        <p:nvSpPr>
          <p:cNvPr id="19" name="destaque Previsão"/>
          <p:cNvSpPr/>
          <p:nvPr/>
        </p:nvSpPr>
        <p:spPr>
          <a:xfrm>
            <a:off x="548640" y="4297680"/>
            <a:ext cx="6035040" cy="1874520"/>
          </a:xfrm>
          <a:prstGeom prst="roundRect">
            <a:avLst>
              <a:gd name="adj" fmla="val 4878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713232" y="4389120"/>
            <a:ext cx="5705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Previsão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histórico é montado com join(value, "\n", txtHistorico.Text). A mensagem nova aparece no topo ou no fim do histórico?</a:t>
            </a:r>
            <a:endParaRPr lang="en-US" sz="1300" dirty="0"/>
          </a:p>
        </p:txBody>
      </p:sp>
      <p:sp>
        <p:nvSpPr>
          <p:cNvPr id="21" name="texto"/>
          <p:cNvSpPr txBox="1"/>
          <p:nvPr/>
        </p:nvSpPr>
        <p:spPr>
          <a:xfrm>
            <a:off x="6858000" y="5166360"/>
            <a:ext cx="4800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Conclusão da apostila: o app manda mensagens de texto de um celular a outro; enviar mídia fica como melhoria futura.</a:t>
            </a:r>
            <a:endParaRPr lang="en-US" sz="1300" dirty="0"/>
          </a:p>
        </p:txBody>
      </p:sp>
      <p:sp>
        <p:nvSpPr>
          <p:cNvPr id="2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6.2, passo 9, Fig. 41 (p. 34) e conclusão 6.3</a:t>
            </a:r>
            <a:endParaRPr lang="en-US" sz="1050" dirty="0"/>
          </a:p>
        </p:txBody>
      </p:sp>
      <p:sp>
        <p:nvSpPr>
          <p:cNvPr id="2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App + Arduino via Bluetooth</a:t>
            </a:r>
            <a:endParaRPr lang="en-US" sz="4000" dirty="0"/>
          </a:p>
        </p:txBody>
      </p:sp>
      <p:sp>
        <p:nvSpPr>
          <p:cNvPr id="3" name="numero secao"/>
          <p:cNvSpPr txBox="1"/>
          <p:nvPr/>
        </p:nvSpPr>
        <p:spPr>
          <a:xfrm>
            <a:off x="82296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3"/>
                </a:solidFill>
              </a:rPr>
              <a:t>09</a:t>
            </a:r>
            <a:endParaRPr lang="en-US" sz="8800" dirty="0"/>
          </a:p>
        </p:txBody>
      </p:sp>
      <p:sp>
        <p:nvSpPr>
          <p:cNvPr id="4" name="painel aprender"/>
          <p:cNvSpPr/>
          <p:nvPr/>
        </p:nvSpPr>
        <p:spPr>
          <a:xfrm>
            <a:off x="7772400" y="1097280"/>
            <a:ext cx="3840480" cy="4572000"/>
          </a:xfrm>
          <a:prstGeom prst="roundRect">
            <a:avLst>
              <a:gd name="adj" fmla="val 3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046720" y="1280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Nesta etapa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17830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Bluetooth clássico com HC-05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Enviar comandos para acender um LED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Bluetooth Low Energy com HM-10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Receber dados do Arduino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Slides 56 a 64 · 31 min</a:t>
            </a:r>
            <a:endParaRPr lang="en-US" sz="13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2"/>
                </a:solidFill>
              </a:rPr>
              <a:t>Fonte: apostila, caps. 5, 12 e 13 (p. 20-26 e 63-75)</a:t>
            </a:r>
            <a:endParaRPr lang="en-US" sz="1050" dirty="0"/>
          </a:p>
        </p:txBody>
      </p:sp>
      <p:sp>
        <p:nvSpPr>
          <p:cNvPr id="9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Bluetooth no Android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app troca dados sem fio com outros dispositivos</a:t>
            </a:r>
            <a:endParaRPr lang="en-US" sz="16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508760"/>
            <a:ext cx="512064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Procurar outros dispositivos Bluetooth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Consultar o adaptador local e ver dispositivos pareados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Estabelecer canais RFCOMM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Conectar-se por descoberta de serviços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Transferir dados de e para outros dispositivos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Gerenciar várias conexões</a:t>
            </a:r>
            <a:endParaRPr lang="en-US" sz="1600" dirty="0"/>
          </a:p>
        </p:txBody>
      </p:sp>
      <p:sp>
        <p:nvSpPr>
          <p:cNvPr id="5" name="moldura f21"/>
          <p:cNvSpPr/>
          <p:nvPr/>
        </p:nvSpPr>
        <p:spPr>
          <a:xfrm>
            <a:off x="5943600" y="1579131"/>
            <a:ext cx="5715000" cy="2328137"/>
          </a:xfrm>
          <a:prstGeom prst="roundRect">
            <a:avLst>
              <a:gd name="adj" fmla="val 314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igura f21" descr="Fig. 21 – Fluxograma Bluetooth (apostila, p. 2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652283"/>
            <a:ext cx="5568696" cy="2181833"/>
          </a:xfrm>
          <a:prstGeom prst="rect">
            <a:avLst/>
          </a:prstGeom>
        </p:spPr>
      </p:pic>
      <p:sp>
        <p:nvSpPr>
          <p:cNvPr id="7" name="legenda f21"/>
          <p:cNvSpPr txBox="1"/>
          <p:nvPr/>
        </p:nvSpPr>
        <p:spPr>
          <a:xfrm>
            <a:off x="5943600" y="3925557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21 – Fluxograma Bluetooth (apostila, p. 20)</a:t>
            </a:r>
            <a:endParaRPr lang="en-US" sz="1050" dirty="0"/>
          </a:p>
        </p:txBody>
      </p:sp>
      <p:sp>
        <p:nvSpPr>
          <p:cNvPr id="8" name="destaque Ligação com Automação (da própria figura)"/>
          <p:cNvSpPr/>
          <p:nvPr/>
        </p:nvSpPr>
        <p:spPr>
          <a:xfrm>
            <a:off x="5943600" y="4617720"/>
            <a:ext cx="5715000" cy="1554480"/>
          </a:xfrm>
          <a:prstGeom prst="roundRect">
            <a:avLst>
              <a:gd name="adj" fmla="val 5882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6108192" y="4709160"/>
            <a:ext cx="5385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Ligação com Automação (da própria figura)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fluxograma da apostila termina em um módulo controlador ligado a um sistema de irrigação.</a:t>
            </a:r>
            <a:endParaRPr lang="en-US" sz="1300" dirty="0"/>
          </a:p>
        </p:txBody>
      </p:sp>
      <p:sp>
        <p:nvSpPr>
          <p:cNvPr id="1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5, Fig. 21 (p. 20)</a:t>
            </a:r>
            <a:endParaRPr lang="en-US" sz="1050" dirty="0"/>
          </a:p>
        </p:txBody>
      </p:sp>
      <p:sp>
        <p:nvSpPr>
          <p:cNvPr id="1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App do LED (HC-05): a tela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btnConnect não é um botão comum: é um ListPicker</a:t>
            </a:r>
            <a:endParaRPr lang="en-US" sz="1600" dirty="0"/>
          </a:p>
        </p:txBody>
      </p:sp>
      <p:sp>
        <p:nvSpPr>
          <p:cNvPr id="4" name="moldura f23"/>
          <p:cNvSpPr/>
          <p:nvPr/>
        </p:nvSpPr>
        <p:spPr>
          <a:xfrm>
            <a:off x="763123" y="1417320"/>
            <a:ext cx="2588554" cy="4572000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23" descr="Fig. 23 – Design (p. 2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75" y="1490472"/>
            <a:ext cx="2442250" cy="4425696"/>
          </a:xfrm>
          <a:prstGeom prst="rect">
            <a:avLst/>
          </a:prstGeom>
        </p:spPr>
      </p:pic>
      <p:sp>
        <p:nvSpPr>
          <p:cNvPr id="6" name="legenda f23"/>
          <p:cNvSpPr txBox="1"/>
          <p:nvPr/>
        </p:nvSpPr>
        <p:spPr>
          <a:xfrm>
            <a:off x="548640" y="6007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23 – Design (p. 22)</a:t>
            </a:r>
            <a:endParaRPr lang="en-US" sz="1050" dirty="0"/>
          </a:p>
        </p:txBody>
      </p:sp>
      <p:sp>
        <p:nvSpPr>
          <p:cNvPr id="7" name="moldura f24"/>
          <p:cNvSpPr/>
          <p:nvPr/>
        </p:nvSpPr>
        <p:spPr>
          <a:xfrm>
            <a:off x="4024709" y="1417320"/>
            <a:ext cx="2100422" cy="4297680"/>
          </a:xfrm>
          <a:prstGeom prst="roundRect">
            <a:avLst>
              <a:gd name="adj" fmla="val 348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24" descr="Fig. 24 – Componentes (p. 2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861" y="1490472"/>
            <a:ext cx="1954118" cy="4151376"/>
          </a:xfrm>
          <a:prstGeom prst="rect">
            <a:avLst/>
          </a:prstGeom>
        </p:spPr>
      </p:pic>
      <p:sp>
        <p:nvSpPr>
          <p:cNvPr id="9" name="legenda f24"/>
          <p:cNvSpPr txBox="1"/>
          <p:nvPr/>
        </p:nvSpPr>
        <p:spPr>
          <a:xfrm>
            <a:off x="3749040" y="5733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24 – Componentes (p. 23)</a:t>
            </a:r>
            <a:endParaRPr lang="en-US" sz="1050" dirty="0"/>
          </a:p>
        </p:txBody>
      </p:sp>
      <p:sp>
        <p:nvSpPr>
          <p:cNvPr id="10" name="lista"/>
          <p:cNvSpPr txBox="1"/>
          <p:nvPr/>
        </p:nvSpPr>
        <p:spPr>
          <a:xfrm>
            <a:off x="6675120" y="1508760"/>
            <a:ext cx="498348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btnConnect (ListPicker): </a:t>
            </a:r>
            <a:r>
              <a:rPr lang="en-US" sz="1500" dirty="0">
                <a:solidFill>
                  <a:schemeClr val="tx1"/>
                </a:solidFill>
              </a:rPr>
              <a:t>mostra a lista de dispositivos para escolher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btnDisconnect: </a:t>
            </a:r>
            <a:r>
              <a:rPr lang="en-US" sz="1500" dirty="0">
                <a:solidFill>
                  <a:schemeClr val="tx1"/>
                </a:solidFill>
              </a:rPr>
              <a:t>encerra a conexão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btnAcender e btnApagar: </a:t>
            </a:r>
            <a:r>
              <a:rPr lang="en-US" sz="1500" dirty="0">
                <a:solidFill>
                  <a:schemeClr val="tx1"/>
                </a:solidFill>
              </a:rPr>
              <a:t>comandos para o LED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Label1: </a:t>
            </a:r>
            <a:r>
              <a:rPr lang="en-US" sz="1500" dirty="0">
                <a:solidFill>
                  <a:schemeClr val="tx1"/>
                </a:solidFill>
              </a:rPr>
              <a:t>status ("Aguardando Sinal")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BluetoothClient1: </a:t>
            </a:r>
            <a:r>
              <a:rPr lang="en-US" sz="1500" dirty="0">
                <a:solidFill>
                  <a:schemeClr val="tx1"/>
                </a:solidFill>
              </a:rPr>
              <a:t>componente não visível</a:t>
            </a:r>
            <a:endParaRPr lang="en-US" sz="15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5.1, passos 1-2, Figs. 23 e 24 (p. 22-23)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App do LED (HC-05): os blocos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Listar, conectar, enviar "A" ou "B" e desconectar</a:t>
            </a:r>
            <a:endParaRPr lang="en-US" sz="1600" dirty="0"/>
          </a:p>
        </p:txBody>
      </p:sp>
      <p:sp>
        <p:nvSpPr>
          <p:cNvPr id="4" name="moldura f26"/>
          <p:cNvSpPr/>
          <p:nvPr/>
        </p:nvSpPr>
        <p:spPr>
          <a:xfrm>
            <a:off x="548640" y="1438643"/>
            <a:ext cx="6309360" cy="3249194"/>
          </a:xfrm>
          <a:prstGeom prst="roundRect">
            <a:avLst>
              <a:gd name="adj" fmla="val 22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26" descr="Fig. 26 – Blocks bluetooth (apostila, p. 2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11795"/>
            <a:ext cx="6163056" cy="3102890"/>
          </a:xfrm>
          <a:prstGeom prst="rect">
            <a:avLst/>
          </a:prstGeom>
        </p:spPr>
      </p:pic>
      <p:sp>
        <p:nvSpPr>
          <p:cNvPr id="6" name="legenda f26"/>
          <p:cNvSpPr txBox="1"/>
          <p:nvPr/>
        </p:nvSpPr>
        <p:spPr>
          <a:xfrm>
            <a:off x="548640" y="4706125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26 – Blocks bluetooth (apostila, p. 24)</a:t>
            </a:r>
            <a:endParaRPr lang="en-US" sz="1050" dirty="0"/>
          </a:p>
        </p:txBody>
      </p:sp>
      <p:graphicFrame>
        <p:nvGraphicFramePr>
          <p:cNvPr id="6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463040"/>
          <a:ext cx="4572000" cy="21640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Evento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Ação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btnConnect.BeforePicking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Elements ← BluetoothClient1.AddressesAndNames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btnConnect.AfterPicking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Connect(address = Selection); se ok: btnAcender habilitado, Label1 = "Conectado"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btnAcender.Click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SendText "A"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btnApagar.Click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SendText "B"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btnDisconnect.Click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Disconnect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destaque Comentários nos blocos"/>
          <p:cNvSpPr/>
          <p:nvPr/>
        </p:nvSpPr>
        <p:spPr>
          <a:xfrm>
            <a:off x="548640" y="5166360"/>
            <a:ext cx="6309360" cy="1005840"/>
          </a:xfrm>
          <a:prstGeom prst="roundRect">
            <a:avLst>
              <a:gd name="adj" fmla="val 9091"/>
            </a:avLst>
          </a:prstGeom>
          <a:solidFill>
            <a:schemeClr val="accent4">
              <a:alpha val="15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 txBox="1"/>
          <p:nvPr/>
        </p:nvSpPr>
        <p:spPr>
          <a:xfrm>
            <a:off x="713232" y="5257800"/>
            <a:ext cx="5980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Comentários nos blocos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própria apostila usa comentários (balões amarelos) para explicar cada bloco: boa prática para a turma.</a:t>
            </a:r>
            <a:endParaRPr lang="en-US" sz="1300" dirty="0"/>
          </a:p>
        </p:txBody>
      </p:sp>
      <p:sp>
        <p:nvSpPr>
          <p:cNvPr id="1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5.1, passo 5, Fig. 26 (p. 24)</a:t>
            </a:r>
            <a:endParaRPr lang="en-US" sz="1050" dirty="0"/>
          </a:p>
        </p:txBody>
      </p:sp>
      <p:sp>
        <p:nvSpPr>
          <p:cNvPr id="1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 lado do Arduino: ler e acionar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 caractere recebido pela serial decide o estado do pino 13</a:t>
            </a:r>
            <a:endParaRPr lang="en-US" sz="1600" dirty="0"/>
          </a:p>
        </p:txBody>
      </p:sp>
      <p:sp>
        <p:nvSpPr>
          <p:cNvPr id="4" name="fundo codigo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odigo"/>
          <p:cNvSpPr txBox="1"/>
          <p:nvPr/>
        </p:nvSpPr>
        <p:spPr>
          <a:xfrm>
            <a:off x="731520" y="1572768"/>
            <a:ext cx="47548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data =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Serial.begin(9600);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pinMode(13, OUTPUT);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(Serial.available() &gt; 0)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Serial.read();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Serial.print(data);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Serial.print("\n");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(data == '1' || data == 'A')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digitalWrite(13, HIGH);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(data == '0' || data == 'B')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digitalWrite(13, LOW);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moldura f27"/>
          <p:cNvSpPr/>
          <p:nvPr/>
        </p:nvSpPr>
        <p:spPr>
          <a:xfrm>
            <a:off x="6023339" y="1417320"/>
            <a:ext cx="2309402" cy="3383280"/>
          </a:xfrm>
          <a:prstGeom prst="roundRect">
            <a:avLst>
              <a:gd name="adj" fmla="val 316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figura f27" descr="Fig. 27 – Conexão (p. 2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491" y="1490472"/>
            <a:ext cx="2163098" cy="3236976"/>
          </a:xfrm>
          <a:prstGeom prst="rect">
            <a:avLst/>
          </a:prstGeom>
        </p:spPr>
      </p:pic>
      <p:sp>
        <p:nvSpPr>
          <p:cNvPr id="8" name="legenda f27"/>
          <p:cNvSpPr txBox="1"/>
          <p:nvPr/>
        </p:nvSpPr>
        <p:spPr>
          <a:xfrm>
            <a:off x="5943600" y="4818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27 – Conexão (p. 25)</a:t>
            </a:r>
            <a:endParaRPr lang="en-US" sz="1050" dirty="0"/>
          </a:p>
        </p:txBody>
      </p:sp>
      <p:graphicFrame>
        <p:nvGraphicFramePr>
          <p:cNvPr id="6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0" y="1554480"/>
          <a:ext cx="297180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App envia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Pino 13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"A"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"B"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"C"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destaque Analogia (pedagógica)"/>
          <p:cNvSpPr/>
          <p:nvPr/>
        </p:nvSpPr>
        <p:spPr>
          <a:xfrm>
            <a:off x="5943600" y="5257800"/>
            <a:ext cx="5715000" cy="914400"/>
          </a:xfrm>
          <a:prstGeom prst="roundRect">
            <a:avLst>
              <a:gd name="adj" fmla="val 10000"/>
            </a:avLst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6108192" y="5349240"/>
            <a:ext cx="5385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Analogia (pedagógica)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Entrada = caractere recebido; lógica = if/else; saída = pino digital.</a:t>
            </a:r>
            <a:endParaRPr lang="en-US" sz="1300" dirty="0"/>
          </a:p>
        </p:txBody>
      </p:sp>
      <p:sp>
        <p:nvSpPr>
          <p:cNvPr id="12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5.2, Fig. 27 e Tabela 1 – Código Arduino (p. 25-26)</a:t>
            </a:r>
            <a:endParaRPr lang="en-US" sz="1050" dirty="0"/>
          </a:p>
        </p:txBody>
      </p:sp>
      <p:sp>
        <p:nvSpPr>
          <p:cNvPr id="13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Bluetooth LE com o módulo HM-10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Baixa energia, 3,3 V e pareamento feito pelo aplicativo</a:t>
            </a:r>
            <a:endParaRPr lang="en-US" sz="1600" dirty="0"/>
          </a:p>
        </p:txBody>
      </p:sp>
      <p:graphicFrame>
        <p:nvGraphicFramePr>
          <p:cNvPr id="6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2834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Aspecto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HC-05 / HC-06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HM-10 (BLE 4.0)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Versão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Bluetooth clássico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4.0 Low Energy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Tensão citada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3,3 V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Quem faz o pareamento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hardware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 aplicativo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Suporte no App Inventor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BluetoothClient (sem extensão)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extensão .aix (sem biblioteca nativa)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moldura f87"/>
          <p:cNvSpPr/>
          <p:nvPr/>
        </p:nvSpPr>
        <p:spPr>
          <a:xfrm>
            <a:off x="1186936" y="4572000"/>
            <a:ext cx="567284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figura f87" descr="Fig. 87 – Download da extensão (p. 6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88" y="4645152"/>
            <a:ext cx="5526544" cy="768096"/>
          </a:xfrm>
          <a:prstGeom prst="rect">
            <a:avLst/>
          </a:prstGeom>
        </p:spPr>
      </p:pic>
      <p:sp>
        <p:nvSpPr>
          <p:cNvPr id="7" name="legenda f87"/>
          <p:cNvSpPr txBox="1"/>
          <p:nvPr/>
        </p:nvSpPr>
        <p:spPr>
          <a:xfrm>
            <a:off x="548640" y="550468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87 – Download da extensão (p. 63)</a:t>
            </a:r>
            <a:endParaRPr lang="en-US" sz="1050" dirty="0"/>
          </a:p>
        </p:txBody>
      </p:sp>
      <p:sp>
        <p:nvSpPr>
          <p:cNvPr id="8" name="moldura f88"/>
          <p:cNvSpPr/>
          <p:nvPr/>
        </p:nvSpPr>
        <p:spPr>
          <a:xfrm>
            <a:off x="8281798" y="1417320"/>
            <a:ext cx="2867403" cy="4572000"/>
          </a:xfrm>
          <a:prstGeom prst="roundRect">
            <a:avLst>
              <a:gd name="adj" fmla="val 25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figura f88" descr="Fig. 88 – Layout (p. 6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950" y="1490472"/>
            <a:ext cx="2721099" cy="4425696"/>
          </a:xfrm>
          <a:prstGeom prst="rect">
            <a:avLst/>
          </a:prstGeom>
        </p:spPr>
      </p:pic>
      <p:sp>
        <p:nvSpPr>
          <p:cNvPr id="10" name="legenda f88"/>
          <p:cNvSpPr txBox="1"/>
          <p:nvPr/>
        </p:nvSpPr>
        <p:spPr>
          <a:xfrm>
            <a:off x="7772400" y="60076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88 – Layout (p. 64)</a:t>
            </a:r>
            <a:endParaRPr lang="en-US" sz="105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12 e 12.1, passos 1-2, Figs. 87-89 (p. 63-64)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8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BLE: procurar, conectar e escrever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Os comandos vão por um serviço e uma característica identificados por UUID</a:t>
            </a:r>
            <a:endParaRPr lang="en-US" sz="1600" dirty="0"/>
          </a:p>
        </p:txBody>
      </p:sp>
      <p:sp>
        <p:nvSpPr>
          <p:cNvPr id="4" name="moldura f90"/>
          <p:cNvSpPr/>
          <p:nvPr/>
        </p:nvSpPr>
        <p:spPr>
          <a:xfrm>
            <a:off x="798897" y="1417320"/>
            <a:ext cx="3157086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90" descr="Fig. 90 – Scan (p. 6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49" y="1490472"/>
            <a:ext cx="3010782" cy="1316736"/>
          </a:xfrm>
          <a:prstGeom prst="rect">
            <a:avLst/>
          </a:prstGeom>
        </p:spPr>
      </p:pic>
      <p:sp>
        <p:nvSpPr>
          <p:cNvPr id="6" name="legenda f90"/>
          <p:cNvSpPr txBox="1"/>
          <p:nvPr/>
        </p:nvSpPr>
        <p:spPr>
          <a:xfrm>
            <a:off x="54864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90 – Scan (p. 65)</a:t>
            </a:r>
            <a:endParaRPr lang="en-US" sz="1050" dirty="0"/>
          </a:p>
        </p:txBody>
      </p:sp>
      <p:sp>
        <p:nvSpPr>
          <p:cNvPr id="7" name="moldura f93"/>
          <p:cNvSpPr/>
          <p:nvPr/>
        </p:nvSpPr>
        <p:spPr>
          <a:xfrm>
            <a:off x="833652" y="3291840"/>
            <a:ext cx="3087576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figura f93" descr="Fig. 93 – Conectar (p. 66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04" y="3364992"/>
            <a:ext cx="2941272" cy="813816"/>
          </a:xfrm>
          <a:prstGeom prst="rect">
            <a:avLst/>
          </a:prstGeom>
        </p:spPr>
      </p:pic>
      <p:sp>
        <p:nvSpPr>
          <p:cNvPr id="9" name="legenda f93"/>
          <p:cNvSpPr txBox="1"/>
          <p:nvPr/>
        </p:nvSpPr>
        <p:spPr>
          <a:xfrm>
            <a:off x="548640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93 – Conectar (p. 66)</a:t>
            </a:r>
            <a:endParaRPr lang="en-US" sz="1050" dirty="0"/>
          </a:p>
        </p:txBody>
      </p:sp>
      <p:sp>
        <p:nvSpPr>
          <p:cNvPr id="10" name="moldura f96"/>
          <p:cNvSpPr/>
          <p:nvPr/>
        </p:nvSpPr>
        <p:spPr>
          <a:xfrm>
            <a:off x="4434840" y="1420989"/>
            <a:ext cx="3840480" cy="1455703"/>
          </a:xfrm>
          <a:prstGeom prst="roundRect">
            <a:avLst>
              <a:gd name="adj" fmla="val 502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figura f96" descr="Fig. 96 – Acender LED azul (p. 66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1494141"/>
            <a:ext cx="3694176" cy="1309399"/>
          </a:xfrm>
          <a:prstGeom prst="rect">
            <a:avLst/>
          </a:prstGeom>
        </p:spPr>
      </p:pic>
      <p:sp>
        <p:nvSpPr>
          <p:cNvPr id="12" name="legenda f96"/>
          <p:cNvSpPr txBox="1"/>
          <p:nvPr/>
        </p:nvSpPr>
        <p:spPr>
          <a:xfrm>
            <a:off x="4434840" y="289497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96 – Acender LED azul (p. 66)</a:t>
            </a:r>
            <a:endParaRPr lang="en-US" sz="1050" dirty="0"/>
          </a:p>
        </p:txBody>
      </p:sp>
      <p:sp>
        <p:nvSpPr>
          <p:cNvPr id="13" name="moldura f92"/>
          <p:cNvSpPr/>
          <p:nvPr/>
        </p:nvSpPr>
        <p:spPr>
          <a:xfrm>
            <a:off x="4434840" y="3415408"/>
            <a:ext cx="3840480" cy="712983"/>
          </a:xfrm>
          <a:prstGeom prst="roundRect">
            <a:avLst>
              <a:gd name="adj" fmla="val 1026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figura f92" descr="Fig. 92 – Variáveis UUID (p. 65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3488560"/>
            <a:ext cx="3694176" cy="566679"/>
          </a:xfrm>
          <a:prstGeom prst="rect">
            <a:avLst/>
          </a:prstGeom>
        </p:spPr>
      </p:pic>
      <p:sp>
        <p:nvSpPr>
          <p:cNvPr id="15" name="legenda f92"/>
          <p:cNvSpPr txBox="1"/>
          <p:nvPr/>
        </p:nvSpPr>
        <p:spPr>
          <a:xfrm>
            <a:off x="4434840" y="4146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92 – Variáveis UUID (p. 65)</a:t>
            </a:r>
            <a:endParaRPr lang="en-US" sz="1050" dirty="0"/>
          </a:p>
        </p:txBody>
      </p:sp>
      <p:sp>
        <p:nvSpPr>
          <p:cNvPr id="16" name="lista"/>
          <p:cNvSpPr txBox="1"/>
          <p:nvPr/>
        </p:nvSpPr>
        <p:spPr>
          <a:xfrm>
            <a:off x="8503920" y="1508760"/>
            <a:ext cx="315468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Scan: </a:t>
            </a:r>
            <a:r>
              <a:rPr lang="en-US" sz="1400" dirty="0">
                <a:solidFill>
                  <a:schemeClr val="tx1"/>
                </a:solidFill>
              </a:rPr>
              <a:t>se o Bluetooth está ligado, StartScanning e mostra a ListView.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DeviceFound: </a:t>
            </a:r>
            <a:r>
              <a:rPr lang="en-US" sz="1400" dirty="0">
                <a:solidFill>
                  <a:schemeClr val="tx1"/>
                </a:solidFill>
              </a:rPr>
              <a:t>a ListView recebe a lista de dispositivos.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Conectar: </a:t>
            </a:r>
            <a:r>
              <a:rPr lang="en-US" sz="1400" dirty="0">
                <a:solidFill>
                  <a:schemeClr val="tx1"/>
                </a:solidFill>
              </a:rPr>
              <a:t>se há item selecionado, StopAdvertising e Connect(index).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Botão de cor: </a:t>
            </a:r>
            <a:r>
              <a:rPr lang="en-US" sz="1400" dirty="0">
                <a:solidFill>
                  <a:schemeClr val="tx1"/>
                </a:solidFill>
              </a:rPr>
              <a:t>se conectado, WriteStrings(serviço, característica, valor).</a:t>
            </a:r>
            <a:endParaRPr lang="en-US" sz="1400" dirty="0"/>
          </a:p>
        </p:txBody>
      </p:sp>
      <p:sp>
        <p:nvSpPr>
          <p:cNvPr id="17" name="fundo codigo"/>
          <p:cNvSpPr/>
          <p:nvPr/>
        </p:nvSpPr>
        <p:spPr>
          <a:xfrm>
            <a:off x="548640" y="4800600"/>
            <a:ext cx="772668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codigo"/>
          <p:cNvSpPr txBox="1"/>
          <p:nvPr/>
        </p:nvSpPr>
        <p:spPr>
          <a:xfrm>
            <a:off x="731520" y="4910328"/>
            <a:ext cx="7360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UUID:        0000FFE0-0000-1000-8000-00805F9B34FB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CHARACTERISTIC UUID: 0000FFE1-0000-1000-8000-00805F9B34FB</a:t>
            </a:r>
            <a:endParaRPr lang="en-US" sz="1200" dirty="0"/>
          </a:p>
        </p:txBody>
      </p:sp>
      <p:sp>
        <p:nvSpPr>
          <p:cNvPr id="19" name="texto"/>
          <p:cNvSpPr txBox="1"/>
          <p:nvPr/>
        </p:nvSpPr>
        <p:spPr>
          <a:xfrm>
            <a:off x="548640" y="5760720"/>
            <a:ext cx="7726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Segundo a apostila, essas definições são padrão para dar permissão de envio e recebimento.</a:t>
            </a:r>
            <a:endParaRPr lang="en-US" sz="1300" dirty="0"/>
          </a:p>
        </p:txBody>
      </p:sp>
      <p:sp>
        <p:nvSpPr>
          <p:cNvPr id="20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12.1, passos 3-10, Figs. 90-98 (p. 65-67)</a:t>
            </a:r>
            <a:endParaRPr lang="en-US" sz="1050" dirty="0"/>
          </a:p>
        </p:txBody>
      </p:sp>
      <p:sp>
        <p:nvSpPr>
          <p:cNvPr id="21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Desafio: app, código e fiação conferem?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Rastreie cada botão até o LED que realmente acende</a:t>
            </a:r>
            <a:endParaRPr lang="en-US" sz="1600" dirty="0"/>
          </a:p>
        </p:txBody>
      </p:sp>
      <p:graphicFrame>
        <p:nvGraphicFramePr>
          <p:cNvPr id="6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329184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Ligação (tabela p. 69)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LED Azul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LED Vermelho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LED Amarelo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undo codigo"/>
          <p:cNvSpPr/>
          <p:nvPr/>
        </p:nvSpPr>
        <p:spPr>
          <a:xfrm>
            <a:off x="4069080" y="1554480"/>
            <a:ext cx="374904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codigo"/>
          <p:cNvSpPr txBox="1"/>
          <p:nvPr/>
        </p:nvSpPr>
        <p:spPr>
          <a:xfrm>
            <a:off x="4251960" y="1664208"/>
            <a:ext cx="33832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pinMode(3, OUTPUT); //azul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pinMode(4, OUTPUT); //vermelho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pinMode(5, OUTPUT); //amarelo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 ou 'A' → pino 3 HIGH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 ou 'V' → pino 4 HIGH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'3' ou 'M' → pino 5 HIGH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 ou 'B' → todos LOW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0690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Código resumido a partir da p. 70</a:t>
            </a:r>
            <a:endParaRPr lang="en-US" sz="1050" dirty="0"/>
          </a:p>
        </p:txBody>
      </p:sp>
      <p:graphicFrame>
        <p:nvGraphicFramePr>
          <p:cNvPr id="12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554480"/>
          <a:ext cx="361188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Botão do app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Envia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Pino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LED aceso?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AZUL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"2"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VERMELHO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"1"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AMARELO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"3"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destaque Por que isso importa na Automação"/>
          <p:cNvSpPr/>
          <p:nvPr/>
        </p:nvSpPr>
        <p:spPr>
          <a:xfrm>
            <a:off x="548640" y="4434840"/>
            <a:ext cx="11091672" cy="1737360"/>
          </a:xfrm>
          <a:prstGeom prst="roundRect">
            <a:avLst>
              <a:gd name="adj" fmla="val 5263"/>
            </a:avLst>
          </a:prstGeom>
          <a:solidFill>
            <a:schemeClr val="accent5">
              <a:alpha val="15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713232" y="4526280"/>
            <a:ext cx="10762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</a:rPr>
              <a:t>Por que isso importa na Automação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Documentação de entradas e saídas precisa bater com o programa e com a montagem. Ao encontrar uma divergência, registre-a e corrija um dos lados; não suponha qual está certo sem testar.</a:t>
            </a:r>
            <a:endParaRPr lang="en-US" sz="13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12.1 (Figs. 96-97, p. 66-67) e 12.2 (tabela p. 69, código p. 70)</a:t>
            </a:r>
            <a:endParaRPr lang="en-US" sz="1050" dirty="0"/>
          </a:p>
        </p:txBody>
      </p:sp>
      <p:sp>
        <p:nvSpPr>
          <p:cNvPr id="12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No sentido contrário: o Arduino envia dados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RegisterForStrings inscreve o app; StringsReceived entrega os dados</a:t>
            </a:r>
            <a:endParaRPr lang="en-US" sz="1600" dirty="0"/>
          </a:p>
        </p:txBody>
      </p:sp>
      <p:sp>
        <p:nvSpPr>
          <p:cNvPr id="4" name="moldura f104"/>
          <p:cNvSpPr/>
          <p:nvPr/>
        </p:nvSpPr>
        <p:spPr>
          <a:xfrm>
            <a:off x="666405" y="1417320"/>
            <a:ext cx="7445429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figura f104" descr="Fig. 104 – Novos códigos (apostila, p. 7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7" y="1490472"/>
            <a:ext cx="7299125" cy="1773936"/>
          </a:xfrm>
          <a:prstGeom prst="rect">
            <a:avLst/>
          </a:prstGeom>
        </p:spPr>
      </p:pic>
      <p:sp>
        <p:nvSpPr>
          <p:cNvPr id="6" name="legenda f104"/>
          <p:cNvSpPr txBox="1"/>
          <p:nvPr/>
        </p:nvSpPr>
        <p:spPr>
          <a:xfrm>
            <a:off x="548640" y="33558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104 – Novos códigos (apostila, p. 74)</a:t>
            </a:r>
            <a:endParaRPr lang="en-US" sz="1050" dirty="0"/>
          </a:p>
        </p:txBody>
      </p:sp>
      <p:sp>
        <p:nvSpPr>
          <p:cNvPr id="7" name="fundo codigo"/>
          <p:cNvSpPr/>
          <p:nvPr/>
        </p:nvSpPr>
        <p:spPr>
          <a:xfrm>
            <a:off x="548640" y="3794760"/>
            <a:ext cx="4937760" cy="2423160"/>
          </a:xfrm>
          <a:prstGeom prst="roundRect">
            <a:avLst>
              <a:gd name="adj" fmla="val 30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codigo"/>
          <p:cNvSpPr txBox="1"/>
          <p:nvPr/>
        </p:nvSpPr>
        <p:spPr>
          <a:xfrm>
            <a:off x="731520" y="3904488"/>
            <a:ext cx="457200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SoftwareSerial BLE(rxPin, txPin);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(BLE.available())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BLE.print("BBBBBBBBB"); delay(1);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BLE.println("BBBBBBBBB");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delay(500);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lista"/>
          <p:cNvSpPr txBox="1"/>
          <p:nvPr/>
        </p:nvSpPr>
        <p:spPr>
          <a:xfrm>
            <a:off x="5669280" y="3840480"/>
            <a:ext cx="260604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ButtonLer.Click → RegisterForStrings (mesmos UUIDs)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StringsReceived → LabelStrings = "Arduino envia:" + stringValues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Também mostra os dados em TextBoxSerial</a:t>
            </a:r>
            <a:endParaRPr lang="en-US" sz="1300" dirty="0"/>
          </a:p>
        </p:txBody>
      </p:sp>
      <p:sp>
        <p:nvSpPr>
          <p:cNvPr id="10" name="moldura f106"/>
          <p:cNvSpPr/>
          <p:nvPr/>
        </p:nvSpPr>
        <p:spPr>
          <a:xfrm>
            <a:off x="8767940" y="1417320"/>
            <a:ext cx="2626639" cy="4572000"/>
          </a:xfrm>
          <a:prstGeom prst="roundRect">
            <a:avLst>
              <a:gd name="adj" fmla="val 278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figura f106" descr="Fig. 106 – Tela do app (p. 75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092" y="1490472"/>
            <a:ext cx="2480335" cy="4425696"/>
          </a:xfrm>
          <a:prstGeom prst="rect">
            <a:avLst/>
          </a:prstGeom>
        </p:spPr>
      </p:pic>
      <p:sp>
        <p:nvSpPr>
          <p:cNvPr id="12" name="legenda f106"/>
          <p:cNvSpPr txBox="1"/>
          <p:nvPr/>
        </p:nvSpPr>
        <p:spPr>
          <a:xfrm>
            <a:off x="8503920" y="60076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6"/>
                </a:solidFill>
              </a:rPr>
              <a:t>Fig. 106 – Tela do app (p. 75)</a:t>
            </a:r>
            <a:endParaRPr lang="en-US" sz="1050" dirty="0"/>
          </a:p>
        </p:txBody>
      </p:sp>
      <p:sp>
        <p:nvSpPr>
          <p:cNvPr id="13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13, passos 1-4, Figs. 101-106 (p. 71-75)</a:t>
            </a:r>
            <a:endParaRPr lang="en-US" sz="1050" dirty="0"/>
          </a:p>
        </p:txBody>
      </p:sp>
      <p:sp>
        <p:nvSpPr>
          <p:cNvPr id="14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Para continuar: listas de desafios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Exercícios da apostila para depois da aula</a:t>
            </a:r>
            <a:endParaRPr lang="en-US" sz="1600" dirty="0"/>
          </a:p>
        </p:txBody>
      </p:sp>
      <p:sp>
        <p:nvSpPr>
          <p:cNvPr id="4" name="cartao Intermediários (cap. 11)"/>
          <p:cNvSpPr/>
          <p:nvPr/>
        </p:nvSpPr>
        <p:spPr>
          <a:xfrm>
            <a:off x="548640" y="1554480"/>
            <a:ext cx="54406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Intermediários (cap. 11)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Intermediários (cap. 11)</a:t>
            </a:r>
            <a:endParaRPr lang="en-US" sz="17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2359152"/>
            <a:ext cx="507492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Média com listas e banco de dados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Bateria + notificação (extensões)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Equação de Drake e probabilidade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Portas lógicas com LED virtual (Fig. 86)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Cronômetro e diário de saúde com gráficos</a:t>
            </a:r>
            <a:endParaRPr lang="en-US" sz="1400" dirty="0"/>
          </a:p>
        </p:txBody>
      </p:sp>
      <p:sp>
        <p:nvSpPr>
          <p:cNvPr id="9" name="cartao Avançados (cap. 14)"/>
          <p:cNvSpPr/>
          <p:nvPr/>
        </p:nvSpPr>
        <p:spPr>
          <a:xfrm>
            <a:off x="6199632" y="1554480"/>
            <a:ext cx="54406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Avançados (cap. 14)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Avançados (cap. 14)</a:t>
            </a:r>
            <a:endParaRPr lang="en-US" sz="1700" dirty="0"/>
          </a:p>
        </p:txBody>
      </p:sp>
      <p:sp>
        <p:nvSpPr>
          <p:cNvPr id="13" name="lista"/>
          <p:cNvSpPr txBox="1"/>
          <p:nvPr/>
        </p:nvSpPr>
        <p:spPr>
          <a:xfrm>
            <a:off x="6382512" y="2359152"/>
            <a:ext cx="507492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Sensor ultrassônico via Bluetooth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Automação residencial (lâmpada, tranca, ventilador)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Batimentos cardíacos com gráfico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Catraca com RFID; temperatura e umidade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Irrigador automático com sensor de solo</a:t>
            </a:r>
            <a:endParaRPr lang="en-US" sz="1400" dirty="0"/>
          </a:p>
        </p:txBody>
      </p:sp>
      <p:sp>
        <p:nvSpPr>
          <p:cNvPr id="16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11 (p. 60-62) e cap. 14 (p. 76)</a:t>
            </a:r>
            <a:endParaRPr lang="en-US" sz="1050" dirty="0"/>
          </a:p>
        </p:txBody>
      </p:sp>
      <p:sp>
        <p:nvSpPr>
          <p:cNvPr id="17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Revisão 1: preveja o resultado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Responda individualmente; depois compare em duplas</a:t>
            </a:r>
            <a:endParaRPr lang="en-US" sz="1600" dirty="0"/>
          </a:p>
        </p:txBody>
      </p:sp>
      <p:sp>
        <p:nvSpPr>
          <p:cNvPr id="4" name="cartao Média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Média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Média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5915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Notas 7, 5, 8 e 4 no app da Fig. 17. O que Label5 mostra?</a:t>
            </a:r>
            <a:endParaRPr lang="en-US" sz="1800" dirty="0"/>
          </a:p>
        </p:txBody>
      </p:sp>
      <p:sp>
        <p:nvSpPr>
          <p:cNvPr id="9" name="cartao Etanol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Etanol"/>
          <p:cNvSpPr/>
          <p:nvPr/>
        </p:nvSpPr>
        <p:spPr>
          <a:xfrm>
            <a:off x="6355080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55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Etanol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35915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Gasolina R$ 6,00 e etanol R$ 4,50 no gabarito do ex. 8. Qual imagem aparece?</a:t>
            </a:r>
            <a:endParaRPr lang="en-US" sz="1800" dirty="0"/>
          </a:p>
        </p:txBody>
      </p:sp>
      <p:sp>
        <p:nvSpPr>
          <p:cNvPr id="14" name="cartao TinyDB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lo TinyDB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TinyDB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9087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Salvo "A" e depois "B" com a tag "data". O que o botão Mostrar exibe?</a:t>
            </a:r>
            <a:endParaRPr lang="en-US" sz="1800" dirty="0"/>
          </a:p>
        </p:txBody>
      </p:sp>
      <p:sp>
        <p:nvSpPr>
          <p:cNvPr id="19" name="cartao Listas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elo Listas"/>
          <p:cNvSpPr/>
          <p:nvPr/>
        </p:nvSpPr>
        <p:spPr>
          <a:xfrm>
            <a:off x="6355080" y="4069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355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Listas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9087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Na listaDePalavras [bola, chuva], qual índice tem "bola"? E qual significado é retornado?</a:t>
            </a:r>
            <a:endParaRPr lang="en-US" sz="1800" dirty="0"/>
          </a:p>
        </p:txBody>
      </p:sp>
      <p:sp>
        <p:nvSpPr>
          <p:cNvPr id="2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perguntas derivadas dos caps. 3, 4, 8 e 9 da apostila</a:t>
            </a:r>
            <a:endParaRPr lang="en-US" sz="1050" dirty="0"/>
          </a:p>
        </p:txBody>
      </p:sp>
      <p:sp>
        <p:nvSpPr>
          <p:cNvPr id="2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6 min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Revisão 2: explique com suas palavras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Perguntas de compreensão; não basta dizer o nome do bloco</a:t>
            </a:r>
            <a:endParaRPr lang="en-US" sz="1600" dirty="0"/>
          </a:p>
        </p:txBody>
      </p:sp>
      <p:sp>
        <p:nvSpPr>
          <p:cNvPr id="4" name="cartao Designer x Blocks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Designer x Blocks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Designer x Blocks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5915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 que se define em cada vista? Dê um exemplo de cada.</a:t>
            </a:r>
            <a:endParaRPr lang="en-US" sz="1800" dirty="0"/>
          </a:p>
        </p:txBody>
      </p:sp>
      <p:sp>
        <p:nvSpPr>
          <p:cNvPr id="9" name="cartao Eventos assíncronos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Eventos assíncronos"/>
          <p:cNvSpPr/>
          <p:nvPr/>
        </p:nvSpPr>
        <p:spPr>
          <a:xfrm>
            <a:off x="635508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55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Eventos assíncronos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35915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Por que o texto traduzido chega em GotTranslation e não logo após RequestTranslation?</a:t>
            </a:r>
            <a:endParaRPr lang="en-US" sz="1800" dirty="0"/>
          </a:p>
        </p:txBody>
      </p:sp>
      <p:sp>
        <p:nvSpPr>
          <p:cNvPr id="14" name="cartao Space Invaders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lo Space Invaders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Space Invaders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9087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 que acontece, passo a passo, quando o Bullet colide com algo?</a:t>
            </a:r>
            <a:endParaRPr lang="en-US" sz="1800" dirty="0"/>
          </a:p>
        </p:txBody>
      </p:sp>
      <p:sp>
        <p:nvSpPr>
          <p:cNvPr id="19" name="cartao Bluetooth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elo Bluetooth"/>
          <p:cNvSpPr/>
          <p:nvPr/>
        </p:nvSpPr>
        <p:spPr>
          <a:xfrm>
            <a:off x="635508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355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050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Bluetooth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9087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Por que btnAcender só é habilitado depois da conexão? E o que o Arduino faz ao receber "A"?</a:t>
            </a:r>
            <a:endParaRPr lang="en-US" sz="1800" dirty="0"/>
          </a:p>
        </p:txBody>
      </p:sp>
      <p:sp>
        <p:nvSpPr>
          <p:cNvPr id="24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perguntas derivadas dos caps. 2, 3, 5, 6, 7 e 12 da apostila</a:t>
            </a:r>
            <a:endParaRPr lang="en-US" sz="1050" dirty="0"/>
          </a:p>
        </p:txBody>
      </p:sp>
      <p:sp>
        <p:nvSpPr>
          <p:cNvPr id="25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6 min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Síntese: o mesmo modelo em todos os projetos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Evento → lógica → saída, com dados guardados no caminho</a:t>
            </a:r>
            <a:endParaRPr lang="en-US" sz="1600" dirty="0"/>
          </a:p>
        </p:txBody>
      </p:sp>
      <p:sp>
        <p:nvSpPr>
          <p:cNvPr id="4" name="cartao Eventos"/>
          <p:cNvSpPr/>
          <p:nvPr/>
        </p:nvSpPr>
        <p:spPr>
          <a:xfrm>
            <a:off x="548640" y="1554480"/>
            <a:ext cx="2606040" cy="45720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Eventos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Eventos</a:t>
            </a:r>
            <a:endParaRPr lang="en-US" sz="17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2359152"/>
            <a:ext cx="224028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Click, TouchDown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Touched, Dragged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Timer, CollidedWith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AfterPicking, AfterPicture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DataChanged, StringsReceived</a:t>
            </a:r>
            <a:endParaRPr lang="en-US" sz="1600" dirty="0"/>
          </a:p>
        </p:txBody>
      </p:sp>
      <p:sp>
        <p:nvSpPr>
          <p:cNvPr id="9" name="seta"/>
          <p:cNvSpPr/>
          <p:nvPr/>
        </p:nvSpPr>
        <p:spPr>
          <a:xfrm>
            <a:off x="3182112" y="3840480"/>
            <a:ext cx="18288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cartao Lógica"/>
          <p:cNvSpPr/>
          <p:nvPr/>
        </p:nvSpPr>
        <p:spPr>
          <a:xfrm>
            <a:off x="3383280" y="1554480"/>
            <a:ext cx="2606040" cy="45720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elo Lógica"/>
          <p:cNvSpPr/>
          <p:nvPr/>
        </p:nvSpPr>
        <p:spPr>
          <a:xfrm>
            <a:off x="356616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719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Lógica</a:t>
            </a:r>
            <a:endParaRPr lang="en-US" sz="1700" dirty="0"/>
          </a:p>
        </p:txBody>
      </p:sp>
      <p:sp>
        <p:nvSpPr>
          <p:cNvPr id="14" name="lista"/>
          <p:cNvSpPr txBox="1"/>
          <p:nvPr/>
        </p:nvSpPr>
        <p:spPr>
          <a:xfrm>
            <a:off x="3566160" y="2359152"/>
            <a:ext cx="224028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Variáveis globais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/ else e while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Listas e índices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 (texto)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Procedimentos</a:t>
            </a:r>
            <a:endParaRPr lang="en-US" sz="1600" dirty="0"/>
          </a:p>
        </p:txBody>
      </p:sp>
      <p:sp>
        <p:nvSpPr>
          <p:cNvPr id="15" name="seta"/>
          <p:cNvSpPr/>
          <p:nvPr/>
        </p:nvSpPr>
        <p:spPr>
          <a:xfrm>
            <a:off x="6016752" y="3840480"/>
            <a:ext cx="18288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cartao Dados"/>
          <p:cNvSpPr/>
          <p:nvPr/>
        </p:nvSpPr>
        <p:spPr>
          <a:xfrm>
            <a:off x="6217920" y="1554480"/>
            <a:ext cx="2606040" cy="45720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elo Dados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719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Dados</a:t>
            </a:r>
            <a:endParaRPr lang="en-US" sz="1700" dirty="0"/>
          </a:p>
        </p:txBody>
      </p:sp>
      <p:sp>
        <p:nvSpPr>
          <p:cNvPr id="20" name="lista"/>
          <p:cNvSpPr txBox="1"/>
          <p:nvPr/>
        </p:nvSpPr>
        <p:spPr>
          <a:xfrm>
            <a:off x="6400800" y="2359152"/>
            <a:ext cx="224028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TinyDB (aparelho)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FirebaseDB (nuvem)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Arquivos em Media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Extensões (.aix)</a:t>
            </a:r>
            <a:endParaRPr lang="en-US" sz="1600" dirty="0"/>
          </a:p>
        </p:txBody>
      </p:sp>
      <p:sp>
        <p:nvSpPr>
          <p:cNvPr id="21" name="seta"/>
          <p:cNvSpPr/>
          <p:nvPr/>
        </p:nvSpPr>
        <p:spPr>
          <a:xfrm>
            <a:off x="8851392" y="3840480"/>
            <a:ext cx="18288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cartao Saídas"/>
          <p:cNvSpPr/>
          <p:nvPr/>
        </p:nvSpPr>
        <p:spPr>
          <a:xfrm>
            <a:off x="9052560" y="1554480"/>
            <a:ext cx="2606040" cy="45720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elo Saídas"/>
          <p:cNvSpPr/>
          <p:nvPr/>
        </p:nvSpPr>
        <p:spPr>
          <a:xfrm>
            <a:off x="9235440" y="1737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9235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1719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Saídas</a:t>
            </a:r>
            <a:endParaRPr lang="en-US" sz="1700" dirty="0"/>
          </a:p>
        </p:txBody>
      </p:sp>
      <p:sp>
        <p:nvSpPr>
          <p:cNvPr id="26" name="lista"/>
          <p:cNvSpPr txBox="1"/>
          <p:nvPr/>
        </p:nvSpPr>
        <p:spPr>
          <a:xfrm>
            <a:off x="9235440" y="2359152"/>
            <a:ext cx="224028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Label, Image, Canvas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Sound, TextToSpeech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Notificação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Comandos ao Arduino</a:t>
            </a:r>
            <a:endParaRPr lang="en-US" sz="1600" dirty="0"/>
          </a:p>
        </p:txBody>
      </p:sp>
      <p:sp>
        <p:nvSpPr>
          <p:cNvPr id="27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síntese dos caps. 3 a 13 da apostila</a:t>
            </a:r>
            <a:endParaRPr lang="en-US" sz="1050" dirty="0"/>
          </a:p>
        </p:txBody>
      </p:sp>
      <p:sp>
        <p:nvSpPr>
          <p:cNvPr id="28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4 min</a:t>
            </a:r>
            <a:endParaRPr lang="en-US" sz="11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Encerramento</a:t>
            </a:r>
            <a:endParaRPr lang="en-US" sz="3000" dirty="0"/>
          </a:p>
        </p:txBody>
      </p:sp>
      <p:sp>
        <p:nvSpPr>
          <p:cNvPr id="3" name="ideia central"/>
          <p:cNvSpPr txBox="1"/>
          <p:nvPr/>
        </p:nvSpPr>
        <p:spPr>
          <a:xfrm>
            <a:off x="548640" y="93268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Usuários que também são criadores</a:t>
            </a:r>
            <a:endParaRPr lang="en-US" sz="1600" dirty="0"/>
          </a:p>
        </p:txBody>
      </p:sp>
      <p:sp>
        <p:nvSpPr>
          <p:cNvPr id="4" name="cartao Hoje vocês"/>
          <p:cNvSpPr/>
          <p:nvPr/>
        </p:nvSpPr>
        <p:spPr>
          <a:xfrm>
            <a:off x="548640" y="1554480"/>
            <a:ext cx="544068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elo Hoje vocês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Hoje vocês</a:t>
            </a:r>
            <a:endParaRPr lang="en-US" sz="17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2359152"/>
            <a:ext cx="50749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Montaram e geraram um app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Leram e previram blocos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Viram dados locais, em nuvem e via Bluetooth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Encontraram falhas em documentação</a:t>
            </a:r>
            <a:endParaRPr lang="en-US" sz="1500" dirty="0"/>
          </a:p>
        </p:txBody>
      </p:sp>
      <p:sp>
        <p:nvSpPr>
          <p:cNvPr id="9" name="cartao Próximos passos"/>
          <p:cNvSpPr/>
          <p:nvPr/>
        </p:nvSpPr>
        <p:spPr>
          <a:xfrm>
            <a:off x="6199632" y="1554480"/>
            <a:ext cx="544068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elo Próximos passos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7190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Próximos passos</a:t>
            </a:r>
            <a:endParaRPr lang="en-US" sz="1700" dirty="0"/>
          </a:p>
        </p:txBody>
      </p:sp>
      <p:sp>
        <p:nvSpPr>
          <p:cNvPr id="13" name="lista"/>
          <p:cNvSpPr txBox="1"/>
          <p:nvPr/>
        </p:nvSpPr>
        <p:spPr>
          <a:xfrm>
            <a:off x="6382512" y="2359152"/>
            <a:ext cx="50749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Refazer um projeto da apostila do início ao fim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Escolher um exercício intermediário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Consultar o Anexo para comparar soluções</a:t>
            </a:r>
            <a:endParaRPr lang="en-US" sz="1500" dirty="0"/>
          </a:p>
        </p:txBody>
      </p:sp>
      <p:sp>
        <p:nvSpPr>
          <p:cNvPr id="16" name="fonte"/>
          <p:cNvSpPr txBox="1"/>
          <p:nvPr/>
        </p:nvSpPr>
        <p:spPr>
          <a:xfrm>
            <a:off x="548640" y="63825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</a:rPr>
              <a:t>Fonte: apostila, cap. 1 (p. 7) e Notas sobre esta apostila (p. 6)</a:t>
            </a:r>
            <a:endParaRPr lang="en-US" sz="1050" dirty="0"/>
          </a:p>
        </p:txBody>
      </p:sp>
      <p:sp>
        <p:nvSpPr>
          <p:cNvPr id="17" name="tempo"/>
          <p:cNvSpPr/>
          <p:nvPr/>
        </p:nvSpPr>
        <p:spPr>
          <a:xfrm>
            <a:off x="10195560" y="640080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10195560" y="6400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2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p Inventor Aula">
  <a:themeElements>
    <a:clrScheme name="App Inventor Aula">
      <a:dk1>
        <a:srgbClr val="1F1A2E"/>
      </a:dk1>
      <a:lt1>
        <a:srgbClr val="FFFFFF"/>
      </a:lt1>
      <a:dk2>
        <a:srgbClr val="3A1F5D"/>
      </a:dk2>
      <a:lt2>
        <a:srgbClr val="F2F0F7"/>
      </a:lt2>
      <a:accent1>
        <a:srgbClr val="7A2E8E"/>
      </a:accent1>
      <a:accent2>
        <a:srgbClr val="5E8F1F"/>
      </a:accent2>
      <a:accent3>
        <a:srgbClr val="E07B12"/>
      </a:accent3>
      <a:accent4>
        <a:srgbClr val="1F7A8C"/>
      </a:accent4>
      <a:accent5>
        <a:srgbClr val="C0392B"/>
      </a:accent5>
      <a:accent6>
        <a:srgbClr val="6B6680"/>
      </a:accent6>
      <a:hlink>
        <a:srgbClr val="1F7A8C"/>
      </a:hlink>
      <a:folHlink>
        <a:srgbClr val="7A2E8E"/>
      </a:folHlink>
    </a:clrScheme>
    <a:fontScheme name="App Inventor Aul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19474</Words>
  <Application>Microsoft Office PowerPoint</Application>
  <PresentationFormat>Widescreen</PresentationFormat>
  <Paragraphs>1311</Paragraphs>
  <Slides>68</Slides>
  <Notes>68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72" baseType="lpstr">
      <vt:lpstr>Arial</vt:lpstr>
      <vt:lpstr>Calibri</vt:lpstr>
      <vt:lpstr>Courier New</vt:lpstr>
      <vt:lpstr>App Inventor Aula</vt:lpstr>
      <vt:lpstr>MIT App Inventor: aplicativos Android com blocos</vt:lpstr>
      <vt:lpstr>Objetivos de aprendizagem</vt:lpstr>
      <vt:lpstr>Roteiro das 4 horas</vt:lpstr>
      <vt:lpstr>O que é o App Inventor</vt:lpstr>
      <vt:lpstr>Conhecendo a interface</vt:lpstr>
      <vt:lpstr>Quatro áreas na tela de trabalho</vt:lpstr>
      <vt:lpstr>Palette: o estoque de componentes</vt:lpstr>
      <vt:lpstr>Viewer, Components e Media</vt:lpstr>
      <vt:lpstr>Properties: ajustes do item selecionado</vt:lpstr>
      <vt:lpstr>Designer monta a tela, Blocks programa</vt:lpstr>
      <vt:lpstr>Verificação rápida: onde eu faço isso?</vt:lpstr>
      <vt:lpstr>Primeiro app: Hello World</vt:lpstr>
      <vt:lpstr>Objetivo e passo 1: novo projeto</vt:lpstr>
      <vt:lpstr>Passos 2 e 3: montar e ajustar a tela</vt:lpstr>
      <vt:lpstr>Passos 4 e 5: o primeiro bloco</vt:lpstr>
      <vt:lpstr>Passo 6: gerar o aplicativo</vt:lpstr>
      <vt:lpstr>Prática guiada: seu Hello World</vt:lpstr>
      <vt:lpstr>Segundo app: Calcula Média</vt:lpstr>
      <vt:lpstr>Design do Calcula Média</vt:lpstr>
      <vt:lpstr>Variáveis globais: a memória do app</vt:lpstr>
      <vt:lpstr>Estrutura lógica do botão Calcular</vt:lpstr>
      <vt:lpstr>Limpar e testar: teste de mesa</vt:lpstr>
      <vt:lpstr>Prática: Aprovado ou Reprovado</vt:lpstr>
      <vt:lpstr>Gabarito do exercício 1</vt:lpstr>
      <vt:lpstr>Decisões, telas e mídia</vt:lpstr>
      <vt:lpstr>Etanol ou gasolina? O problema</vt:lpstr>
      <vt:lpstr>Etanol ou gasolina? O gabarito</vt:lpstr>
      <vt:lpstr>Lei de Ohm: um app com várias telas</vt:lpstr>
      <vt:lpstr>Número triangular: o gabarito confere?</vt:lpstr>
      <vt:lpstr>Componentes de mídia e web na lista básica</vt:lpstr>
      <vt:lpstr>Resistor: decompor um problema grande</vt:lpstr>
      <vt:lpstr>Intervalo</vt:lpstr>
      <vt:lpstr>Projeto Bloco de Notas</vt:lpstr>
      <vt:lpstr>O app e seus componentes</vt:lpstr>
      <vt:lpstr>Salvar: StoreValue com tag e valor</vt:lpstr>
      <vt:lpstr>Recuperar: GetValue</vt:lpstr>
      <vt:lpstr>Inserir a data com o Date Picker</vt:lpstr>
      <vt:lpstr>Extensões: recursos de fora da paleta</vt:lpstr>
      <vt:lpstr>Notificação ao salvar</vt:lpstr>
      <vt:lpstr>Projeto Dicionário Interativo</vt:lpstr>
      <vt:lpstr>O que o dicionário faz</vt:lpstr>
      <vt:lpstr>Duas listas paralelas</vt:lpstr>
      <vt:lpstr>A busca: is in list?, index in list e select list item</vt:lpstr>
      <vt:lpstr>Imagem, som e fala montados com texto</vt:lpstr>
      <vt:lpstr>Desenho, câmera e jogos</vt:lpstr>
      <vt:lpstr>Editor de imagens: componentes</vt:lpstr>
      <vt:lpstr>Canvas: Touched desenha, Dragged traça</vt:lpstr>
      <vt:lpstr>Cor, limpeza, câmera, galeria e salvar</vt:lpstr>
      <vt:lpstr>Space Invaders: objetivos e componentes</vt:lpstr>
      <vt:lpstr>Space Invaders: leitura dos blocos</vt:lpstr>
      <vt:lpstr>Chat com Firebase</vt:lpstr>
      <vt:lpstr>Firebase: vantagens e configuração</vt:lpstr>
      <vt:lpstr>No App Inventor: FirebaseDB e procedimentos</vt:lpstr>
      <vt:lpstr>DataChanged: o chat se atualiza sozinho</vt:lpstr>
      <vt:lpstr>App + Arduino via Bluetooth</vt:lpstr>
      <vt:lpstr>Bluetooth no Android</vt:lpstr>
      <vt:lpstr>App do LED (HC-05): a tela</vt:lpstr>
      <vt:lpstr>App do LED (HC-05): os blocos</vt:lpstr>
      <vt:lpstr>O lado do Arduino: ler e acionar</vt:lpstr>
      <vt:lpstr>Bluetooth LE com o módulo HM-10</vt:lpstr>
      <vt:lpstr>BLE: procurar, conectar e escrever</vt:lpstr>
      <vt:lpstr>Desafio: app, código e fiação conferem?</vt:lpstr>
      <vt:lpstr>No sentido contrário: o Arduino envia dados</vt:lpstr>
      <vt:lpstr>Para continuar: listas de desafios</vt:lpstr>
      <vt:lpstr>Revisão 1: preveja o resultado</vt:lpstr>
      <vt:lpstr>Revisão 2: explique com suas palavras</vt:lpstr>
      <vt:lpstr>Síntese: o mesmo modelo em todos os projetos</vt:lpstr>
      <vt:lpstr>Encerramento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App Inventor – aula de 240 minutos</dc:title>
  <dc:subject>PptxGenJS Presentation</dc:subject>
  <dc:creator>Material didático baseado na apostila AppInventor.pdf</dc:creator>
  <cp:lastModifiedBy>Ivan Lucas</cp:lastModifiedBy>
  <cp:revision>4</cp:revision>
  <dcterms:created xsi:type="dcterms:W3CDTF">2026-10-20T15:07:49Z</dcterms:created>
  <dcterms:modified xsi:type="dcterms:W3CDTF">2026-10-20T18:26:43Z</dcterms:modified>
</cp:coreProperties>
</file>